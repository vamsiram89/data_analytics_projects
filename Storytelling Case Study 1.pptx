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4106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380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msiram pandluru" userId="249e5639cb347a6e" providerId="LiveId" clId="{2D4B0D02-3F31-4F58-AD8C-8CA148929900}"/>
    <pc:docChg chg="modSld">
      <pc:chgData name="vamsiram pandluru" userId="249e5639cb347a6e" providerId="LiveId" clId="{2D4B0D02-3F31-4F58-AD8C-8CA148929900}" dt="2026-01-09T06:36:29.496" v="137" actId="20577"/>
      <pc:docMkLst>
        <pc:docMk/>
      </pc:docMkLst>
      <pc:sldChg chg="modSp mod">
        <pc:chgData name="vamsiram pandluru" userId="249e5639cb347a6e" providerId="LiveId" clId="{2D4B0D02-3F31-4F58-AD8C-8CA148929900}" dt="2026-01-09T06:36:29.496" v="137" actId="20577"/>
        <pc:sldMkLst>
          <pc:docMk/>
          <pc:sldMk cId="0" sldId="256"/>
        </pc:sldMkLst>
        <pc:spChg chg="mod">
          <ac:chgData name="vamsiram pandluru" userId="249e5639cb347a6e" providerId="LiveId" clId="{2D4B0D02-3F31-4F58-AD8C-8CA148929900}" dt="2026-01-09T06:36:29.496" v="137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367DB5-A714-4C78-AB65-A5FE01DFB189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A552FF2-51EA-438F-8305-2C31509C0331}">
      <dgm:prSet/>
      <dgm:spPr/>
      <dgm:t>
        <a:bodyPr/>
        <a:lstStyle/>
        <a:p>
          <a:r>
            <a:rPr lang="en-US"/>
            <a:t>▶ Cleaned data to remove any missing values  and duplicates.</a:t>
          </a:r>
        </a:p>
      </dgm:t>
    </dgm:pt>
    <dgm:pt modelId="{1BCD7B01-DBB6-4150-B07F-36F4F34A4313}" type="parTrans" cxnId="{9699ABDD-5B8A-4960-80BB-09146D040D58}">
      <dgm:prSet/>
      <dgm:spPr/>
      <dgm:t>
        <a:bodyPr/>
        <a:lstStyle/>
        <a:p>
          <a:endParaRPr lang="en-US"/>
        </a:p>
      </dgm:t>
    </dgm:pt>
    <dgm:pt modelId="{E96F2F58-9B3C-401F-BE2D-5F9E5EEE907F}" type="sibTrans" cxnId="{9699ABDD-5B8A-4960-80BB-09146D040D58}">
      <dgm:prSet/>
      <dgm:spPr/>
      <dgm:t>
        <a:bodyPr/>
        <a:lstStyle/>
        <a:p>
          <a:endParaRPr lang="en-US"/>
        </a:p>
      </dgm:t>
    </dgm:pt>
    <dgm:pt modelId="{87F3651B-A39A-4D2B-9B08-6A8023281FD0}">
      <dgm:prSet/>
      <dgm:spPr/>
      <dgm:t>
        <a:bodyPr/>
        <a:lstStyle/>
        <a:p>
          <a:r>
            <a:rPr lang="en-US"/>
            <a:t>▶ Dropped insignificant columns.</a:t>
          </a:r>
        </a:p>
      </dgm:t>
    </dgm:pt>
    <dgm:pt modelId="{AF805722-3085-4637-B3A9-A5066CEC252A}" type="parTrans" cxnId="{1198DA81-ABC8-4DDE-B08E-3A4BAC5B85C4}">
      <dgm:prSet/>
      <dgm:spPr/>
      <dgm:t>
        <a:bodyPr/>
        <a:lstStyle/>
        <a:p>
          <a:endParaRPr lang="en-US"/>
        </a:p>
      </dgm:t>
    </dgm:pt>
    <dgm:pt modelId="{DD215C0F-EE5F-416F-A0BF-89E9C70D719E}" type="sibTrans" cxnId="{1198DA81-ABC8-4DDE-B08E-3A4BAC5B85C4}">
      <dgm:prSet/>
      <dgm:spPr/>
      <dgm:t>
        <a:bodyPr/>
        <a:lstStyle/>
        <a:p>
          <a:endParaRPr lang="en-US"/>
        </a:p>
      </dgm:t>
    </dgm:pt>
    <dgm:pt modelId="{106AE371-7F2F-4E6A-BF03-1638C4DE5992}">
      <dgm:prSet/>
      <dgm:spPr/>
      <dgm:t>
        <a:bodyPr/>
        <a:lstStyle/>
        <a:p>
          <a:r>
            <a:rPr lang="en-US"/>
            <a:t>▶ Identified outliers</a:t>
          </a:r>
        </a:p>
      </dgm:t>
    </dgm:pt>
    <dgm:pt modelId="{4949938F-D6B6-4669-8C3C-395201660C02}" type="parTrans" cxnId="{1EB6FF00-CFE9-45CB-BE57-1C2A14654631}">
      <dgm:prSet/>
      <dgm:spPr/>
      <dgm:t>
        <a:bodyPr/>
        <a:lstStyle/>
        <a:p>
          <a:endParaRPr lang="en-US"/>
        </a:p>
      </dgm:t>
    </dgm:pt>
    <dgm:pt modelId="{918C5171-8A84-4620-BBFF-05D336C3864A}" type="sibTrans" cxnId="{1EB6FF00-CFE9-45CB-BE57-1C2A14654631}">
      <dgm:prSet/>
      <dgm:spPr/>
      <dgm:t>
        <a:bodyPr/>
        <a:lstStyle/>
        <a:p>
          <a:endParaRPr lang="en-US"/>
        </a:p>
      </dgm:t>
    </dgm:pt>
    <dgm:pt modelId="{5718CA56-84F2-47B5-AF26-5787C75C1F04}" type="pres">
      <dgm:prSet presAssocID="{09367DB5-A714-4C78-AB65-A5FE01DFB189}" presName="outerComposite" presStyleCnt="0">
        <dgm:presLayoutVars>
          <dgm:chMax val="5"/>
          <dgm:dir/>
          <dgm:resizeHandles val="exact"/>
        </dgm:presLayoutVars>
      </dgm:prSet>
      <dgm:spPr/>
    </dgm:pt>
    <dgm:pt modelId="{D89AB68E-1E8F-4399-907C-1C5558EF3891}" type="pres">
      <dgm:prSet presAssocID="{09367DB5-A714-4C78-AB65-A5FE01DFB189}" presName="dummyMaxCanvas" presStyleCnt="0">
        <dgm:presLayoutVars/>
      </dgm:prSet>
      <dgm:spPr/>
    </dgm:pt>
    <dgm:pt modelId="{BD441380-0B93-4A4C-9665-94A083DDE0FC}" type="pres">
      <dgm:prSet presAssocID="{09367DB5-A714-4C78-AB65-A5FE01DFB189}" presName="ThreeNodes_1" presStyleLbl="node1" presStyleIdx="0" presStyleCnt="3">
        <dgm:presLayoutVars>
          <dgm:bulletEnabled val="1"/>
        </dgm:presLayoutVars>
      </dgm:prSet>
      <dgm:spPr/>
    </dgm:pt>
    <dgm:pt modelId="{FAEACDFC-26C2-4D62-8087-D0D9B3B205B9}" type="pres">
      <dgm:prSet presAssocID="{09367DB5-A714-4C78-AB65-A5FE01DFB189}" presName="ThreeNodes_2" presStyleLbl="node1" presStyleIdx="1" presStyleCnt="3">
        <dgm:presLayoutVars>
          <dgm:bulletEnabled val="1"/>
        </dgm:presLayoutVars>
      </dgm:prSet>
      <dgm:spPr/>
    </dgm:pt>
    <dgm:pt modelId="{C1055B80-66D8-4E67-BDF2-9FC28F688976}" type="pres">
      <dgm:prSet presAssocID="{09367DB5-A714-4C78-AB65-A5FE01DFB189}" presName="ThreeNodes_3" presStyleLbl="node1" presStyleIdx="2" presStyleCnt="3">
        <dgm:presLayoutVars>
          <dgm:bulletEnabled val="1"/>
        </dgm:presLayoutVars>
      </dgm:prSet>
      <dgm:spPr/>
    </dgm:pt>
    <dgm:pt modelId="{CA83654E-7452-4934-B466-A5B193819A37}" type="pres">
      <dgm:prSet presAssocID="{09367DB5-A714-4C78-AB65-A5FE01DFB189}" presName="ThreeConn_1-2" presStyleLbl="fgAccFollowNode1" presStyleIdx="0" presStyleCnt="2">
        <dgm:presLayoutVars>
          <dgm:bulletEnabled val="1"/>
        </dgm:presLayoutVars>
      </dgm:prSet>
      <dgm:spPr/>
    </dgm:pt>
    <dgm:pt modelId="{0830AD88-24D5-4B1D-8D70-5EBBF070A6C3}" type="pres">
      <dgm:prSet presAssocID="{09367DB5-A714-4C78-AB65-A5FE01DFB189}" presName="ThreeConn_2-3" presStyleLbl="fgAccFollowNode1" presStyleIdx="1" presStyleCnt="2">
        <dgm:presLayoutVars>
          <dgm:bulletEnabled val="1"/>
        </dgm:presLayoutVars>
      </dgm:prSet>
      <dgm:spPr/>
    </dgm:pt>
    <dgm:pt modelId="{ABBF4843-0B1F-4A8D-9466-75555C6F9F94}" type="pres">
      <dgm:prSet presAssocID="{09367DB5-A714-4C78-AB65-A5FE01DFB189}" presName="ThreeNodes_1_text" presStyleLbl="node1" presStyleIdx="2" presStyleCnt="3">
        <dgm:presLayoutVars>
          <dgm:bulletEnabled val="1"/>
        </dgm:presLayoutVars>
      </dgm:prSet>
      <dgm:spPr/>
    </dgm:pt>
    <dgm:pt modelId="{6AC50D27-ACA0-45C2-B222-D60EC604C085}" type="pres">
      <dgm:prSet presAssocID="{09367DB5-A714-4C78-AB65-A5FE01DFB189}" presName="ThreeNodes_2_text" presStyleLbl="node1" presStyleIdx="2" presStyleCnt="3">
        <dgm:presLayoutVars>
          <dgm:bulletEnabled val="1"/>
        </dgm:presLayoutVars>
      </dgm:prSet>
      <dgm:spPr/>
    </dgm:pt>
    <dgm:pt modelId="{F00C4195-0085-4B47-9EFB-9688758AA186}" type="pres">
      <dgm:prSet presAssocID="{09367DB5-A714-4C78-AB65-A5FE01DFB189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1EB6FF00-CFE9-45CB-BE57-1C2A14654631}" srcId="{09367DB5-A714-4C78-AB65-A5FE01DFB189}" destId="{106AE371-7F2F-4E6A-BF03-1638C4DE5992}" srcOrd="2" destOrd="0" parTransId="{4949938F-D6B6-4669-8C3C-395201660C02}" sibTransId="{918C5171-8A84-4620-BBFF-05D336C3864A}"/>
    <dgm:cxn modelId="{FC6AAB26-503D-441E-80C8-1366E7780B3A}" type="presOf" srcId="{87F3651B-A39A-4D2B-9B08-6A8023281FD0}" destId="{6AC50D27-ACA0-45C2-B222-D60EC604C085}" srcOrd="1" destOrd="0" presId="urn:microsoft.com/office/officeart/2005/8/layout/vProcess5"/>
    <dgm:cxn modelId="{59DDC63E-0BB8-45F8-B42F-107F3E516210}" type="presOf" srcId="{106AE371-7F2F-4E6A-BF03-1638C4DE5992}" destId="{C1055B80-66D8-4E67-BDF2-9FC28F688976}" srcOrd="0" destOrd="0" presId="urn:microsoft.com/office/officeart/2005/8/layout/vProcess5"/>
    <dgm:cxn modelId="{E3627D63-32AE-4F1A-B189-477229598C29}" type="presOf" srcId="{87F3651B-A39A-4D2B-9B08-6A8023281FD0}" destId="{FAEACDFC-26C2-4D62-8087-D0D9B3B205B9}" srcOrd="0" destOrd="0" presId="urn:microsoft.com/office/officeart/2005/8/layout/vProcess5"/>
    <dgm:cxn modelId="{089ECA52-52B8-4424-8204-DCC9B4ADE141}" type="presOf" srcId="{E96F2F58-9B3C-401F-BE2D-5F9E5EEE907F}" destId="{CA83654E-7452-4934-B466-A5B193819A37}" srcOrd="0" destOrd="0" presId="urn:microsoft.com/office/officeart/2005/8/layout/vProcess5"/>
    <dgm:cxn modelId="{1198DA81-ABC8-4DDE-B08E-3A4BAC5B85C4}" srcId="{09367DB5-A714-4C78-AB65-A5FE01DFB189}" destId="{87F3651B-A39A-4D2B-9B08-6A8023281FD0}" srcOrd="1" destOrd="0" parTransId="{AF805722-3085-4637-B3A9-A5066CEC252A}" sibTransId="{DD215C0F-EE5F-416F-A0BF-89E9C70D719E}"/>
    <dgm:cxn modelId="{D716FD85-0A81-4C89-A16B-2EFD6E8406B9}" type="presOf" srcId="{2A552FF2-51EA-438F-8305-2C31509C0331}" destId="{BD441380-0B93-4A4C-9665-94A083DDE0FC}" srcOrd="0" destOrd="0" presId="urn:microsoft.com/office/officeart/2005/8/layout/vProcess5"/>
    <dgm:cxn modelId="{A84B0087-63C7-4272-A18C-254E157B554B}" type="presOf" srcId="{2A552FF2-51EA-438F-8305-2C31509C0331}" destId="{ABBF4843-0B1F-4A8D-9466-75555C6F9F94}" srcOrd="1" destOrd="0" presId="urn:microsoft.com/office/officeart/2005/8/layout/vProcess5"/>
    <dgm:cxn modelId="{E0D44EA0-EB0D-494B-9A8B-28646F16E052}" type="presOf" srcId="{09367DB5-A714-4C78-AB65-A5FE01DFB189}" destId="{5718CA56-84F2-47B5-AF26-5787C75C1F04}" srcOrd="0" destOrd="0" presId="urn:microsoft.com/office/officeart/2005/8/layout/vProcess5"/>
    <dgm:cxn modelId="{9699ABDD-5B8A-4960-80BB-09146D040D58}" srcId="{09367DB5-A714-4C78-AB65-A5FE01DFB189}" destId="{2A552FF2-51EA-438F-8305-2C31509C0331}" srcOrd="0" destOrd="0" parTransId="{1BCD7B01-DBB6-4150-B07F-36F4F34A4313}" sibTransId="{E96F2F58-9B3C-401F-BE2D-5F9E5EEE907F}"/>
    <dgm:cxn modelId="{B7DD9FE1-8837-44B2-9841-ED36553A2FDC}" type="presOf" srcId="{106AE371-7F2F-4E6A-BF03-1638C4DE5992}" destId="{F00C4195-0085-4B47-9EFB-9688758AA186}" srcOrd="1" destOrd="0" presId="urn:microsoft.com/office/officeart/2005/8/layout/vProcess5"/>
    <dgm:cxn modelId="{DA4164E2-0A25-4270-86EE-94412FA25C99}" type="presOf" srcId="{DD215C0F-EE5F-416F-A0BF-89E9C70D719E}" destId="{0830AD88-24D5-4B1D-8D70-5EBBF070A6C3}" srcOrd="0" destOrd="0" presId="urn:microsoft.com/office/officeart/2005/8/layout/vProcess5"/>
    <dgm:cxn modelId="{520D8E02-6DEF-454C-9609-6D09749EAAF0}" type="presParOf" srcId="{5718CA56-84F2-47B5-AF26-5787C75C1F04}" destId="{D89AB68E-1E8F-4399-907C-1C5558EF3891}" srcOrd="0" destOrd="0" presId="urn:microsoft.com/office/officeart/2005/8/layout/vProcess5"/>
    <dgm:cxn modelId="{89FAFB1F-9929-412B-AC5F-58070AE7251E}" type="presParOf" srcId="{5718CA56-84F2-47B5-AF26-5787C75C1F04}" destId="{BD441380-0B93-4A4C-9665-94A083DDE0FC}" srcOrd="1" destOrd="0" presId="urn:microsoft.com/office/officeart/2005/8/layout/vProcess5"/>
    <dgm:cxn modelId="{0DDDA21A-6260-4B1A-832D-3B01CA86DE81}" type="presParOf" srcId="{5718CA56-84F2-47B5-AF26-5787C75C1F04}" destId="{FAEACDFC-26C2-4D62-8087-D0D9B3B205B9}" srcOrd="2" destOrd="0" presId="urn:microsoft.com/office/officeart/2005/8/layout/vProcess5"/>
    <dgm:cxn modelId="{78D18155-0ADD-498D-B437-EBEF4468812E}" type="presParOf" srcId="{5718CA56-84F2-47B5-AF26-5787C75C1F04}" destId="{C1055B80-66D8-4E67-BDF2-9FC28F688976}" srcOrd="3" destOrd="0" presId="urn:microsoft.com/office/officeart/2005/8/layout/vProcess5"/>
    <dgm:cxn modelId="{D0B3BCC7-9895-44EC-8A34-D51CDFB5293A}" type="presParOf" srcId="{5718CA56-84F2-47B5-AF26-5787C75C1F04}" destId="{CA83654E-7452-4934-B466-A5B193819A37}" srcOrd="4" destOrd="0" presId="urn:microsoft.com/office/officeart/2005/8/layout/vProcess5"/>
    <dgm:cxn modelId="{F79C4A47-4892-4A36-9633-A897B56BCD89}" type="presParOf" srcId="{5718CA56-84F2-47B5-AF26-5787C75C1F04}" destId="{0830AD88-24D5-4B1D-8D70-5EBBF070A6C3}" srcOrd="5" destOrd="0" presId="urn:microsoft.com/office/officeart/2005/8/layout/vProcess5"/>
    <dgm:cxn modelId="{81665AFB-C292-4775-A1F9-0CAFC4AA7F76}" type="presParOf" srcId="{5718CA56-84F2-47B5-AF26-5787C75C1F04}" destId="{ABBF4843-0B1F-4A8D-9466-75555C6F9F94}" srcOrd="6" destOrd="0" presId="urn:microsoft.com/office/officeart/2005/8/layout/vProcess5"/>
    <dgm:cxn modelId="{CCB68189-C97E-4BC8-BFF2-1FF54C38D4B3}" type="presParOf" srcId="{5718CA56-84F2-47B5-AF26-5787C75C1F04}" destId="{6AC50D27-ACA0-45C2-B222-D60EC604C085}" srcOrd="7" destOrd="0" presId="urn:microsoft.com/office/officeart/2005/8/layout/vProcess5"/>
    <dgm:cxn modelId="{81AA3AC8-9947-44B5-8B4C-4875CB7998E3}" type="presParOf" srcId="{5718CA56-84F2-47B5-AF26-5787C75C1F04}" destId="{F00C4195-0085-4B47-9EFB-9688758AA186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441380-0B93-4A4C-9665-94A083DDE0FC}">
      <dsp:nvSpPr>
        <dsp:cNvPr id="0" name=""/>
        <dsp:cNvSpPr/>
      </dsp:nvSpPr>
      <dsp:spPr>
        <a:xfrm>
          <a:off x="0" y="0"/>
          <a:ext cx="9375457" cy="110347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▶ Cleaned data to remove any missing values  and duplicates.</a:t>
          </a:r>
        </a:p>
      </dsp:txBody>
      <dsp:txXfrm>
        <a:off x="32320" y="32320"/>
        <a:ext cx="8184724" cy="1038831"/>
      </dsp:txXfrm>
    </dsp:sp>
    <dsp:sp modelId="{FAEACDFC-26C2-4D62-8087-D0D9B3B205B9}">
      <dsp:nvSpPr>
        <dsp:cNvPr id="0" name=""/>
        <dsp:cNvSpPr/>
      </dsp:nvSpPr>
      <dsp:spPr>
        <a:xfrm>
          <a:off x="827246" y="1287383"/>
          <a:ext cx="9375457" cy="11034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▶ Dropped insignificant columns.</a:t>
          </a:r>
        </a:p>
      </dsp:txBody>
      <dsp:txXfrm>
        <a:off x="859566" y="1319703"/>
        <a:ext cx="7766314" cy="1038831"/>
      </dsp:txXfrm>
    </dsp:sp>
    <dsp:sp modelId="{C1055B80-66D8-4E67-BDF2-9FC28F688976}">
      <dsp:nvSpPr>
        <dsp:cNvPr id="0" name=""/>
        <dsp:cNvSpPr/>
      </dsp:nvSpPr>
      <dsp:spPr>
        <a:xfrm>
          <a:off x="1654492" y="2574766"/>
          <a:ext cx="9375457" cy="110347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▶ Identified outliers</a:t>
          </a:r>
        </a:p>
      </dsp:txBody>
      <dsp:txXfrm>
        <a:off x="1686812" y="2607086"/>
        <a:ext cx="7766314" cy="1038831"/>
      </dsp:txXfrm>
    </dsp:sp>
    <dsp:sp modelId="{CA83654E-7452-4934-B466-A5B193819A37}">
      <dsp:nvSpPr>
        <dsp:cNvPr id="0" name=""/>
        <dsp:cNvSpPr/>
      </dsp:nvSpPr>
      <dsp:spPr>
        <a:xfrm>
          <a:off x="8658201" y="836799"/>
          <a:ext cx="717256" cy="71725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8819584" y="836799"/>
        <a:ext cx="394490" cy="539735"/>
      </dsp:txXfrm>
    </dsp:sp>
    <dsp:sp modelId="{0830AD88-24D5-4B1D-8D70-5EBBF070A6C3}">
      <dsp:nvSpPr>
        <dsp:cNvPr id="0" name=""/>
        <dsp:cNvSpPr/>
      </dsp:nvSpPr>
      <dsp:spPr>
        <a:xfrm>
          <a:off x="9485447" y="2116825"/>
          <a:ext cx="717256" cy="717256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9646830" y="2116825"/>
        <a:ext cx="394490" cy="5397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13A462-DF5C-4D85-B901-20C831A2D229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FC9ED-07DA-41A7-A283-A134069B7F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945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FC9ED-07DA-41A7-A283-A134069B7FE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328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945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868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656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743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970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120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538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251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004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3082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1493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586726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3816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4200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8344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2539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0404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33932" y="2119629"/>
            <a:ext cx="9724135" cy="1488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41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2068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07" r:id="rId1"/>
    <p:sldLayoutId id="2147484108" r:id="rId2"/>
    <p:sldLayoutId id="2147484109" r:id="rId3"/>
    <p:sldLayoutId id="2147484110" r:id="rId4"/>
    <p:sldLayoutId id="2147484111" r:id="rId5"/>
    <p:sldLayoutId id="2147484112" r:id="rId6"/>
    <p:sldLayoutId id="2147484113" r:id="rId7"/>
    <p:sldLayoutId id="2147484114" r:id="rId8"/>
    <p:sldLayoutId id="2147484115" r:id="rId9"/>
    <p:sldLayoutId id="2147484116" r:id="rId10"/>
    <p:sldLayoutId id="2147484117" r:id="rId11"/>
    <p:sldLayoutId id="2147484118" r:id="rId12"/>
    <p:sldLayoutId id="2147484119" r:id="rId13"/>
    <p:sldLayoutId id="2147484120" r:id="rId14"/>
    <p:sldLayoutId id="2147484121" r:id="rId15"/>
    <p:sldLayoutId id="2147484122" r:id="rId16"/>
    <p:sldLayoutId id="2147484123" r:id="rId17"/>
    <p:sldLayoutId id="2147484124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3468" y="1033389"/>
            <a:ext cx="5681132" cy="48254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marR="5080">
              <a:spcBef>
                <a:spcPct val="0"/>
              </a:spcBef>
              <a:spcAft>
                <a:spcPts val="600"/>
              </a:spcAft>
            </a:pPr>
            <a:r>
              <a:rPr lang="en-US" sz="5400" cap="all" spc="-15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Storytelling </a:t>
            </a:r>
            <a:r>
              <a:rPr lang="en-US" sz="5400" cap="all" spc="-5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Case </a:t>
            </a:r>
            <a:r>
              <a:rPr lang="en-US" sz="54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Study: Airbnb, </a:t>
            </a:r>
            <a:r>
              <a:rPr lang="en-US" sz="5400" cap="all" spc="-1075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cap="all" spc="-7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NYC</a:t>
            </a:r>
            <a:endParaRPr lang="en-US" sz="5400" cap="all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55769" y="1033390"/>
            <a:ext cx="4855037" cy="4825409"/>
          </a:xfrm>
          <a:prstGeom prst="rect">
            <a:avLst/>
          </a:prstGeom>
          <a:ln w="57150"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127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endParaRPr lang="en-US" sz="2000" b="1" spc="-155" dirty="0">
              <a:solidFill>
                <a:schemeClr val="accent2">
                  <a:lumMod val="50000"/>
                </a:schemeClr>
              </a:solidFill>
            </a:endParaRPr>
          </a:p>
          <a:p>
            <a:pPr marL="127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endParaRPr lang="en-US" sz="2000" b="1" spc="-155" dirty="0">
              <a:solidFill>
                <a:schemeClr val="accent2">
                  <a:lumMod val="50000"/>
                </a:schemeClr>
              </a:solidFill>
            </a:endParaRPr>
          </a:p>
          <a:p>
            <a:pPr marL="127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endParaRPr lang="en-US" sz="2000" b="1" spc="-155" dirty="0">
              <a:solidFill>
                <a:schemeClr val="accent2">
                  <a:lumMod val="50000"/>
                </a:schemeClr>
              </a:solidFill>
            </a:endParaRPr>
          </a:p>
          <a:p>
            <a:pPr marL="127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endParaRPr lang="en-US" sz="2000" b="1" spc="-155" dirty="0">
              <a:solidFill>
                <a:schemeClr val="accent2">
                  <a:lumMod val="50000"/>
                </a:schemeClr>
              </a:solidFill>
            </a:endParaRPr>
          </a:p>
          <a:p>
            <a:pPr marL="127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endParaRPr lang="en-US" sz="2000" b="1" spc="-155" dirty="0">
              <a:solidFill>
                <a:schemeClr val="accent2">
                  <a:lumMod val="50000"/>
                </a:schemeClr>
              </a:solidFill>
            </a:endParaRPr>
          </a:p>
          <a:p>
            <a:pPr marL="127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endParaRPr lang="en-US" sz="2000" b="1" spc="-155" dirty="0">
              <a:solidFill>
                <a:schemeClr val="accent2">
                  <a:lumMod val="50000"/>
                </a:schemeClr>
              </a:solidFill>
            </a:endParaRPr>
          </a:p>
          <a:p>
            <a:pPr marL="127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endParaRPr lang="en-US" sz="2000" b="1" spc="-155" dirty="0">
              <a:solidFill>
                <a:schemeClr val="accent2">
                  <a:lumMod val="50000"/>
                </a:schemeClr>
              </a:solidFill>
            </a:endParaRPr>
          </a:p>
          <a:p>
            <a:pPr marL="127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n-US" sz="2000" b="1" spc="-155" dirty="0">
                <a:solidFill>
                  <a:schemeClr val="accent2">
                    <a:lumMod val="50000"/>
                  </a:schemeClr>
                </a:solidFill>
              </a:rPr>
              <a:t>                                              BY</a:t>
            </a:r>
            <a:r>
              <a:rPr lang="en-US" sz="2000" b="1" spc="-45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u="sng" spc="-355" dirty="0">
                <a:solidFill>
                  <a:schemeClr val="accent2">
                    <a:lumMod val="50000"/>
                  </a:schemeClr>
                </a:solidFill>
              </a:rPr>
              <a:t>:</a:t>
            </a:r>
            <a:r>
              <a:rPr lang="en-US" sz="2000" u="sng" spc="-17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b="1" spc="-170" dirty="0">
                <a:solidFill>
                  <a:schemeClr val="accent2">
                    <a:lumMod val="50000"/>
                  </a:schemeClr>
                </a:solidFill>
                <a:uFill>
                  <a:solidFill>
                    <a:srgbClr val="C00000"/>
                  </a:solidFill>
                </a:uFill>
              </a:rPr>
              <a:t>    </a:t>
            </a:r>
          </a:p>
          <a:p>
            <a:pPr marL="127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n-US" sz="2000" b="1" spc="-170" dirty="0">
                <a:solidFill>
                  <a:schemeClr val="accent2">
                    <a:lumMod val="50000"/>
                  </a:schemeClr>
                </a:solidFill>
                <a:uFill>
                  <a:solidFill>
                    <a:srgbClr val="C00000"/>
                  </a:solidFill>
                </a:uFill>
              </a:rPr>
              <a:t>                                                           VAMSIRAM</a:t>
            </a:r>
            <a:r>
              <a:rPr lang="en-US" sz="2000" b="1" u="sng" spc="-170" dirty="0">
                <a:solidFill>
                  <a:schemeClr val="accent2">
                    <a:lumMod val="50000"/>
                  </a:schemeClr>
                </a:solidFill>
                <a:uFill>
                  <a:solidFill>
                    <a:srgbClr val="C00000"/>
                  </a:solidFill>
                </a:uFill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3468" y="1033389"/>
            <a:ext cx="4826256" cy="48254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/>
            <a:r>
              <a:rPr lang="en-US" sz="5400" spc="-30">
                <a:solidFill>
                  <a:srgbClr val="FFFFFF"/>
                </a:solidFill>
              </a:rPr>
              <a:t>Objective:</a:t>
            </a:r>
            <a:endParaRPr lang="en-US" sz="5400">
              <a:solidFill>
                <a:srgbClr val="FFFFFF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55769" y="1033390"/>
            <a:ext cx="4855037" cy="4825409"/>
          </a:xfrm>
          <a:prstGeom prst="rect">
            <a:avLst/>
          </a:prstGeom>
          <a:ln w="57150"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355600" marR="9525" indent="-3429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000" spc="-20" dirty="0">
                <a:solidFill>
                  <a:schemeClr val="accent2">
                    <a:lumMod val="50000"/>
                  </a:schemeClr>
                </a:solidFill>
              </a:rPr>
              <a:t>Airbnb </a:t>
            </a:r>
            <a:r>
              <a:rPr lang="en-US" sz="2000" spc="-245" dirty="0">
                <a:solidFill>
                  <a:schemeClr val="accent2">
                    <a:lumMod val="50000"/>
                  </a:schemeClr>
                </a:solidFill>
              </a:rPr>
              <a:t>is  </a:t>
            </a:r>
            <a:r>
              <a:rPr lang="en-US" sz="2000" spc="70" dirty="0">
                <a:solidFill>
                  <a:schemeClr val="accent2">
                    <a:lumMod val="50000"/>
                  </a:schemeClr>
                </a:solidFill>
              </a:rPr>
              <a:t>an </a:t>
            </a:r>
            <a:r>
              <a:rPr lang="en-US" sz="2000" spc="-40" dirty="0">
                <a:solidFill>
                  <a:schemeClr val="accent2">
                    <a:lumMod val="50000"/>
                  </a:schemeClr>
                </a:solidFill>
              </a:rPr>
              <a:t>online </a:t>
            </a:r>
            <a:r>
              <a:rPr lang="en-US" sz="2000" spc="-50" dirty="0">
                <a:solidFill>
                  <a:schemeClr val="accent2">
                    <a:lumMod val="50000"/>
                  </a:schemeClr>
                </a:solidFill>
              </a:rPr>
              <a:t>platform </a:t>
            </a:r>
            <a:r>
              <a:rPr lang="en-US" sz="2000" spc="-100" dirty="0">
                <a:solidFill>
                  <a:schemeClr val="accent2">
                    <a:lumMod val="50000"/>
                  </a:schemeClr>
                </a:solidFill>
              </a:rPr>
              <a:t>using 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which </a:t>
            </a:r>
            <a:r>
              <a:rPr lang="en-US" sz="2000" spc="75" dirty="0">
                <a:solidFill>
                  <a:schemeClr val="accent2">
                    <a:lumMod val="50000"/>
                  </a:schemeClr>
                </a:solidFill>
              </a:rPr>
              <a:t>people </a:t>
            </a:r>
            <a:r>
              <a:rPr lang="en-US" sz="2000" spc="145" dirty="0">
                <a:solidFill>
                  <a:schemeClr val="accent2">
                    <a:lumMod val="50000"/>
                  </a:schemeClr>
                </a:solidFill>
              </a:rPr>
              <a:t>can </a:t>
            </a:r>
            <a:r>
              <a:rPr lang="en-US" sz="2000" spc="15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-90" dirty="0">
                <a:solidFill>
                  <a:schemeClr val="accent2">
                    <a:lumMod val="50000"/>
                  </a:schemeClr>
                </a:solidFill>
              </a:rPr>
              <a:t>rent</a:t>
            </a:r>
            <a:r>
              <a:rPr lang="en-US" sz="2000" spc="-19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-70" dirty="0">
                <a:solidFill>
                  <a:schemeClr val="accent2">
                    <a:lumMod val="50000"/>
                  </a:schemeClr>
                </a:solidFill>
              </a:rPr>
              <a:t>the</a:t>
            </a:r>
            <a:r>
              <a:rPr lang="en-US" sz="2000" spc="-20" dirty="0">
                <a:solidFill>
                  <a:schemeClr val="accent2">
                    <a:lumMod val="50000"/>
                  </a:schemeClr>
                </a:solidFill>
              </a:rPr>
              <a:t>i</a:t>
            </a:r>
            <a:r>
              <a:rPr lang="en-US" sz="2000" spc="-305" dirty="0">
                <a:solidFill>
                  <a:schemeClr val="accent2">
                    <a:lumMod val="50000"/>
                  </a:schemeClr>
                </a:solidFill>
              </a:rPr>
              <a:t>r</a:t>
            </a:r>
            <a:r>
              <a:rPr lang="en-US" sz="2000" spc="-210" dirty="0">
                <a:solidFill>
                  <a:schemeClr val="accent2">
                    <a:lumMod val="50000"/>
                  </a:schemeClr>
                </a:solidFill>
              </a:rPr>
              <a:t>  </a:t>
            </a:r>
            <a:r>
              <a:rPr lang="en-US" sz="2000" spc="-130" dirty="0">
                <a:solidFill>
                  <a:schemeClr val="accent2">
                    <a:lumMod val="50000"/>
                  </a:schemeClr>
                </a:solidFill>
              </a:rPr>
              <a:t>unu</a:t>
            </a:r>
            <a:r>
              <a:rPr lang="en-US" sz="2000" spc="-105" dirty="0">
                <a:solidFill>
                  <a:schemeClr val="accent2">
                    <a:lumMod val="50000"/>
                  </a:schemeClr>
                </a:solidFill>
              </a:rPr>
              <a:t>s</a:t>
            </a:r>
            <a:r>
              <a:rPr lang="en-US" sz="2000" spc="140" dirty="0">
                <a:solidFill>
                  <a:schemeClr val="accent2">
                    <a:lumMod val="50000"/>
                  </a:schemeClr>
                </a:solidFill>
              </a:rPr>
              <a:t>ed</a:t>
            </a:r>
            <a:r>
              <a:rPr lang="en-US" sz="2000" spc="-175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270" dirty="0">
                <a:solidFill>
                  <a:schemeClr val="accent2">
                    <a:lumMod val="50000"/>
                  </a:schemeClr>
                </a:solidFill>
              </a:rPr>
              <a:t>ac</a:t>
            </a:r>
            <a:r>
              <a:rPr lang="en-US" sz="2000" spc="245" dirty="0">
                <a:solidFill>
                  <a:schemeClr val="accent2">
                    <a:lumMod val="50000"/>
                  </a:schemeClr>
                </a:solidFill>
              </a:rPr>
              <a:t>c</a:t>
            </a:r>
            <a:r>
              <a:rPr lang="en-US" sz="2000" spc="15" dirty="0">
                <a:solidFill>
                  <a:schemeClr val="accent2">
                    <a:lumMod val="50000"/>
                  </a:schemeClr>
                </a:solidFill>
              </a:rPr>
              <a:t>ommodat</a:t>
            </a:r>
            <a:r>
              <a:rPr lang="en-US" sz="2000" spc="30" dirty="0">
                <a:solidFill>
                  <a:schemeClr val="accent2">
                    <a:lumMod val="50000"/>
                  </a:schemeClr>
                </a:solidFill>
              </a:rPr>
              <a:t>i</a:t>
            </a:r>
            <a:r>
              <a:rPr lang="en-US" sz="2000" spc="-85" dirty="0">
                <a:solidFill>
                  <a:schemeClr val="accent2">
                    <a:lumMod val="50000"/>
                  </a:schemeClr>
                </a:solidFill>
              </a:rPr>
              <a:t>ons</a:t>
            </a:r>
            <a:r>
              <a:rPr lang="en-US" sz="2000" spc="-210" dirty="0">
                <a:solidFill>
                  <a:schemeClr val="accent2">
                    <a:lumMod val="50000"/>
                  </a:schemeClr>
                </a:solidFill>
              </a:rPr>
              <a:t>.</a:t>
            </a:r>
            <a:endParaRPr lang="en-US" sz="2000" dirty="0">
              <a:solidFill>
                <a:schemeClr val="accent2">
                  <a:lumMod val="50000"/>
                </a:schemeClr>
              </a:solidFill>
            </a:endParaRPr>
          </a:p>
          <a:p>
            <a:pPr marL="355600" marR="5080" indent="-3429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000" spc="-95" dirty="0">
                <a:solidFill>
                  <a:schemeClr val="accent2">
                    <a:lumMod val="50000"/>
                  </a:schemeClr>
                </a:solidFill>
              </a:rPr>
              <a:t>During </a:t>
            </a:r>
            <a:r>
              <a:rPr lang="en-US" sz="2000" spc="-25" dirty="0">
                <a:solidFill>
                  <a:schemeClr val="accent2">
                    <a:lumMod val="50000"/>
                  </a:schemeClr>
                </a:solidFill>
              </a:rPr>
              <a:t>the </a:t>
            </a:r>
            <a:r>
              <a:rPr lang="en-US" sz="2000" spc="60" dirty="0">
                <a:solidFill>
                  <a:schemeClr val="accent2">
                    <a:lumMod val="50000"/>
                  </a:schemeClr>
                </a:solidFill>
              </a:rPr>
              <a:t>covid </a:t>
            </a:r>
            <a:r>
              <a:rPr lang="en-US" sz="2000" spc="-100" dirty="0">
                <a:solidFill>
                  <a:schemeClr val="accent2">
                    <a:lumMod val="50000"/>
                  </a:schemeClr>
                </a:solidFill>
              </a:rPr>
              <a:t>time, </a:t>
            </a:r>
            <a:r>
              <a:rPr lang="en-US" sz="2000" spc="-20" dirty="0">
                <a:solidFill>
                  <a:schemeClr val="accent2">
                    <a:lumMod val="50000"/>
                  </a:schemeClr>
                </a:solidFill>
              </a:rPr>
              <a:t>Airbnb </a:t>
            </a:r>
            <a:r>
              <a:rPr lang="en-US" sz="2000" spc="-40" dirty="0">
                <a:solidFill>
                  <a:schemeClr val="accent2">
                    <a:lumMod val="50000"/>
                  </a:schemeClr>
                </a:solidFill>
              </a:rPr>
              <a:t>incurred </a:t>
            </a:r>
            <a:r>
              <a:rPr lang="en-US" sz="2000" spc="195" dirty="0">
                <a:solidFill>
                  <a:schemeClr val="accent2">
                    <a:lumMod val="50000"/>
                  </a:schemeClr>
                </a:solidFill>
              </a:rPr>
              <a:t>a </a:t>
            </a:r>
            <a:r>
              <a:rPr lang="en-US" sz="2000" spc="30" dirty="0">
                <a:solidFill>
                  <a:schemeClr val="accent2">
                    <a:lumMod val="50000"/>
                  </a:schemeClr>
                </a:solidFill>
              </a:rPr>
              <a:t>huge </a:t>
            </a:r>
            <a:r>
              <a:rPr lang="en-US" sz="2000" spc="-180" dirty="0">
                <a:solidFill>
                  <a:schemeClr val="accent2">
                    <a:lumMod val="50000"/>
                  </a:schemeClr>
                </a:solidFill>
              </a:rPr>
              <a:t>loss </a:t>
            </a:r>
            <a:r>
              <a:rPr lang="en-US" sz="2000" spc="-100" dirty="0">
                <a:solidFill>
                  <a:schemeClr val="accent2">
                    <a:lumMod val="50000"/>
                  </a:schemeClr>
                </a:solidFill>
              </a:rPr>
              <a:t>in </a:t>
            </a:r>
            <a:r>
              <a:rPr lang="en-US" sz="2000" spc="-95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-40" dirty="0">
                <a:solidFill>
                  <a:schemeClr val="accent2">
                    <a:lumMod val="50000"/>
                  </a:schemeClr>
                </a:solidFill>
              </a:rPr>
              <a:t>revenue.</a:t>
            </a:r>
            <a:endParaRPr lang="en-US" sz="2000" dirty="0">
              <a:solidFill>
                <a:schemeClr val="accent2">
                  <a:lumMod val="50000"/>
                </a:schemeClr>
              </a:solidFill>
            </a:endParaRPr>
          </a:p>
          <a:p>
            <a:pPr marL="355600" marR="11430" indent="-3429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000" spc="50" dirty="0">
                <a:solidFill>
                  <a:schemeClr val="accent2">
                    <a:lumMod val="50000"/>
                  </a:schemeClr>
                </a:solidFill>
              </a:rPr>
              <a:t>People </a:t>
            </a:r>
            <a:r>
              <a:rPr lang="en-US" sz="2000" spc="45" dirty="0">
                <a:solidFill>
                  <a:schemeClr val="accent2">
                    <a:lumMod val="50000"/>
                  </a:schemeClr>
                </a:solidFill>
              </a:rPr>
              <a:t>have </a:t>
            </a:r>
            <a:r>
              <a:rPr lang="en-US" sz="2000" spc="30" dirty="0">
                <a:solidFill>
                  <a:schemeClr val="accent2">
                    <a:lumMod val="50000"/>
                  </a:schemeClr>
                </a:solidFill>
              </a:rPr>
              <a:t>now </a:t>
            </a:r>
            <a:r>
              <a:rPr lang="en-US" sz="2000" spc="-65" dirty="0">
                <a:solidFill>
                  <a:schemeClr val="accent2">
                    <a:lumMod val="50000"/>
                  </a:schemeClr>
                </a:solidFill>
              </a:rPr>
              <a:t>started </a:t>
            </a:r>
            <a:r>
              <a:rPr lang="en-US" sz="2000" spc="-75" dirty="0">
                <a:solidFill>
                  <a:schemeClr val="accent2">
                    <a:lumMod val="50000"/>
                  </a:schemeClr>
                </a:solidFill>
              </a:rPr>
              <a:t>travelling </a:t>
            </a:r>
            <a:r>
              <a:rPr lang="en-US" sz="2000" spc="50" dirty="0">
                <a:solidFill>
                  <a:schemeClr val="accent2">
                    <a:lumMod val="50000"/>
                  </a:schemeClr>
                </a:solidFill>
              </a:rPr>
              <a:t>again </a:t>
            </a:r>
            <a:r>
              <a:rPr lang="en-US" sz="2000" spc="90" dirty="0">
                <a:solidFill>
                  <a:schemeClr val="accent2">
                    <a:lumMod val="50000"/>
                  </a:schemeClr>
                </a:solidFill>
              </a:rPr>
              <a:t>and </a:t>
            </a:r>
            <a:r>
              <a:rPr lang="en-US" sz="2000" spc="-25" dirty="0">
                <a:solidFill>
                  <a:schemeClr val="accent2">
                    <a:lumMod val="50000"/>
                  </a:schemeClr>
                </a:solidFill>
              </a:rPr>
              <a:t>Airbnb </a:t>
            </a:r>
            <a:r>
              <a:rPr lang="en-US" sz="2000" spc="-2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-165" dirty="0">
                <a:solidFill>
                  <a:schemeClr val="accent2">
                    <a:lumMod val="50000"/>
                  </a:schemeClr>
                </a:solidFill>
              </a:rPr>
              <a:t>i</a:t>
            </a:r>
            <a:r>
              <a:rPr lang="en-US" sz="2000" spc="-330" dirty="0">
                <a:solidFill>
                  <a:schemeClr val="accent2">
                    <a:lumMod val="50000"/>
                  </a:schemeClr>
                </a:solidFill>
              </a:rPr>
              <a:t>s</a:t>
            </a:r>
            <a:r>
              <a:rPr lang="en-US" sz="2000" spc="-60" dirty="0">
                <a:solidFill>
                  <a:schemeClr val="accent2">
                    <a:lumMod val="50000"/>
                  </a:schemeClr>
                </a:solidFill>
              </a:rPr>
              <a:t>  </a:t>
            </a:r>
            <a:r>
              <a:rPr lang="en-US" sz="2000" spc="185" dirty="0">
                <a:solidFill>
                  <a:schemeClr val="accent2">
                    <a:lumMod val="50000"/>
                  </a:schemeClr>
                </a:solidFill>
              </a:rPr>
              <a:t>a</a:t>
            </a:r>
            <a:r>
              <a:rPr lang="en-US" sz="2000" spc="-175" dirty="0">
                <a:solidFill>
                  <a:schemeClr val="accent2">
                    <a:lumMod val="50000"/>
                  </a:schemeClr>
                </a:solidFill>
              </a:rPr>
              <a:t>i</a:t>
            </a:r>
            <a:r>
              <a:rPr lang="en-US" sz="2000" spc="-105" dirty="0">
                <a:solidFill>
                  <a:schemeClr val="accent2">
                    <a:lumMod val="50000"/>
                  </a:schemeClr>
                </a:solidFill>
              </a:rPr>
              <a:t>m</a:t>
            </a:r>
            <a:r>
              <a:rPr lang="en-US" sz="2000" spc="-175" dirty="0">
                <a:solidFill>
                  <a:schemeClr val="accent2">
                    <a:lumMod val="50000"/>
                  </a:schemeClr>
                </a:solidFill>
              </a:rPr>
              <a:t>i</a:t>
            </a:r>
            <a:r>
              <a:rPr lang="en-US" sz="2000" spc="-75" dirty="0">
                <a:solidFill>
                  <a:schemeClr val="accent2">
                    <a:lumMod val="50000"/>
                  </a:schemeClr>
                </a:solidFill>
              </a:rPr>
              <a:t>n</a:t>
            </a:r>
            <a:r>
              <a:rPr lang="en-US" sz="2000" spc="114" dirty="0">
                <a:solidFill>
                  <a:schemeClr val="accent2">
                    <a:lumMod val="50000"/>
                  </a:schemeClr>
                </a:solidFill>
              </a:rPr>
              <a:t>g</a:t>
            </a:r>
            <a:r>
              <a:rPr lang="en-US" sz="2000" spc="-45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-20" dirty="0">
                <a:solidFill>
                  <a:schemeClr val="accent2">
                    <a:lumMod val="50000"/>
                  </a:schemeClr>
                </a:solidFill>
              </a:rPr>
              <a:t>t</a:t>
            </a:r>
            <a:r>
              <a:rPr lang="en-US" sz="2000" spc="-15" dirty="0">
                <a:solidFill>
                  <a:schemeClr val="accent2">
                    <a:lumMod val="50000"/>
                  </a:schemeClr>
                </a:solidFill>
              </a:rPr>
              <a:t>o</a:t>
            </a:r>
            <a:r>
              <a:rPr lang="en-US" sz="2000" spc="-55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-140" dirty="0">
                <a:solidFill>
                  <a:schemeClr val="accent2">
                    <a:lumMod val="50000"/>
                  </a:schemeClr>
                </a:solidFill>
              </a:rPr>
              <a:t>br</a:t>
            </a:r>
            <a:r>
              <a:rPr lang="en-US" sz="2000" spc="-60" dirty="0">
                <a:solidFill>
                  <a:schemeClr val="accent2">
                    <a:lumMod val="50000"/>
                  </a:schemeClr>
                </a:solidFill>
              </a:rPr>
              <a:t>i</a:t>
            </a:r>
            <a:r>
              <a:rPr lang="en-US" sz="2000" spc="-70" dirty="0">
                <a:solidFill>
                  <a:schemeClr val="accent2">
                    <a:lumMod val="50000"/>
                  </a:schemeClr>
                </a:solidFill>
              </a:rPr>
              <a:t>n</a:t>
            </a:r>
            <a:r>
              <a:rPr lang="en-US" sz="2000" spc="114" dirty="0">
                <a:solidFill>
                  <a:schemeClr val="accent2">
                    <a:lumMod val="50000"/>
                  </a:schemeClr>
                </a:solidFill>
              </a:rPr>
              <a:t>g</a:t>
            </a:r>
            <a:r>
              <a:rPr lang="en-US" sz="2000" spc="-5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45" dirty="0">
                <a:solidFill>
                  <a:schemeClr val="accent2">
                    <a:lumMod val="50000"/>
                  </a:schemeClr>
                </a:solidFill>
              </a:rPr>
              <a:t>u</a:t>
            </a:r>
            <a:r>
              <a:rPr lang="en-US" sz="2000" spc="40" dirty="0">
                <a:solidFill>
                  <a:schemeClr val="accent2">
                    <a:lumMod val="50000"/>
                  </a:schemeClr>
                </a:solidFill>
              </a:rPr>
              <a:t>p</a:t>
            </a:r>
            <a:r>
              <a:rPr lang="en-US" sz="2000" spc="-6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-20" dirty="0">
                <a:solidFill>
                  <a:schemeClr val="accent2">
                    <a:lumMod val="50000"/>
                  </a:schemeClr>
                </a:solidFill>
              </a:rPr>
              <a:t>the</a:t>
            </a:r>
            <a:r>
              <a:rPr lang="en-US" sz="2000" spc="-5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-90" dirty="0">
                <a:solidFill>
                  <a:schemeClr val="accent2">
                    <a:lumMod val="50000"/>
                  </a:schemeClr>
                </a:solidFill>
              </a:rPr>
              <a:t>bu</a:t>
            </a:r>
            <a:r>
              <a:rPr lang="en-US" sz="2000" spc="-80" dirty="0">
                <a:solidFill>
                  <a:schemeClr val="accent2">
                    <a:lumMod val="50000"/>
                  </a:schemeClr>
                </a:solidFill>
              </a:rPr>
              <a:t>s</a:t>
            </a:r>
            <a:r>
              <a:rPr lang="en-US" sz="2000" spc="-160" dirty="0">
                <a:solidFill>
                  <a:schemeClr val="accent2">
                    <a:lumMod val="50000"/>
                  </a:schemeClr>
                </a:solidFill>
              </a:rPr>
              <a:t>i</a:t>
            </a:r>
            <a:r>
              <a:rPr lang="en-US" sz="2000" spc="-75" dirty="0">
                <a:solidFill>
                  <a:schemeClr val="accent2">
                    <a:lumMod val="50000"/>
                  </a:schemeClr>
                </a:solidFill>
              </a:rPr>
              <a:t>n</a:t>
            </a:r>
            <a:r>
              <a:rPr lang="en-US" sz="2000" spc="-170" dirty="0">
                <a:solidFill>
                  <a:schemeClr val="accent2">
                    <a:lumMod val="50000"/>
                  </a:schemeClr>
                </a:solidFill>
              </a:rPr>
              <a:t>ess</a:t>
            </a:r>
            <a:r>
              <a:rPr lang="en-US" sz="2000" spc="-4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150" dirty="0">
                <a:solidFill>
                  <a:schemeClr val="accent2">
                    <a:lumMod val="50000"/>
                  </a:schemeClr>
                </a:solidFill>
              </a:rPr>
              <a:t>a</a:t>
            </a:r>
            <a:r>
              <a:rPr lang="en-US" sz="2000" spc="165" dirty="0">
                <a:solidFill>
                  <a:schemeClr val="accent2">
                    <a:lumMod val="50000"/>
                  </a:schemeClr>
                </a:solidFill>
              </a:rPr>
              <a:t>g</a:t>
            </a:r>
            <a:r>
              <a:rPr lang="en-US" sz="2000" spc="185" dirty="0">
                <a:solidFill>
                  <a:schemeClr val="accent2">
                    <a:lumMod val="50000"/>
                  </a:schemeClr>
                </a:solidFill>
              </a:rPr>
              <a:t>a</a:t>
            </a:r>
            <a:r>
              <a:rPr lang="en-US" sz="2000" spc="-175" dirty="0">
                <a:solidFill>
                  <a:schemeClr val="accent2">
                    <a:lumMod val="50000"/>
                  </a:schemeClr>
                </a:solidFill>
              </a:rPr>
              <a:t>i</a:t>
            </a:r>
            <a:r>
              <a:rPr lang="en-US" sz="2000" spc="-60" dirty="0">
                <a:solidFill>
                  <a:schemeClr val="accent2">
                    <a:lumMod val="50000"/>
                  </a:schemeClr>
                </a:solidFill>
              </a:rPr>
              <a:t>n </a:t>
            </a:r>
            <a:r>
              <a:rPr lang="en-US" sz="2000" spc="90" dirty="0">
                <a:solidFill>
                  <a:schemeClr val="accent2">
                    <a:lumMod val="50000"/>
                  </a:schemeClr>
                </a:solidFill>
              </a:rPr>
              <a:t>an</a:t>
            </a:r>
            <a:r>
              <a:rPr lang="en-US" sz="2000" spc="95" dirty="0">
                <a:solidFill>
                  <a:schemeClr val="accent2">
                    <a:lumMod val="50000"/>
                  </a:schemeClr>
                </a:solidFill>
              </a:rPr>
              <a:t>d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-1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40" dirty="0">
                <a:solidFill>
                  <a:schemeClr val="accent2">
                    <a:lumMod val="50000"/>
                  </a:schemeClr>
                </a:solidFill>
              </a:rPr>
              <a:t>rea</a:t>
            </a:r>
            <a:r>
              <a:rPr lang="en-US" sz="2000" spc="55" dirty="0">
                <a:solidFill>
                  <a:schemeClr val="accent2">
                    <a:lumMod val="50000"/>
                  </a:schemeClr>
                </a:solidFill>
              </a:rPr>
              <a:t>d</a:t>
            </a:r>
            <a:r>
              <a:rPr lang="en-US" sz="2000" spc="-135" dirty="0">
                <a:solidFill>
                  <a:schemeClr val="accent2">
                    <a:lumMod val="50000"/>
                  </a:schemeClr>
                </a:solidFill>
              </a:rPr>
              <a:t>y</a:t>
            </a:r>
            <a:r>
              <a:rPr lang="en-US" sz="2000" spc="-55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-10" dirty="0">
                <a:solidFill>
                  <a:schemeClr val="accent2">
                    <a:lumMod val="50000"/>
                  </a:schemeClr>
                </a:solidFill>
              </a:rPr>
              <a:t>to  </a:t>
            </a:r>
            <a:r>
              <a:rPr lang="en-US" sz="2000" spc="-20" dirty="0">
                <a:solidFill>
                  <a:schemeClr val="accent2">
                    <a:lumMod val="50000"/>
                  </a:schemeClr>
                </a:solidFill>
              </a:rPr>
              <a:t>pr</a:t>
            </a:r>
            <a:r>
              <a:rPr lang="en-US" sz="2000" spc="-30" dirty="0">
                <a:solidFill>
                  <a:schemeClr val="accent2">
                    <a:lumMod val="50000"/>
                  </a:schemeClr>
                </a:solidFill>
              </a:rPr>
              <a:t>o</a:t>
            </a:r>
            <a:r>
              <a:rPr lang="en-US" sz="2000" spc="-75" dirty="0">
                <a:solidFill>
                  <a:schemeClr val="accent2">
                    <a:lumMod val="50000"/>
                  </a:schemeClr>
                </a:solidFill>
              </a:rPr>
              <a:t>v</a:t>
            </a:r>
            <a:r>
              <a:rPr lang="en-US" sz="2000" spc="-175" dirty="0">
                <a:solidFill>
                  <a:schemeClr val="accent2">
                    <a:lumMod val="50000"/>
                  </a:schemeClr>
                </a:solidFill>
              </a:rPr>
              <a:t>i</a:t>
            </a:r>
            <a:r>
              <a:rPr lang="en-US" sz="2000" spc="135" dirty="0">
                <a:solidFill>
                  <a:schemeClr val="accent2">
                    <a:lumMod val="50000"/>
                  </a:schemeClr>
                </a:solidFill>
              </a:rPr>
              <a:t>de</a:t>
            </a:r>
            <a:r>
              <a:rPr lang="en-US" sz="2000" spc="-204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-145" dirty="0">
                <a:solidFill>
                  <a:schemeClr val="accent2">
                    <a:lumMod val="50000"/>
                  </a:schemeClr>
                </a:solidFill>
              </a:rPr>
              <a:t>ser</a:t>
            </a:r>
            <a:r>
              <a:rPr lang="en-US" sz="2000" spc="-140" dirty="0">
                <a:solidFill>
                  <a:schemeClr val="accent2">
                    <a:lumMod val="50000"/>
                  </a:schemeClr>
                </a:solidFill>
              </a:rPr>
              <a:t>v</a:t>
            </a:r>
            <a:r>
              <a:rPr lang="en-US" sz="2000" spc="-175" dirty="0">
                <a:solidFill>
                  <a:schemeClr val="accent2">
                    <a:lumMod val="50000"/>
                  </a:schemeClr>
                </a:solidFill>
              </a:rPr>
              <a:t>i</a:t>
            </a:r>
            <a:r>
              <a:rPr lang="en-US" sz="2000" spc="35" dirty="0">
                <a:solidFill>
                  <a:schemeClr val="accent2">
                    <a:lumMod val="50000"/>
                  </a:schemeClr>
                </a:solidFill>
              </a:rPr>
              <a:t>ces</a:t>
            </a:r>
            <a:r>
              <a:rPr lang="en-US" sz="2000" spc="-2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-10" dirty="0">
                <a:solidFill>
                  <a:schemeClr val="accent2">
                    <a:lumMod val="50000"/>
                  </a:schemeClr>
                </a:solidFill>
              </a:rPr>
              <a:t>to</a:t>
            </a:r>
            <a:r>
              <a:rPr lang="en-US" sz="2000" spc="-185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-55" dirty="0">
                <a:solidFill>
                  <a:schemeClr val="accent2">
                    <a:lumMod val="50000"/>
                  </a:schemeClr>
                </a:solidFill>
              </a:rPr>
              <a:t>cust</a:t>
            </a:r>
            <a:r>
              <a:rPr lang="en-US" sz="2000" spc="-100" dirty="0">
                <a:solidFill>
                  <a:schemeClr val="accent2">
                    <a:lumMod val="50000"/>
                  </a:schemeClr>
                </a:solidFill>
              </a:rPr>
              <a:t>omer</a:t>
            </a:r>
            <a:r>
              <a:rPr lang="en-US" sz="2000" spc="-70" dirty="0">
                <a:solidFill>
                  <a:schemeClr val="accent2">
                    <a:lumMod val="50000"/>
                  </a:schemeClr>
                </a:solidFill>
              </a:rPr>
              <a:t>s</a:t>
            </a:r>
            <a:r>
              <a:rPr lang="en-US" sz="2000" spc="-210" dirty="0">
                <a:solidFill>
                  <a:schemeClr val="accent2">
                    <a:lumMod val="50000"/>
                  </a:schemeClr>
                </a:solidFill>
              </a:rPr>
              <a:t>.</a:t>
            </a:r>
            <a:endParaRPr lang="en-US" sz="20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3468" y="1033389"/>
            <a:ext cx="5223932" cy="48254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/>
            <a:r>
              <a:rPr lang="en-US" sz="5000" spc="-35" dirty="0">
                <a:solidFill>
                  <a:srgbClr val="FFFFFF"/>
                </a:solidFill>
              </a:rPr>
              <a:t>Background</a:t>
            </a:r>
            <a:endParaRPr lang="en-US" sz="5000" dirty="0">
              <a:solidFill>
                <a:srgbClr val="FFFFFF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55769" y="1033390"/>
            <a:ext cx="4855037" cy="4825409"/>
          </a:xfrm>
          <a:prstGeom prst="rect">
            <a:avLst/>
          </a:prstGeom>
          <a:ln w="57150"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355600" marR="5080" indent="-3429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000" spc="-135" dirty="0">
                <a:solidFill>
                  <a:schemeClr val="accent2">
                    <a:lumMod val="50000"/>
                  </a:schemeClr>
                </a:solidFill>
              </a:rPr>
              <a:t>For </a:t>
            </a:r>
            <a:r>
              <a:rPr lang="en-US" sz="2000" spc="-20" dirty="0">
                <a:solidFill>
                  <a:schemeClr val="accent2">
                    <a:lumMod val="50000"/>
                  </a:schemeClr>
                </a:solidFill>
              </a:rPr>
              <a:t>the </a:t>
            </a:r>
            <a:r>
              <a:rPr lang="en-US" sz="2000" spc="-30" dirty="0">
                <a:solidFill>
                  <a:schemeClr val="accent2">
                    <a:lumMod val="50000"/>
                  </a:schemeClr>
                </a:solidFill>
              </a:rPr>
              <a:t>past </a:t>
            </a:r>
            <a:r>
              <a:rPr lang="en-US" sz="2000" spc="20" dirty="0">
                <a:solidFill>
                  <a:schemeClr val="accent2">
                    <a:lumMod val="50000"/>
                  </a:schemeClr>
                </a:solidFill>
              </a:rPr>
              <a:t>few </a:t>
            </a:r>
            <a:r>
              <a:rPr lang="en-US" sz="2000" spc="-105" dirty="0">
                <a:solidFill>
                  <a:schemeClr val="accent2">
                    <a:lumMod val="50000"/>
                  </a:schemeClr>
                </a:solidFill>
              </a:rPr>
              <a:t>months, </a:t>
            </a:r>
            <a:r>
              <a:rPr lang="en-US" sz="2000" spc="-20" dirty="0">
                <a:solidFill>
                  <a:schemeClr val="accent2">
                    <a:lumMod val="50000"/>
                  </a:schemeClr>
                </a:solidFill>
              </a:rPr>
              <a:t>Airbnb </a:t>
            </a:r>
            <a:r>
              <a:rPr lang="en-US" sz="2000" spc="-60" dirty="0">
                <a:solidFill>
                  <a:schemeClr val="accent2">
                    <a:lumMod val="50000"/>
                  </a:schemeClr>
                </a:solidFill>
              </a:rPr>
              <a:t>has </a:t>
            </a:r>
            <a:r>
              <a:rPr lang="en-US" sz="2000" spc="-35" dirty="0">
                <a:solidFill>
                  <a:schemeClr val="accent2">
                    <a:lumMod val="50000"/>
                  </a:schemeClr>
                </a:solidFill>
              </a:rPr>
              <a:t>seen </a:t>
            </a:r>
            <a:r>
              <a:rPr lang="en-US" sz="2000" spc="195" dirty="0">
                <a:solidFill>
                  <a:schemeClr val="accent2">
                    <a:lumMod val="50000"/>
                  </a:schemeClr>
                </a:solidFill>
              </a:rPr>
              <a:t>a </a:t>
            </a:r>
            <a:r>
              <a:rPr lang="en-US" sz="2000" spc="-85" dirty="0">
                <a:solidFill>
                  <a:schemeClr val="accent2">
                    <a:lumMod val="50000"/>
                  </a:schemeClr>
                </a:solidFill>
              </a:rPr>
              <a:t>major </a:t>
            </a:r>
            <a:r>
              <a:rPr lang="en-US" sz="2000" spc="-8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200" dirty="0">
                <a:solidFill>
                  <a:schemeClr val="accent2">
                    <a:lumMod val="50000"/>
                  </a:schemeClr>
                </a:solidFill>
              </a:rPr>
              <a:t>de</a:t>
            </a:r>
            <a:r>
              <a:rPr lang="en-US" sz="2000" spc="165" dirty="0">
                <a:solidFill>
                  <a:schemeClr val="accent2">
                    <a:lumMod val="50000"/>
                  </a:schemeClr>
                </a:solidFill>
              </a:rPr>
              <a:t>c</a:t>
            </a:r>
            <a:r>
              <a:rPr lang="en-US" sz="2000" spc="-185" dirty="0">
                <a:solidFill>
                  <a:schemeClr val="accent2">
                    <a:lumMod val="50000"/>
                  </a:schemeClr>
                </a:solidFill>
              </a:rPr>
              <a:t>l</a:t>
            </a:r>
            <a:r>
              <a:rPr lang="en-US" sz="2000" spc="-160" dirty="0">
                <a:solidFill>
                  <a:schemeClr val="accent2">
                    <a:lumMod val="50000"/>
                  </a:schemeClr>
                </a:solidFill>
              </a:rPr>
              <a:t>i</a:t>
            </a:r>
            <a:r>
              <a:rPr lang="en-US" sz="2000" spc="35" dirty="0">
                <a:solidFill>
                  <a:schemeClr val="accent2">
                    <a:lumMod val="50000"/>
                  </a:schemeClr>
                </a:solidFill>
              </a:rPr>
              <a:t>ne</a:t>
            </a:r>
            <a:r>
              <a:rPr lang="en-US" sz="2000" spc="-21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-50" dirty="0">
                <a:solidFill>
                  <a:schemeClr val="accent2">
                    <a:lumMod val="50000"/>
                  </a:schemeClr>
                </a:solidFill>
              </a:rPr>
              <a:t>i</a:t>
            </a:r>
            <a:r>
              <a:rPr lang="en-US" sz="2000" spc="-165" dirty="0">
                <a:solidFill>
                  <a:schemeClr val="accent2">
                    <a:lumMod val="50000"/>
                  </a:schemeClr>
                </a:solidFill>
              </a:rPr>
              <a:t>n</a:t>
            </a:r>
            <a:r>
              <a:rPr lang="en-US" sz="2000" spc="-21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-85" dirty="0">
                <a:solidFill>
                  <a:schemeClr val="accent2">
                    <a:lumMod val="50000"/>
                  </a:schemeClr>
                </a:solidFill>
              </a:rPr>
              <a:t>re</a:t>
            </a:r>
            <a:r>
              <a:rPr lang="en-US" sz="2000" spc="-80" dirty="0">
                <a:solidFill>
                  <a:schemeClr val="accent2">
                    <a:lumMod val="50000"/>
                  </a:schemeClr>
                </a:solidFill>
              </a:rPr>
              <a:t>v</a:t>
            </a:r>
            <a:r>
              <a:rPr lang="en-US" sz="2000" spc="35" dirty="0">
                <a:solidFill>
                  <a:schemeClr val="accent2">
                    <a:lumMod val="50000"/>
                  </a:schemeClr>
                </a:solidFill>
              </a:rPr>
              <a:t>enue</a:t>
            </a:r>
            <a:r>
              <a:rPr lang="en-US" sz="2000" spc="-210" dirty="0">
                <a:solidFill>
                  <a:schemeClr val="accent2">
                    <a:lumMod val="50000"/>
                  </a:schemeClr>
                </a:solidFill>
              </a:rPr>
              <a:t>.</a:t>
            </a:r>
            <a:endParaRPr lang="en-US" sz="2000" dirty="0">
              <a:solidFill>
                <a:schemeClr val="accent2">
                  <a:lumMod val="50000"/>
                </a:schemeClr>
              </a:solidFill>
            </a:endParaRPr>
          </a:p>
          <a:p>
            <a:pPr marL="355600" marR="6350" indent="-3429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000" spc="40" dirty="0">
                <a:solidFill>
                  <a:schemeClr val="accent2">
                    <a:lumMod val="50000"/>
                  </a:schemeClr>
                </a:solidFill>
              </a:rPr>
              <a:t>Now</a:t>
            </a:r>
            <a:r>
              <a:rPr lang="en-US" sz="2000" spc="45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-30" dirty="0">
                <a:solidFill>
                  <a:schemeClr val="accent2">
                    <a:lumMod val="50000"/>
                  </a:schemeClr>
                </a:solidFill>
              </a:rPr>
              <a:t>that</a:t>
            </a:r>
            <a:r>
              <a:rPr lang="en-US" sz="2000" spc="-25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-20" dirty="0">
                <a:solidFill>
                  <a:schemeClr val="accent2">
                    <a:lumMod val="50000"/>
                  </a:schemeClr>
                </a:solidFill>
              </a:rPr>
              <a:t>the</a:t>
            </a:r>
            <a:r>
              <a:rPr lang="en-US" sz="2000" spc="-15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-114" dirty="0">
                <a:solidFill>
                  <a:schemeClr val="accent2">
                    <a:lumMod val="50000"/>
                  </a:schemeClr>
                </a:solidFill>
              </a:rPr>
              <a:t>restrictions</a:t>
            </a:r>
            <a:r>
              <a:rPr lang="en-US" sz="2000" spc="-11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45" dirty="0">
                <a:solidFill>
                  <a:schemeClr val="accent2">
                    <a:lumMod val="50000"/>
                  </a:schemeClr>
                </a:solidFill>
              </a:rPr>
              <a:t>have</a:t>
            </a:r>
            <a:r>
              <a:rPr lang="en-US" sz="2000" spc="5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-65" dirty="0">
                <a:solidFill>
                  <a:schemeClr val="accent2">
                    <a:lumMod val="50000"/>
                  </a:schemeClr>
                </a:solidFill>
              </a:rPr>
              <a:t>started</a:t>
            </a:r>
            <a:r>
              <a:rPr lang="en-US" sz="2000" spc="-6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-100" dirty="0">
                <a:solidFill>
                  <a:schemeClr val="accent2">
                    <a:lumMod val="50000"/>
                  </a:schemeClr>
                </a:solidFill>
              </a:rPr>
              <a:t>lifting</a:t>
            </a:r>
            <a:r>
              <a:rPr lang="en-US" sz="2000" spc="-95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90" dirty="0">
                <a:solidFill>
                  <a:schemeClr val="accent2">
                    <a:lumMod val="50000"/>
                  </a:schemeClr>
                </a:solidFill>
              </a:rPr>
              <a:t>and </a:t>
            </a:r>
            <a:r>
              <a:rPr lang="en-US" sz="2000" spc="95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75" dirty="0">
                <a:solidFill>
                  <a:schemeClr val="accent2">
                    <a:lumMod val="50000"/>
                  </a:schemeClr>
                </a:solidFill>
              </a:rPr>
              <a:t>people </a:t>
            </a:r>
            <a:r>
              <a:rPr lang="en-US" sz="2000" spc="45" dirty="0">
                <a:solidFill>
                  <a:schemeClr val="accent2">
                    <a:lumMod val="50000"/>
                  </a:schemeClr>
                </a:solidFill>
              </a:rPr>
              <a:t>have </a:t>
            </a:r>
            <a:r>
              <a:rPr lang="en-US" sz="2000" spc="-65" dirty="0">
                <a:solidFill>
                  <a:schemeClr val="accent2">
                    <a:lumMod val="50000"/>
                  </a:schemeClr>
                </a:solidFill>
              </a:rPr>
              <a:t>started </a:t>
            </a:r>
            <a:r>
              <a:rPr lang="en-US" sz="2000" spc="-10" dirty="0">
                <a:solidFill>
                  <a:schemeClr val="accent2">
                    <a:lumMod val="50000"/>
                  </a:schemeClr>
                </a:solidFill>
              </a:rPr>
              <a:t>to </a:t>
            </a:r>
            <a:r>
              <a:rPr lang="en-US" sz="2000" spc="-65" dirty="0">
                <a:solidFill>
                  <a:schemeClr val="accent2">
                    <a:lumMod val="50000"/>
                  </a:schemeClr>
                </a:solidFill>
              </a:rPr>
              <a:t>travel </a:t>
            </a:r>
            <a:r>
              <a:rPr lang="en-US" sz="2000" spc="-70" dirty="0">
                <a:solidFill>
                  <a:schemeClr val="accent2">
                    <a:lumMod val="50000"/>
                  </a:schemeClr>
                </a:solidFill>
              </a:rPr>
              <a:t>more, </a:t>
            </a:r>
            <a:r>
              <a:rPr lang="en-US" sz="2000" spc="-20" dirty="0">
                <a:solidFill>
                  <a:schemeClr val="accent2">
                    <a:lumMod val="50000"/>
                  </a:schemeClr>
                </a:solidFill>
              </a:rPr>
              <a:t>Airbnb </a:t>
            </a:r>
            <a:r>
              <a:rPr lang="en-US" sz="2000" spc="-60" dirty="0">
                <a:solidFill>
                  <a:schemeClr val="accent2">
                    <a:lumMod val="50000"/>
                  </a:schemeClr>
                </a:solidFill>
              </a:rPr>
              <a:t>wants </a:t>
            </a:r>
            <a:r>
              <a:rPr lang="en-US" sz="2000" spc="-10" dirty="0">
                <a:solidFill>
                  <a:schemeClr val="accent2">
                    <a:lumMod val="50000"/>
                  </a:schemeClr>
                </a:solidFill>
              </a:rPr>
              <a:t>to </a:t>
            </a:r>
            <a:r>
              <a:rPr lang="en-US" sz="2000" spc="-5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70" dirty="0">
                <a:solidFill>
                  <a:schemeClr val="accent2">
                    <a:lumMod val="50000"/>
                  </a:schemeClr>
                </a:solidFill>
              </a:rPr>
              <a:t>m</a:t>
            </a:r>
            <a:r>
              <a:rPr lang="en-US" sz="2000" spc="45" dirty="0">
                <a:solidFill>
                  <a:schemeClr val="accent2">
                    <a:lumMod val="50000"/>
                  </a:schemeClr>
                </a:solidFill>
              </a:rPr>
              <a:t>a</a:t>
            </a:r>
            <a:r>
              <a:rPr lang="en-US" sz="2000" spc="-45" dirty="0">
                <a:solidFill>
                  <a:schemeClr val="accent2">
                    <a:lumMod val="50000"/>
                  </a:schemeClr>
                </a:solidFill>
              </a:rPr>
              <a:t>ke</a:t>
            </a:r>
            <a:r>
              <a:rPr lang="en-US" sz="2000" spc="-2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-180" dirty="0">
                <a:solidFill>
                  <a:schemeClr val="accent2">
                    <a:lumMod val="50000"/>
                  </a:schemeClr>
                </a:solidFill>
              </a:rPr>
              <a:t>s</a:t>
            </a:r>
            <a:r>
              <a:rPr lang="en-US" sz="2000" spc="-204" dirty="0">
                <a:solidFill>
                  <a:schemeClr val="accent2">
                    <a:lumMod val="50000"/>
                  </a:schemeClr>
                </a:solidFill>
              </a:rPr>
              <a:t>u</a:t>
            </a:r>
            <a:r>
              <a:rPr lang="en-US" sz="2000" spc="-90" dirty="0">
                <a:solidFill>
                  <a:schemeClr val="accent2">
                    <a:lumMod val="50000"/>
                  </a:schemeClr>
                </a:solidFill>
              </a:rPr>
              <a:t>re</a:t>
            </a:r>
            <a:r>
              <a:rPr lang="en-US" sz="2000" spc="-175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th</a:t>
            </a:r>
            <a:r>
              <a:rPr lang="en-US" sz="2000" spc="5" dirty="0">
                <a:solidFill>
                  <a:schemeClr val="accent2">
                    <a:lumMod val="50000"/>
                  </a:schemeClr>
                </a:solidFill>
              </a:rPr>
              <a:t>a</a:t>
            </a:r>
            <a:r>
              <a:rPr lang="en-US" sz="2000" spc="-135" dirty="0">
                <a:solidFill>
                  <a:schemeClr val="accent2">
                    <a:lumMod val="50000"/>
                  </a:schemeClr>
                </a:solidFill>
              </a:rPr>
              <a:t>t</a:t>
            </a:r>
            <a:r>
              <a:rPr lang="en-US" sz="2000" spc="-19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-110" dirty="0">
                <a:solidFill>
                  <a:schemeClr val="accent2">
                    <a:lumMod val="50000"/>
                  </a:schemeClr>
                </a:solidFill>
              </a:rPr>
              <a:t>i</a:t>
            </a:r>
            <a:r>
              <a:rPr lang="en-US" sz="2000" spc="-185" dirty="0">
                <a:solidFill>
                  <a:schemeClr val="accent2">
                    <a:lumMod val="50000"/>
                  </a:schemeClr>
                </a:solidFill>
              </a:rPr>
              <a:t>t</a:t>
            </a:r>
            <a:r>
              <a:rPr lang="en-US" sz="2000" spc="-204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-155" dirty="0">
                <a:solidFill>
                  <a:schemeClr val="accent2">
                    <a:lumMod val="50000"/>
                  </a:schemeClr>
                </a:solidFill>
              </a:rPr>
              <a:t>i</a:t>
            </a:r>
            <a:r>
              <a:rPr lang="en-US" sz="2000" spc="-330" dirty="0">
                <a:solidFill>
                  <a:schemeClr val="accent2">
                    <a:lumMod val="50000"/>
                  </a:schemeClr>
                </a:solidFill>
              </a:rPr>
              <a:t>s</a:t>
            </a:r>
            <a:r>
              <a:rPr lang="en-US" sz="2000" spc="-204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-75" dirty="0">
                <a:solidFill>
                  <a:schemeClr val="accent2">
                    <a:lumMod val="50000"/>
                  </a:schemeClr>
                </a:solidFill>
              </a:rPr>
              <a:t>fu</a:t>
            </a:r>
            <a:r>
              <a:rPr lang="en-US" sz="2000" spc="-125" dirty="0">
                <a:solidFill>
                  <a:schemeClr val="accent2">
                    <a:lumMod val="50000"/>
                  </a:schemeClr>
                </a:solidFill>
              </a:rPr>
              <a:t>ll</a:t>
            </a:r>
            <a:r>
              <a:rPr lang="en-US" sz="2000" spc="-254" dirty="0">
                <a:solidFill>
                  <a:schemeClr val="accent2">
                    <a:lumMod val="50000"/>
                  </a:schemeClr>
                </a:solidFill>
              </a:rPr>
              <a:t>y</a:t>
            </a:r>
            <a:r>
              <a:rPr lang="en-US" sz="2000" spc="-2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20" dirty="0">
                <a:solidFill>
                  <a:schemeClr val="accent2">
                    <a:lumMod val="50000"/>
                  </a:schemeClr>
                </a:solidFill>
              </a:rPr>
              <a:t>pre</a:t>
            </a:r>
            <a:r>
              <a:rPr lang="en-US" sz="2000" spc="15" dirty="0">
                <a:solidFill>
                  <a:schemeClr val="accent2">
                    <a:lumMod val="50000"/>
                  </a:schemeClr>
                </a:solidFill>
              </a:rPr>
              <a:t>p</a:t>
            </a:r>
            <a:r>
              <a:rPr lang="en-US" sz="2000" spc="35" dirty="0">
                <a:solidFill>
                  <a:schemeClr val="accent2">
                    <a:lumMod val="50000"/>
                  </a:schemeClr>
                </a:solidFill>
              </a:rPr>
              <a:t>are</a:t>
            </a:r>
            <a:r>
              <a:rPr lang="en-US" sz="2000" spc="45" dirty="0">
                <a:solidFill>
                  <a:schemeClr val="accent2">
                    <a:lumMod val="50000"/>
                  </a:schemeClr>
                </a:solidFill>
              </a:rPr>
              <a:t>d</a:t>
            </a:r>
            <a:r>
              <a:rPr lang="en-US" sz="2000" spc="-155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-95" dirty="0">
                <a:solidFill>
                  <a:schemeClr val="accent2">
                    <a:lumMod val="50000"/>
                  </a:schemeClr>
                </a:solidFill>
              </a:rPr>
              <a:t>for</a:t>
            </a:r>
            <a:r>
              <a:rPr lang="en-US" sz="2000" spc="-185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-145" dirty="0">
                <a:solidFill>
                  <a:schemeClr val="accent2">
                    <a:lumMod val="50000"/>
                  </a:schemeClr>
                </a:solidFill>
              </a:rPr>
              <a:t>th</a:t>
            </a:r>
            <a:r>
              <a:rPr lang="en-US" sz="2000" spc="-60" dirty="0">
                <a:solidFill>
                  <a:schemeClr val="accent2">
                    <a:lumMod val="50000"/>
                  </a:schemeClr>
                </a:solidFill>
              </a:rPr>
              <a:t>i</a:t>
            </a:r>
            <a:r>
              <a:rPr lang="en-US" sz="2000" spc="-320" dirty="0">
                <a:solidFill>
                  <a:schemeClr val="accent2">
                    <a:lumMod val="50000"/>
                  </a:schemeClr>
                </a:solidFill>
              </a:rPr>
              <a:t>s</a:t>
            </a:r>
            <a:r>
              <a:rPr lang="en-US" sz="2000" spc="-204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105" dirty="0">
                <a:solidFill>
                  <a:schemeClr val="accent2">
                    <a:lumMod val="50000"/>
                  </a:schemeClr>
                </a:solidFill>
              </a:rPr>
              <a:t>chang</a:t>
            </a:r>
            <a:r>
              <a:rPr lang="en-US" sz="2000" spc="110" dirty="0">
                <a:solidFill>
                  <a:schemeClr val="accent2">
                    <a:lumMod val="50000"/>
                  </a:schemeClr>
                </a:solidFill>
              </a:rPr>
              <a:t>e</a:t>
            </a:r>
            <a:r>
              <a:rPr lang="en-US" sz="2000" spc="-210" dirty="0">
                <a:solidFill>
                  <a:schemeClr val="accent2">
                    <a:lumMod val="50000"/>
                  </a:schemeClr>
                </a:solidFill>
              </a:rPr>
              <a:t>.</a:t>
            </a:r>
            <a:endParaRPr lang="en-US" sz="2000" dirty="0">
              <a:solidFill>
                <a:schemeClr val="accent2">
                  <a:lumMod val="50000"/>
                </a:schemeClr>
              </a:solidFill>
            </a:endParaRPr>
          </a:p>
          <a:p>
            <a:pPr marL="355600" marR="6350" indent="-3429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000" spc="-180" dirty="0">
                <a:solidFill>
                  <a:schemeClr val="accent2">
                    <a:lumMod val="50000"/>
                  </a:schemeClr>
                </a:solidFill>
              </a:rPr>
              <a:t>So, </a:t>
            </a:r>
            <a:r>
              <a:rPr lang="en-US" sz="2000" spc="-105" dirty="0">
                <a:solidFill>
                  <a:schemeClr val="accent2">
                    <a:lumMod val="50000"/>
                  </a:schemeClr>
                </a:solidFill>
              </a:rPr>
              <a:t>analysis </a:t>
            </a:r>
            <a:r>
              <a:rPr lang="en-US" sz="2000" spc="-60" dirty="0">
                <a:solidFill>
                  <a:schemeClr val="accent2">
                    <a:lumMod val="50000"/>
                  </a:schemeClr>
                </a:solidFill>
              </a:rPr>
              <a:t>has </a:t>
            </a:r>
            <a:r>
              <a:rPr lang="en-US" sz="2000" spc="80" dirty="0">
                <a:solidFill>
                  <a:schemeClr val="accent2">
                    <a:lumMod val="50000"/>
                  </a:schemeClr>
                </a:solidFill>
              </a:rPr>
              <a:t>been done </a:t>
            </a:r>
            <a:r>
              <a:rPr lang="en-US" sz="2000" spc="30" dirty="0">
                <a:solidFill>
                  <a:schemeClr val="accent2">
                    <a:lumMod val="50000"/>
                  </a:schemeClr>
                </a:solidFill>
              </a:rPr>
              <a:t>on </a:t>
            </a:r>
            <a:r>
              <a:rPr lang="en-US" sz="2000" spc="195" dirty="0">
                <a:solidFill>
                  <a:schemeClr val="accent2">
                    <a:lumMod val="50000"/>
                  </a:schemeClr>
                </a:solidFill>
              </a:rPr>
              <a:t>a </a:t>
            </a:r>
            <a:r>
              <a:rPr lang="en-US" sz="2000" spc="10" dirty="0">
                <a:solidFill>
                  <a:schemeClr val="accent2">
                    <a:lumMod val="50000"/>
                  </a:schemeClr>
                </a:solidFill>
              </a:rPr>
              <a:t>dataset </a:t>
            </a:r>
            <a:r>
              <a:rPr lang="en-US" sz="2000" spc="-75" dirty="0">
                <a:solidFill>
                  <a:schemeClr val="accent2">
                    <a:lumMod val="50000"/>
                  </a:schemeClr>
                </a:solidFill>
              </a:rPr>
              <a:t>consisting </a:t>
            </a:r>
            <a:r>
              <a:rPr lang="en-US" sz="2000" spc="10" dirty="0">
                <a:solidFill>
                  <a:schemeClr val="accent2">
                    <a:lumMod val="50000"/>
                  </a:schemeClr>
                </a:solidFill>
              </a:rPr>
              <a:t>of </a:t>
            </a:r>
            <a:r>
              <a:rPr lang="en-US" sz="2000" spc="-83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-75" dirty="0">
                <a:solidFill>
                  <a:schemeClr val="accent2">
                    <a:lumMod val="50000"/>
                  </a:schemeClr>
                </a:solidFill>
              </a:rPr>
              <a:t>v</a:t>
            </a:r>
            <a:r>
              <a:rPr lang="en-US" sz="2000" spc="-70" dirty="0">
                <a:solidFill>
                  <a:schemeClr val="accent2">
                    <a:lumMod val="50000"/>
                  </a:schemeClr>
                </a:solidFill>
              </a:rPr>
              <a:t>a</a:t>
            </a:r>
            <a:r>
              <a:rPr lang="en-US" sz="2000" spc="-55" dirty="0">
                <a:solidFill>
                  <a:schemeClr val="accent2">
                    <a:lumMod val="50000"/>
                  </a:schemeClr>
                </a:solidFill>
              </a:rPr>
              <a:t>r</a:t>
            </a:r>
            <a:r>
              <a:rPr lang="en-US" sz="2000" spc="-175" dirty="0">
                <a:solidFill>
                  <a:schemeClr val="accent2">
                    <a:lumMod val="50000"/>
                  </a:schemeClr>
                </a:solidFill>
              </a:rPr>
              <a:t>i</a:t>
            </a:r>
            <a:r>
              <a:rPr lang="en-US" sz="2000" spc="-90" dirty="0">
                <a:solidFill>
                  <a:schemeClr val="accent2">
                    <a:lumMod val="50000"/>
                  </a:schemeClr>
                </a:solidFill>
              </a:rPr>
              <a:t>ous</a:t>
            </a:r>
            <a:r>
              <a:rPr lang="en-US" sz="2000" spc="-21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-35" dirty="0">
                <a:solidFill>
                  <a:schemeClr val="accent2">
                    <a:lumMod val="50000"/>
                  </a:schemeClr>
                </a:solidFill>
              </a:rPr>
              <a:t>A</a:t>
            </a:r>
            <a:r>
              <a:rPr lang="en-US" sz="2000" spc="5" dirty="0">
                <a:solidFill>
                  <a:schemeClr val="accent2">
                    <a:lumMod val="50000"/>
                  </a:schemeClr>
                </a:solidFill>
              </a:rPr>
              <a:t>i</a:t>
            </a:r>
            <a:r>
              <a:rPr lang="en-US" sz="2000" spc="-20" dirty="0">
                <a:solidFill>
                  <a:schemeClr val="accent2">
                    <a:lumMod val="50000"/>
                  </a:schemeClr>
                </a:solidFill>
              </a:rPr>
              <a:t>rbnb</a:t>
            </a:r>
            <a:r>
              <a:rPr lang="en-US" sz="2000" spc="-204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-185" dirty="0">
                <a:solidFill>
                  <a:schemeClr val="accent2">
                    <a:lumMod val="50000"/>
                  </a:schemeClr>
                </a:solidFill>
              </a:rPr>
              <a:t>l</a:t>
            </a:r>
            <a:r>
              <a:rPr lang="en-US" sz="2000" spc="-160" dirty="0">
                <a:solidFill>
                  <a:schemeClr val="accent2">
                    <a:lumMod val="50000"/>
                  </a:schemeClr>
                </a:solidFill>
              </a:rPr>
              <a:t>i</a:t>
            </a:r>
            <a:r>
              <a:rPr lang="en-US" sz="2000" spc="-250" dirty="0">
                <a:solidFill>
                  <a:schemeClr val="accent2">
                    <a:lumMod val="50000"/>
                  </a:schemeClr>
                </a:solidFill>
              </a:rPr>
              <a:t>st</a:t>
            </a:r>
            <a:r>
              <a:rPr lang="en-US" sz="2000" spc="-150" dirty="0">
                <a:solidFill>
                  <a:schemeClr val="accent2">
                    <a:lumMod val="50000"/>
                  </a:schemeClr>
                </a:solidFill>
              </a:rPr>
              <a:t>i</a:t>
            </a:r>
            <a:r>
              <a:rPr lang="en-US" sz="2000" spc="30" dirty="0">
                <a:solidFill>
                  <a:schemeClr val="accent2">
                    <a:lumMod val="50000"/>
                  </a:schemeClr>
                </a:solidFill>
              </a:rPr>
              <a:t>n</a:t>
            </a:r>
            <a:r>
              <a:rPr lang="en-US" sz="2000" spc="20" dirty="0">
                <a:solidFill>
                  <a:schemeClr val="accent2">
                    <a:lumMod val="50000"/>
                  </a:schemeClr>
                </a:solidFill>
              </a:rPr>
              <a:t>g</a:t>
            </a:r>
            <a:r>
              <a:rPr lang="en-US" sz="2000" spc="-320" dirty="0">
                <a:solidFill>
                  <a:schemeClr val="accent2">
                    <a:lumMod val="50000"/>
                  </a:schemeClr>
                </a:solidFill>
              </a:rPr>
              <a:t>s</a:t>
            </a:r>
            <a:r>
              <a:rPr lang="en-US" sz="2000" spc="-21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-55" dirty="0">
                <a:solidFill>
                  <a:schemeClr val="accent2">
                    <a:lumMod val="50000"/>
                  </a:schemeClr>
                </a:solidFill>
              </a:rPr>
              <a:t>i</a:t>
            </a:r>
            <a:r>
              <a:rPr lang="en-US" sz="2000" spc="-165" dirty="0">
                <a:solidFill>
                  <a:schemeClr val="accent2">
                    <a:lumMod val="50000"/>
                  </a:schemeClr>
                </a:solidFill>
              </a:rPr>
              <a:t>n</a:t>
            </a:r>
            <a:r>
              <a:rPr lang="en-US" sz="2000" spc="-21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45" dirty="0">
                <a:solidFill>
                  <a:schemeClr val="accent2">
                    <a:lumMod val="50000"/>
                  </a:schemeClr>
                </a:solidFill>
              </a:rPr>
              <a:t>New</a:t>
            </a:r>
            <a:r>
              <a:rPr lang="en-US" sz="2000" spc="-175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spc="-45" dirty="0">
                <a:solidFill>
                  <a:schemeClr val="accent2">
                    <a:lumMod val="50000"/>
                  </a:schemeClr>
                </a:solidFill>
              </a:rPr>
              <a:t>Y</a:t>
            </a:r>
            <a:r>
              <a:rPr lang="en-US" sz="2000" spc="-130" dirty="0">
                <a:solidFill>
                  <a:schemeClr val="accent2">
                    <a:lumMod val="50000"/>
                  </a:schemeClr>
                </a:solidFill>
              </a:rPr>
              <a:t>or</a:t>
            </a:r>
            <a:r>
              <a:rPr lang="en-US" sz="2000" spc="-155" dirty="0">
                <a:solidFill>
                  <a:schemeClr val="accent2">
                    <a:lumMod val="50000"/>
                  </a:schemeClr>
                </a:solidFill>
              </a:rPr>
              <a:t>k</a:t>
            </a:r>
            <a:r>
              <a:rPr lang="en-US" sz="2000" spc="-210" dirty="0">
                <a:solidFill>
                  <a:schemeClr val="accent2">
                    <a:lumMod val="50000"/>
                  </a:schemeClr>
                </a:solidFill>
              </a:rPr>
              <a:t>.</a:t>
            </a:r>
            <a:endParaRPr lang="en-US" sz="20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/>
            <a:r>
              <a:rPr lang="en-US" spc="80">
                <a:solidFill>
                  <a:srgbClr val="FFFEFF"/>
                </a:solidFill>
              </a:rPr>
              <a:t>Dat</a:t>
            </a:r>
            <a:r>
              <a:rPr lang="en-US" spc="85">
                <a:solidFill>
                  <a:srgbClr val="FFFEFF"/>
                </a:solidFill>
              </a:rPr>
              <a:t>a</a:t>
            </a:r>
            <a:r>
              <a:rPr lang="en-US" spc="-315">
                <a:solidFill>
                  <a:srgbClr val="FFFEFF"/>
                </a:solidFill>
              </a:rPr>
              <a:t> </a:t>
            </a:r>
            <a:r>
              <a:rPr lang="en-US" spc="-35">
                <a:solidFill>
                  <a:srgbClr val="FFFEFF"/>
                </a:solidFill>
              </a:rPr>
              <a:t>Preparation</a:t>
            </a:r>
            <a:endParaRPr lang="en-US">
              <a:solidFill>
                <a:srgbClr val="FFFEFF"/>
              </a:solidFill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473ED8A2-0F85-0E36-9338-78C4DFF5D3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1557456"/>
              </p:ext>
            </p:extLst>
          </p:nvPr>
        </p:nvGraphicFramePr>
        <p:xfrm>
          <a:off x="581025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110" y="826346"/>
            <a:ext cx="3171905" cy="101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/>
            <a:r>
              <a:rPr lang="en-US" sz="2400" spc="-150">
                <a:solidFill>
                  <a:srgbClr val="FFFFFF"/>
                </a:solidFill>
              </a:rPr>
              <a:t>Top</a:t>
            </a:r>
            <a:r>
              <a:rPr lang="en-US" sz="2400" spc="-40">
                <a:solidFill>
                  <a:srgbClr val="FFFFFF"/>
                </a:solidFill>
              </a:rPr>
              <a:t> </a:t>
            </a:r>
            <a:r>
              <a:rPr lang="en-US" sz="2400" spc="-250">
                <a:solidFill>
                  <a:srgbClr val="FFFFFF"/>
                </a:solidFill>
              </a:rPr>
              <a:t>1</a:t>
            </a:r>
            <a:r>
              <a:rPr lang="en-US" sz="2400" spc="-245">
                <a:solidFill>
                  <a:srgbClr val="FFFFFF"/>
                </a:solidFill>
              </a:rPr>
              <a:t>0</a:t>
            </a:r>
            <a:r>
              <a:rPr lang="en-US" sz="2400" spc="-55">
                <a:solidFill>
                  <a:srgbClr val="FFFFFF"/>
                </a:solidFill>
              </a:rPr>
              <a:t> </a:t>
            </a:r>
            <a:r>
              <a:rPr lang="en-US" sz="2400" spc="-204">
                <a:solidFill>
                  <a:srgbClr val="FFFFFF"/>
                </a:solidFill>
              </a:rPr>
              <a:t>Host</a:t>
            </a: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110" y="2052084"/>
            <a:ext cx="3033249" cy="3856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99085" marR="5080" indent="-28702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>
                <a:tab pos="299720" algn="l"/>
              </a:tabLst>
            </a:pPr>
            <a:r>
              <a:rPr lang="en-US" sz="1600" spc="-110">
                <a:solidFill>
                  <a:srgbClr val="FFFFFF"/>
                </a:solidFill>
              </a:rPr>
              <a:t>Host</a:t>
            </a:r>
            <a:r>
              <a:rPr lang="en-US" sz="1600" spc="-105">
                <a:solidFill>
                  <a:srgbClr val="FFFFFF"/>
                </a:solidFill>
              </a:rPr>
              <a:t> </a:t>
            </a:r>
            <a:r>
              <a:rPr lang="en-US" sz="1600" spc="-60">
                <a:solidFill>
                  <a:srgbClr val="FFFFFF"/>
                </a:solidFill>
              </a:rPr>
              <a:t>Sonder</a:t>
            </a:r>
            <a:r>
              <a:rPr lang="en-US" sz="1600" spc="-55">
                <a:solidFill>
                  <a:srgbClr val="FFFFFF"/>
                </a:solidFill>
              </a:rPr>
              <a:t> </a:t>
            </a:r>
            <a:r>
              <a:rPr lang="en-US" sz="1600" spc="-75">
                <a:solidFill>
                  <a:srgbClr val="FFFFFF"/>
                </a:solidFill>
              </a:rPr>
              <a:t>(id</a:t>
            </a:r>
            <a:r>
              <a:rPr lang="en-US" sz="1600" spc="550">
                <a:solidFill>
                  <a:srgbClr val="FFFFFF"/>
                </a:solidFill>
              </a:rPr>
              <a:t> </a:t>
            </a:r>
            <a:r>
              <a:rPr lang="en-US" sz="1600" spc="-165">
                <a:solidFill>
                  <a:srgbClr val="FFFFFF"/>
                </a:solidFill>
              </a:rPr>
              <a:t>219517861), </a:t>
            </a:r>
            <a:r>
              <a:rPr lang="en-US" sz="1600" spc="-160">
                <a:solidFill>
                  <a:srgbClr val="FFFFFF"/>
                </a:solidFill>
              </a:rPr>
              <a:t> </a:t>
            </a:r>
            <a:r>
              <a:rPr lang="en-US" sz="1600" spc="-50">
                <a:solidFill>
                  <a:srgbClr val="FFFFFF"/>
                </a:solidFill>
              </a:rPr>
              <a:t>has</a:t>
            </a:r>
            <a:r>
              <a:rPr lang="en-US" sz="1600" spc="-45">
                <a:solidFill>
                  <a:srgbClr val="FFFFFF"/>
                </a:solidFill>
              </a:rPr>
              <a:t> </a:t>
            </a:r>
            <a:r>
              <a:rPr lang="en-US" sz="1600" spc="70">
                <a:solidFill>
                  <a:srgbClr val="FFFFFF"/>
                </a:solidFill>
              </a:rPr>
              <a:t>been</a:t>
            </a:r>
            <a:r>
              <a:rPr lang="en-US" sz="1600" spc="75">
                <a:solidFill>
                  <a:srgbClr val="FFFFFF"/>
                </a:solidFill>
              </a:rPr>
              <a:t> </a:t>
            </a:r>
            <a:r>
              <a:rPr lang="en-US" sz="1600" spc="60">
                <a:solidFill>
                  <a:srgbClr val="FFFFFF"/>
                </a:solidFill>
              </a:rPr>
              <a:t>booked</a:t>
            </a:r>
            <a:r>
              <a:rPr lang="en-US" sz="1600" spc="65">
                <a:solidFill>
                  <a:srgbClr val="FFFFFF"/>
                </a:solidFill>
              </a:rPr>
              <a:t> </a:t>
            </a:r>
            <a:r>
              <a:rPr lang="en-US" sz="1600" spc="-100">
                <a:solidFill>
                  <a:srgbClr val="FFFFFF"/>
                </a:solidFill>
              </a:rPr>
              <a:t>most </a:t>
            </a:r>
            <a:r>
              <a:rPr lang="en-US" sz="1600" spc="-95">
                <a:solidFill>
                  <a:srgbClr val="FFFFFF"/>
                </a:solidFill>
              </a:rPr>
              <a:t> </a:t>
            </a:r>
            <a:r>
              <a:rPr lang="en-US" sz="1600" spc="-55">
                <a:solidFill>
                  <a:srgbClr val="FFFFFF"/>
                </a:solidFill>
              </a:rPr>
              <a:t>num</a:t>
            </a:r>
            <a:r>
              <a:rPr lang="en-US" sz="1600" spc="-15">
                <a:solidFill>
                  <a:srgbClr val="FFFFFF"/>
                </a:solidFill>
              </a:rPr>
              <a:t>be</a:t>
            </a:r>
            <a:r>
              <a:rPr lang="en-US" sz="1600" spc="-5">
                <a:solidFill>
                  <a:srgbClr val="FFFFFF"/>
                </a:solidFill>
              </a:rPr>
              <a:t>r</a:t>
            </a:r>
            <a:r>
              <a:rPr lang="en-US" sz="1600" spc="-185">
                <a:solidFill>
                  <a:srgbClr val="FFFFFF"/>
                </a:solidFill>
              </a:rPr>
              <a:t> </a:t>
            </a:r>
            <a:r>
              <a:rPr lang="en-US" sz="1600" spc="5">
                <a:solidFill>
                  <a:srgbClr val="FFFFFF"/>
                </a:solidFill>
              </a:rPr>
              <a:t>of</a:t>
            </a:r>
            <a:r>
              <a:rPr lang="en-US" sz="1600" spc="-160">
                <a:solidFill>
                  <a:srgbClr val="FFFFFF"/>
                </a:solidFill>
              </a:rPr>
              <a:t> </a:t>
            </a:r>
            <a:r>
              <a:rPr lang="en-US" sz="1600" spc="-100">
                <a:solidFill>
                  <a:srgbClr val="FFFFFF"/>
                </a:solidFill>
              </a:rPr>
              <a:t>time</a:t>
            </a:r>
            <a:r>
              <a:rPr lang="en-US" sz="1600" spc="-80">
                <a:solidFill>
                  <a:srgbClr val="FFFFFF"/>
                </a:solidFill>
              </a:rPr>
              <a:t>s</a:t>
            </a:r>
            <a:r>
              <a:rPr lang="en-US" sz="1600" spc="-185">
                <a:solidFill>
                  <a:srgbClr val="FFFFFF"/>
                </a:solidFill>
              </a:rPr>
              <a:t> </a:t>
            </a:r>
            <a:r>
              <a:rPr lang="en-US" sz="1600" spc="-160">
                <a:solidFill>
                  <a:srgbClr val="FFFFFF"/>
                </a:solidFill>
              </a:rPr>
              <a:t>i</a:t>
            </a:r>
            <a:r>
              <a:rPr lang="en-US" sz="1600" spc="-195">
                <a:solidFill>
                  <a:srgbClr val="FFFFFF"/>
                </a:solidFill>
              </a:rPr>
              <a:t>.</a:t>
            </a:r>
            <a:r>
              <a:rPr lang="en-US" sz="1600" spc="110">
                <a:solidFill>
                  <a:srgbClr val="FFFFFF"/>
                </a:solidFill>
              </a:rPr>
              <a:t>e</a:t>
            </a:r>
            <a:r>
              <a:rPr lang="en-US" sz="1600" spc="-175">
                <a:solidFill>
                  <a:srgbClr val="FFFFFF"/>
                </a:solidFill>
              </a:rPr>
              <a:t>.</a:t>
            </a:r>
            <a:r>
              <a:rPr lang="en-US" sz="1600" spc="-155">
                <a:solidFill>
                  <a:srgbClr val="FFFFFF"/>
                </a:solidFill>
              </a:rPr>
              <a:t> </a:t>
            </a:r>
            <a:r>
              <a:rPr lang="en-US" sz="1600" spc="-160">
                <a:solidFill>
                  <a:srgbClr val="FFFFFF"/>
                </a:solidFill>
              </a:rPr>
              <a:t>327</a:t>
            </a:r>
            <a:r>
              <a:rPr lang="en-US" sz="1600" spc="-175">
                <a:solidFill>
                  <a:srgbClr val="FFFFFF"/>
                </a:solidFill>
              </a:rPr>
              <a:t>.</a:t>
            </a:r>
            <a:endParaRPr lang="en-US" sz="1600">
              <a:solidFill>
                <a:srgbClr val="FFFFFF"/>
              </a:solidFill>
            </a:endParaRPr>
          </a:p>
          <a:p>
            <a:pPr marL="299085" marR="6350" indent="-28702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>
                <a:tab pos="299720" algn="l"/>
              </a:tabLst>
            </a:pPr>
            <a:r>
              <a:rPr lang="en-US" sz="1600" spc="-114">
                <a:solidFill>
                  <a:srgbClr val="FFFFFF"/>
                </a:solidFill>
              </a:rPr>
              <a:t>Ho</a:t>
            </a:r>
            <a:r>
              <a:rPr lang="en-US" sz="1600" spc="-100">
                <a:solidFill>
                  <a:srgbClr val="FFFFFF"/>
                </a:solidFill>
              </a:rPr>
              <a:t>s</a:t>
            </a:r>
            <a:r>
              <a:rPr lang="en-US" sz="1600" spc="-110">
                <a:solidFill>
                  <a:srgbClr val="FFFFFF"/>
                </a:solidFill>
              </a:rPr>
              <a:t>t</a:t>
            </a:r>
            <a:r>
              <a:rPr lang="en-US" sz="1600" spc="-90">
                <a:solidFill>
                  <a:srgbClr val="FFFFFF"/>
                </a:solidFill>
              </a:rPr>
              <a:t> </a:t>
            </a:r>
            <a:r>
              <a:rPr lang="en-US" sz="1600" spc="-135">
                <a:solidFill>
                  <a:srgbClr val="FFFFFF"/>
                </a:solidFill>
              </a:rPr>
              <a:t>Bl</a:t>
            </a:r>
            <a:r>
              <a:rPr lang="en-US" sz="1600" spc="-180">
                <a:solidFill>
                  <a:srgbClr val="FFFFFF"/>
                </a:solidFill>
              </a:rPr>
              <a:t>u</a:t>
            </a:r>
            <a:r>
              <a:rPr lang="en-US" sz="1600" spc="110">
                <a:solidFill>
                  <a:srgbClr val="FFFFFF"/>
                </a:solidFill>
              </a:rPr>
              <a:t>e</a:t>
            </a:r>
            <a:r>
              <a:rPr lang="en-US" sz="1600" spc="-85">
                <a:solidFill>
                  <a:srgbClr val="FFFFFF"/>
                </a:solidFill>
              </a:rPr>
              <a:t> </a:t>
            </a:r>
            <a:r>
              <a:rPr lang="en-US" sz="1600" spc="-90">
                <a:solidFill>
                  <a:srgbClr val="FFFFFF"/>
                </a:solidFill>
              </a:rPr>
              <a:t>g</a:t>
            </a:r>
            <a:r>
              <a:rPr lang="en-US" sz="1600" spc="-85">
                <a:solidFill>
                  <a:srgbClr val="FFFFFF"/>
                </a:solidFill>
              </a:rPr>
              <a:t>r</a:t>
            </a:r>
            <a:r>
              <a:rPr lang="en-US" sz="1600">
                <a:solidFill>
                  <a:srgbClr val="FFFFFF"/>
                </a:solidFill>
              </a:rPr>
              <a:t>ou</a:t>
            </a:r>
            <a:r>
              <a:rPr lang="en-US" sz="1600" spc="5">
                <a:solidFill>
                  <a:srgbClr val="FFFFFF"/>
                </a:solidFill>
              </a:rPr>
              <a:t>n</a:t>
            </a:r>
            <a:r>
              <a:rPr lang="en-US" sz="1600" spc="125">
                <a:solidFill>
                  <a:srgbClr val="FFFFFF"/>
                </a:solidFill>
              </a:rPr>
              <a:t>d</a:t>
            </a:r>
            <a:r>
              <a:rPr lang="en-US" sz="1600" spc="-105">
                <a:solidFill>
                  <a:srgbClr val="FFFFFF"/>
                </a:solidFill>
              </a:rPr>
              <a:t> </a:t>
            </a:r>
            <a:r>
              <a:rPr lang="en-US" sz="1600" spc="-155">
                <a:solidFill>
                  <a:srgbClr val="FFFFFF"/>
                </a:solidFill>
              </a:rPr>
              <a:t>i</a:t>
            </a:r>
            <a:r>
              <a:rPr lang="en-US" sz="1600" spc="-270">
                <a:solidFill>
                  <a:srgbClr val="FFFFFF"/>
                </a:solidFill>
              </a:rPr>
              <a:t>s</a:t>
            </a:r>
            <a:r>
              <a:rPr lang="en-US" sz="1600" spc="-105">
                <a:solidFill>
                  <a:srgbClr val="FFFFFF"/>
                </a:solidFill>
              </a:rPr>
              <a:t> </a:t>
            </a:r>
            <a:r>
              <a:rPr lang="en-US" sz="1600" spc="-100">
                <a:solidFill>
                  <a:srgbClr val="FFFFFF"/>
                </a:solidFill>
              </a:rPr>
              <a:t>t</a:t>
            </a:r>
            <a:r>
              <a:rPr lang="en-US" sz="1600" spc="-55">
                <a:solidFill>
                  <a:srgbClr val="FFFFFF"/>
                </a:solidFill>
              </a:rPr>
              <a:t>h</a:t>
            </a:r>
            <a:r>
              <a:rPr lang="en-US" sz="1600" spc="110">
                <a:solidFill>
                  <a:srgbClr val="FFFFFF"/>
                </a:solidFill>
              </a:rPr>
              <a:t>e</a:t>
            </a:r>
            <a:r>
              <a:rPr lang="en-US" sz="1600" spc="-100">
                <a:solidFill>
                  <a:srgbClr val="FFFFFF"/>
                </a:solidFill>
              </a:rPr>
              <a:t> </a:t>
            </a:r>
            <a:r>
              <a:rPr lang="en-US" sz="1600" spc="-280">
                <a:solidFill>
                  <a:srgbClr val="FFFFFF"/>
                </a:solidFill>
              </a:rPr>
              <a:t>s</a:t>
            </a:r>
            <a:r>
              <a:rPr lang="en-US" sz="1600" spc="95">
                <a:solidFill>
                  <a:srgbClr val="FFFFFF"/>
                </a:solidFill>
              </a:rPr>
              <a:t>econd  </a:t>
            </a:r>
            <a:r>
              <a:rPr lang="en-US" sz="1600" spc="25">
                <a:solidFill>
                  <a:srgbClr val="FFFFFF"/>
                </a:solidFill>
              </a:rPr>
              <a:t>popu</a:t>
            </a:r>
            <a:r>
              <a:rPr lang="en-US" sz="1600" spc="15">
                <a:solidFill>
                  <a:srgbClr val="FFFFFF"/>
                </a:solidFill>
              </a:rPr>
              <a:t>l</a:t>
            </a:r>
            <a:r>
              <a:rPr lang="en-US" sz="1600" spc="-55">
                <a:solidFill>
                  <a:srgbClr val="FFFFFF"/>
                </a:solidFill>
              </a:rPr>
              <a:t>a</a:t>
            </a:r>
            <a:r>
              <a:rPr lang="en-US" sz="1600" spc="-35">
                <a:solidFill>
                  <a:srgbClr val="FFFFFF"/>
                </a:solidFill>
              </a:rPr>
              <a:t>r</a:t>
            </a:r>
            <a:r>
              <a:rPr lang="en-US" sz="1600" spc="-190">
                <a:solidFill>
                  <a:srgbClr val="FFFFFF"/>
                </a:solidFill>
              </a:rPr>
              <a:t> </a:t>
            </a:r>
            <a:r>
              <a:rPr lang="en-US" sz="1600" spc="-90">
                <a:solidFill>
                  <a:srgbClr val="FFFFFF"/>
                </a:solidFill>
              </a:rPr>
              <a:t>hos</a:t>
            </a:r>
            <a:r>
              <a:rPr lang="en-US" sz="1600" spc="-45">
                <a:solidFill>
                  <a:srgbClr val="FFFFFF"/>
                </a:solidFill>
              </a:rPr>
              <a:t>t</a:t>
            </a:r>
            <a:r>
              <a:rPr lang="en-US" sz="1600" spc="-175">
                <a:solidFill>
                  <a:srgbClr val="FFFFFF"/>
                </a:solidFill>
              </a:rPr>
              <a:t>.</a:t>
            </a:r>
            <a:endParaRPr lang="en-US" sz="1600">
              <a:solidFill>
                <a:srgbClr val="FFFFFF"/>
              </a:solidFill>
            </a:endParaRPr>
          </a:p>
          <a:p>
            <a:pPr marL="299085" marR="5080" indent="-28702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>
                <a:tab pos="299720" algn="l"/>
              </a:tabLst>
            </a:pPr>
            <a:r>
              <a:rPr lang="en-US" sz="1600" spc="-90">
                <a:solidFill>
                  <a:srgbClr val="FFFFFF"/>
                </a:solidFill>
              </a:rPr>
              <a:t>Then </a:t>
            </a:r>
            <a:r>
              <a:rPr lang="en-US" sz="1600" spc="-40">
                <a:solidFill>
                  <a:srgbClr val="FFFFFF"/>
                </a:solidFill>
              </a:rPr>
              <a:t>there </a:t>
            </a:r>
            <a:r>
              <a:rPr lang="en-US" sz="1600" spc="5">
                <a:solidFill>
                  <a:srgbClr val="FFFFFF"/>
                </a:solidFill>
              </a:rPr>
              <a:t>are </a:t>
            </a:r>
            <a:r>
              <a:rPr lang="en-US" sz="1600" spc="-45">
                <a:solidFill>
                  <a:srgbClr val="FFFFFF"/>
                </a:solidFill>
              </a:rPr>
              <a:t>other </a:t>
            </a:r>
            <a:r>
              <a:rPr lang="en-US" sz="1600" spc="-120">
                <a:solidFill>
                  <a:srgbClr val="FFFFFF"/>
                </a:solidFill>
              </a:rPr>
              <a:t>hosts </a:t>
            </a:r>
            <a:r>
              <a:rPr lang="en-US" sz="1600" spc="-95">
                <a:solidFill>
                  <a:srgbClr val="FFFFFF"/>
                </a:solidFill>
              </a:rPr>
              <a:t>like </a:t>
            </a:r>
            <a:r>
              <a:rPr lang="en-US" sz="1600" spc="-90">
                <a:solidFill>
                  <a:srgbClr val="FFFFFF"/>
                </a:solidFill>
              </a:rPr>
              <a:t> </a:t>
            </a:r>
            <a:r>
              <a:rPr lang="en-US" sz="1600" spc="-60">
                <a:solidFill>
                  <a:srgbClr val="FFFFFF"/>
                </a:solidFill>
              </a:rPr>
              <a:t>Kara,</a:t>
            </a:r>
            <a:r>
              <a:rPr lang="en-US" sz="1600" spc="-120">
                <a:solidFill>
                  <a:srgbClr val="FFFFFF"/>
                </a:solidFill>
              </a:rPr>
              <a:t> </a:t>
            </a:r>
            <a:r>
              <a:rPr lang="en-US" sz="1600" spc="-50">
                <a:solidFill>
                  <a:srgbClr val="FFFFFF"/>
                </a:solidFill>
              </a:rPr>
              <a:t>K</a:t>
            </a:r>
            <a:r>
              <a:rPr lang="en-US" sz="1600" spc="-40">
                <a:solidFill>
                  <a:srgbClr val="FFFFFF"/>
                </a:solidFill>
              </a:rPr>
              <a:t>e</a:t>
            </a:r>
            <a:r>
              <a:rPr lang="en-US" sz="1600" spc="-35">
                <a:solidFill>
                  <a:srgbClr val="FFFFFF"/>
                </a:solidFill>
              </a:rPr>
              <a:t>n</a:t>
            </a:r>
            <a:r>
              <a:rPr lang="en-US" sz="1600" spc="-175">
                <a:solidFill>
                  <a:srgbClr val="FFFFFF"/>
                </a:solidFill>
              </a:rPr>
              <a:t>,</a:t>
            </a:r>
            <a:r>
              <a:rPr lang="en-US" sz="1600" spc="-105">
                <a:solidFill>
                  <a:srgbClr val="FFFFFF"/>
                </a:solidFill>
              </a:rPr>
              <a:t> </a:t>
            </a:r>
            <a:r>
              <a:rPr lang="en-US" sz="1600" spc="-15">
                <a:solidFill>
                  <a:srgbClr val="FFFFFF"/>
                </a:solidFill>
              </a:rPr>
              <a:t>P</a:t>
            </a:r>
            <a:r>
              <a:rPr lang="en-US" sz="1600" spc="-65">
                <a:solidFill>
                  <a:srgbClr val="FFFFFF"/>
                </a:solidFill>
              </a:rPr>
              <a:t>ranjal</a:t>
            </a:r>
            <a:r>
              <a:rPr lang="en-US" sz="1600" spc="-175">
                <a:solidFill>
                  <a:srgbClr val="FFFFFF"/>
                </a:solidFill>
              </a:rPr>
              <a:t>,</a:t>
            </a:r>
            <a:r>
              <a:rPr lang="en-US" sz="1600" spc="-120">
                <a:solidFill>
                  <a:srgbClr val="FFFFFF"/>
                </a:solidFill>
              </a:rPr>
              <a:t> </a:t>
            </a:r>
            <a:r>
              <a:rPr lang="en-US" sz="1600" spc="-25">
                <a:solidFill>
                  <a:srgbClr val="FFFFFF"/>
                </a:solidFill>
              </a:rPr>
              <a:t>Jeremy</a:t>
            </a:r>
            <a:r>
              <a:rPr lang="en-US" sz="1600" spc="-95">
                <a:solidFill>
                  <a:srgbClr val="FFFFFF"/>
                </a:solidFill>
              </a:rPr>
              <a:t> </a:t>
            </a:r>
            <a:r>
              <a:rPr lang="en-US" sz="1600" spc="60">
                <a:solidFill>
                  <a:srgbClr val="FFFFFF"/>
                </a:solidFill>
              </a:rPr>
              <a:t>and  </a:t>
            </a:r>
            <a:r>
              <a:rPr lang="en-US" sz="1600" spc="-20">
                <a:solidFill>
                  <a:srgbClr val="FFFFFF"/>
                </a:solidFill>
              </a:rPr>
              <a:t>Mike</a:t>
            </a:r>
            <a:r>
              <a:rPr lang="en-US" sz="1600" spc="-15">
                <a:solidFill>
                  <a:srgbClr val="FFFFFF"/>
                </a:solidFill>
              </a:rPr>
              <a:t> </a:t>
            </a:r>
            <a:r>
              <a:rPr lang="en-US" sz="1600" spc="-25">
                <a:solidFill>
                  <a:srgbClr val="FFFFFF"/>
                </a:solidFill>
              </a:rPr>
              <a:t>that</a:t>
            </a:r>
            <a:r>
              <a:rPr lang="en-US" sz="1600" spc="-20">
                <a:solidFill>
                  <a:srgbClr val="FFFFFF"/>
                </a:solidFill>
              </a:rPr>
              <a:t> </a:t>
            </a:r>
            <a:r>
              <a:rPr lang="en-US" sz="1600" spc="-60">
                <a:solidFill>
                  <a:srgbClr val="FFFFFF"/>
                </a:solidFill>
              </a:rPr>
              <a:t>fall</a:t>
            </a:r>
            <a:r>
              <a:rPr lang="en-US" sz="1600" spc="-55">
                <a:solidFill>
                  <a:srgbClr val="FFFFFF"/>
                </a:solidFill>
              </a:rPr>
              <a:t> </a:t>
            </a:r>
            <a:r>
              <a:rPr lang="en-US" sz="1600" spc="-20">
                <a:solidFill>
                  <a:srgbClr val="FFFFFF"/>
                </a:solidFill>
              </a:rPr>
              <a:t>under</a:t>
            </a:r>
            <a:r>
              <a:rPr lang="en-US" sz="1600" spc="-15">
                <a:solidFill>
                  <a:srgbClr val="FFFFFF"/>
                </a:solidFill>
              </a:rPr>
              <a:t> </a:t>
            </a:r>
            <a:r>
              <a:rPr lang="en-US" sz="1600" spc="35">
                <a:solidFill>
                  <a:srgbClr val="FFFFFF"/>
                </a:solidFill>
              </a:rPr>
              <a:t>top</a:t>
            </a:r>
            <a:r>
              <a:rPr lang="en-US" sz="1600" spc="40">
                <a:solidFill>
                  <a:srgbClr val="FFFFFF"/>
                </a:solidFill>
              </a:rPr>
              <a:t> </a:t>
            </a:r>
            <a:r>
              <a:rPr lang="en-US" sz="1600" spc="-170">
                <a:solidFill>
                  <a:srgbClr val="FFFFFF"/>
                </a:solidFill>
              </a:rPr>
              <a:t>10 </a:t>
            </a:r>
            <a:r>
              <a:rPr lang="en-US" sz="1600" spc="-690">
                <a:solidFill>
                  <a:srgbClr val="FFFFFF"/>
                </a:solidFill>
              </a:rPr>
              <a:t> </a:t>
            </a:r>
            <a:r>
              <a:rPr lang="en-US" sz="1600" spc="-120">
                <a:solidFill>
                  <a:srgbClr val="FFFFFF"/>
                </a:solidFill>
              </a:rPr>
              <a:t>hosts.</a:t>
            </a:r>
            <a:endParaRPr lang="en-US" sz="1600">
              <a:solidFill>
                <a:srgbClr val="FFFFFF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68800" y="1282580"/>
            <a:ext cx="6866506" cy="4291565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3189" y="1209184"/>
            <a:ext cx="3397924" cy="4734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marR="5080" indent="93980"/>
            <a:r>
              <a:rPr lang="en-US" sz="2600" spc="-70" dirty="0">
                <a:solidFill>
                  <a:srgbClr val="FFFFFF"/>
                </a:solidFill>
              </a:rPr>
              <a:t>Roo</a:t>
            </a:r>
            <a:r>
              <a:rPr lang="en-US" sz="2600" spc="-90" dirty="0">
                <a:solidFill>
                  <a:srgbClr val="FFFFFF"/>
                </a:solidFill>
              </a:rPr>
              <a:t>m</a:t>
            </a:r>
            <a:r>
              <a:rPr lang="en-US" sz="2600" spc="-35" dirty="0">
                <a:solidFill>
                  <a:srgbClr val="FFFFFF"/>
                </a:solidFill>
              </a:rPr>
              <a:t> </a:t>
            </a:r>
            <a:r>
              <a:rPr lang="en-US" sz="2600" spc="-25" dirty="0">
                <a:solidFill>
                  <a:srgbClr val="FFFFFF"/>
                </a:solidFill>
              </a:rPr>
              <a:t>type</a:t>
            </a:r>
            <a:r>
              <a:rPr lang="en-US" sz="2600" spc="-35" dirty="0">
                <a:solidFill>
                  <a:srgbClr val="FFFFFF"/>
                </a:solidFill>
              </a:rPr>
              <a:t> </a:t>
            </a:r>
            <a:r>
              <a:rPr lang="en-US" sz="2600" spc="-185" dirty="0">
                <a:solidFill>
                  <a:srgbClr val="FFFFFF"/>
                </a:solidFill>
              </a:rPr>
              <a:t>with</a:t>
            </a:r>
            <a:r>
              <a:rPr lang="en-US" sz="2600" spc="-25" dirty="0">
                <a:solidFill>
                  <a:srgbClr val="FFFFFF"/>
                </a:solidFill>
              </a:rPr>
              <a:t> respect  </a:t>
            </a:r>
            <a:r>
              <a:rPr lang="en-US" sz="2600" spc="-114" dirty="0">
                <a:solidFill>
                  <a:srgbClr val="FFFFFF"/>
                </a:solidFill>
              </a:rPr>
              <a:t>to</a:t>
            </a:r>
            <a:r>
              <a:rPr lang="en-US" sz="2600" spc="-50" dirty="0">
                <a:solidFill>
                  <a:srgbClr val="FFFFFF"/>
                </a:solidFill>
              </a:rPr>
              <a:t> </a:t>
            </a:r>
            <a:r>
              <a:rPr lang="en-US" sz="2600" spc="-25" dirty="0" err="1">
                <a:solidFill>
                  <a:srgbClr val="FFFFFF"/>
                </a:solidFill>
              </a:rPr>
              <a:t>Neighbourhood</a:t>
            </a:r>
            <a:r>
              <a:rPr lang="en-US" sz="2600" spc="-55" dirty="0">
                <a:solidFill>
                  <a:srgbClr val="FFFFFF"/>
                </a:solidFill>
              </a:rPr>
              <a:t> </a:t>
            </a:r>
            <a:r>
              <a:rPr lang="en-US" sz="2600" spc="-40" dirty="0">
                <a:solidFill>
                  <a:srgbClr val="FFFFFF"/>
                </a:solidFill>
              </a:rPr>
              <a:t>group</a:t>
            </a:r>
            <a:endParaRPr lang="en-US" sz="2600" dirty="0">
              <a:solidFill>
                <a:srgbClr val="FFFFFF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82798" y="1070184"/>
            <a:ext cx="3397924" cy="158852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88827" y="1154801"/>
            <a:ext cx="3400442" cy="143668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61870" y="3425295"/>
            <a:ext cx="6864154" cy="28004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marL="299085" marR="5080" indent="-28702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>
                <a:tab pos="299720" algn="l"/>
              </a:tabLst>
            </a:pPr>
            <a:r>
              <a:rPr lang="en-US" spc="-80">
                <a:solidFill>
                  <a:schemeClr val="tx2"/>
                </a:solidFill>
              </a:rPr>
              <a:t>There</a:t>
            </a:r>
            <a:r>
              <a:rPr lang="en-US" spc="-75">
                <a:solidFill>
                  <a:schemeClr val="tx2"/>
                </a:solidFill>
              </a:rPr>
              <a:t> </a:t>
            </a:r>
            <a:r>
              <a:rPr lang="en-US" spc="5">
                <a:solidFill>
                  <a:schemeClr val="tx2"/>
                </a:solidFill>
              </a:rPr>
              <a:t>are </a:t>
            </a:r>
            <a:r>
              <a:rPr lang="en-US" spc="-35">
                <a:solidFill>
                  <a:schemeClr val="tx2"/>
                </a:solidFill>
              </a:rPr>
              <a:t>three</a:t>
            </a:r>
            <a:r>
              <a:rPr lang="en-US" spc="-30">
                <a:solidFill>
                  <a:schemeClr val="tx2"/>
                </a:solidFill>
              </a:rPr>
              <a:t> </a:t>
            </a:r>
            <a:r>
              <a:rPr lang="en-US" spc="-50">
                <a:solidFill>
                  <a:schemeClr val="tx2"/>
                </a:solidFill>
              </a:rPr>
              <a:t>types</a:t>
            </a:r>
            <a:r>
              <a:rPr lang="en-US" spc="-45">
                <a:solidFill>
                  <a:schemeClr val="tx2"/>
                </a:solidFill>
              </a:rPr>
              <a:t> </a:t>
            </a:r>
            <a:r>
              <a:rPr lang="en-US" spc="5">
                <a:solidFill>
                  <a:schemeClr val="tx2"/>
                </a:solidFill>
              </a:rPr>
              <a:t>of </a:t>
            </a:r>
            <a:r>
              <a:rPr lang="en-US" spc="-65">
                <a:solidFill>
                  <a:schemeClr val="tx2"/>
                </a:solidFill>
              </a:rPr>
              <a:t>rooms</a:t>
            </a:r>
            <a:r>
              <a:rPr lang="en-US" spc="-60">
                <a:solidFill>
                  <a:schemeClr val="tx2"/>
                </a:solidFill>
              </a:rPr>
              <a:t> </a:t>
            </a:r>
            <a:r>
              <a:rPr lang="en-US" spc="-210">
                <a:solidFill>
                  <a:schemeClr val="tx2"/>
                </a:solidFill>
              </a:rPr>
              <a:t>-</a:t>
            </a:r>
            <a:r>
              <a:rPr lang="en-US" spc="-204">
                <a:solidFill>
                  <a:schemeClr val="tx2"/>
                </a:solidFill>
              </a:rPr>
              <a:t> </a:t>
            </a:r>
            <a:r>
              <a:rPr lang="en-US" spc="-95">
                <a:solidFill>
                  <a:schemeClr val="tx2"/>
                </a:solidFill>
              </a:rPr>
              <a:t>Entire </a:t>
            </a:r>
            <a:r>
              <a:rPr lang="en-US" spc="-90">
                <a:solidFill>
                  <a:schemeClr val="tx2"/>
                </a:solidFill>
              </a:rPr>
              <a:t> </a:t>
            </a:r>
            <a:r>
              <a:rPr lang="en-US" spc="-15">
                <a:solidFill>
                  <a:schemeClr val="tx2"/>
                </a:solidFill>
              </a:rPr>
              <a:t>home/Apartment, </a:t>
            </a:r>
            <a:r>
              <a:rPr lang="en-US" spc="-45">
                <a:solidFill>
                  <a:schemeClr val="tx2"/>
                </a:solidFill>
              </a:rPr>
              <a:t>Private </a:t>
            </a:r>
            <a:r>
              <a:rPr lang="en-US" spc="-30">
                <a:solidFill>
                  <a:schemeClr val="tx2"/>
                </a:solidFill>
              </a:rPr>
              <a:t>room </a:t>
            </a:r>
            <a:r>
              <a:rPr lang="en-US" spc="50">
                <a:solidFill>
                  <a:schemeClr val="tx2"/>
                </a:solidFill>
              </a:rPr>
              <a:t>&amp; </a:t>
            </a:r>
            <a:r>
              <a:rPr lang="en-US" spc="-25">
                <a:solidFill>
                  <a:schemeClr val="tx2"/>
                </a:solidFill>
              </a:rPr>
              <a:t>shared </a:t>
            </a:r>
            <a:r>
              <a:rPr lang="en-US" spc="-20">
                <a:solidFill>
                  <a:schemeClr val="tx2"/>
                </a:solidFill>
              </a:rPr>
              <a:t> </a:t>
            </a:r>
            <a:r>
              <a:rPr lang="en-US" spc="-50">
                <a:solidFill>
                  <a:schemeClr val="tx2"/>
                </a:solidFill>
              </a:rPr>
              <a:t>room.</a:t>
            </a:r>
            <a:endParaRPr lang="en-US">
              <a:solidFill>
                <a:schemeClr val="tx2"/>
              </a:solidFill>
            </a:endParaRPr>
          </a:p>
          <a:p>
            <a:pPr marL="299085" marR="6350" indent="-28702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>
                <a:tab pos="299720" algn="l"/>
              </a:tabLst>
            </a:pPr>
            <a:r>
              <a:rPr lang="en-US" spc="-40">
                <a:solidFill>
                  <a:schemeClr val="tx2"/>
                </a:solidFill>
              </a:rPr>
              <a:t>Overall,</a:t>
            </a:r>
            <a:r>
              <a:rPr lang="en-US" spc="520">
                <a:solidFill>
                  <a:schemeClr val="tx2"/>
                </a:solidFill>
              </a:rPr>
              <a:t> </a:t>
            </a:r>
            <a:r>
              <a:rPr lang="en-US" spc="-55">
                <a:solidFill>
                  <a:schemeClr val="tx2"/>
                </a:solidFill>
              </a:rPr>
              <a:t>customers</a:t>
            </a:r>
            <a:r>
              <a:rPr lang="en-US" spc="-50">
                <a:solidFill>
                  <a:schemeClr val="tx2"/>
                </a:solidFill>
              </a:rPr>
              <a:t> </a:t>
            </a:r>
            <a:r>
              <a:rPr lang="en-US" spc="55">
                <a:solidFill>
                  <a:schemeClr val="tx2"/>
                </a:solidFill>
              </a:rPr>
              <a:t>appear</a:t>
            </a:r>
            <a:r>
              <a:rPr lang="en-US" spc="60">
                <a:solidFill>
                  <a:schemeClr val="tx2"/>
                </a:solidFill>
              </a:rPr>
              <a:t> </a:t>
            </a:r>
            <a:r>
              <a:rPr lang="en-US" spc="-15">
                <a:solidFill>
                  <a:schemeClr val="tx2"/>
                </a:solidFill>
              </a:rPr>
              <a:t>to</a:t>
            </a:r>
            <a:r>
              <a:rPr lang="en-US" spc="570">
                <a:solidFill>
                  <a:schemeClr val="tx2"/>
                </a:solidFill>
              </a:rPr>
              <a:t> </a:t>
            </a:r>
            <a:r>
              <a:rPr lang="en-US" spc="-40">
                <a:solidFill>
                  <a:schemeClr val="tx2"/>
                </a:solidFill>
              </a:rPr>
              <a:t>prefer </a:t>
            </a:r>
            <a:r>
              <a:rPr lang="en-US" spc="-35">
                <a:solidFill>
                  <a:schemeClr val="tx2"/>
                </a:solidFill>
              </a:rPr>
              <a:t> </a:t>
            </a:r>
            <a:r>
              <a:rPr lang="en-US" spc="-50">
                <a:solidFill>
                  <a:schemeClr val="tx2"/>
                </a:solidFill>
              </a:rPr>
              <a:t>priva</a:t>
            </a:r>
            <a:r>
              <a:rPr lang="en-US" spc="-45">
                <a:solidFill>
                  <a:schemeClr val="tx2"/>
                </a:solidFill>
              </a:rPr>
              <a:t>t</a:t>
            </a:r>
            <a:r>
              <a:rPr lang="en-US" spc="90">
                <a:solidFill>
                  <a:schemeClr val="tx2"/>
                </a:solidFill>
              </a:rPr>
              <a:t>e</a:t>
            </a:r>
            <a:r>
              <a:rPr lang="en-US" spc="60">
                <a:solidFill>
                  <a:schemeClr val="tx2"/>
                </a:solidFill>
              </a:rPr>
              <a:t> </a:t>
            </a:r>
            <a:r>
              <a:rPr lang="en-US" spc="-65">
                <a:solidFill>
                  <a:schemeClr val="tx2"/>
                </a:solidFill>
              </a:rPr>
              <a:t>rooms</a:t>
            </a:r>
            <a:r>
              <a:rPr lang="en-US" spc="60">
                <a:solidFill>
                  <a:schemeClr val="tx2"/>
                </a:solidFill>
              </a:rPr>
              <a:t> </a:t>
            </a:r>
            <a:r>
              <a:rPr lang="en-US" spc="-175">
                <a:solidFill>
                  <a:schemeClr val="tx2"/>
                </a:solidFill>
              </a:rPr>
              <a:t>(</a:t>
            </a:r>
            <a:r>
              <a:rPr lang="en-US" spc="-140">
                <a:solidFill>
                  <a:schemeClr val="tx2"/>
                </a:solidFill>
              </a:rPr>
              <a:t>45</a:t>
            </a:r>
            <a:r>
              <a:rPr lang="en-US" spc="-515">
                <a:solidFill>
                  <a:schemeClr val="tx2"/>
                </a:solidFill>
              </a:rPr>
              <a:t>%</a:t>
            </a:r>
            <a:r>
              <a:rPr lang="en-US" spc="-145">
                <a:solidFill>
                  <a:schemeClr val="tx2"/>
                </a:solidFill>
              </a:rPr>
              <a:t>)</a:t>
            </a:r>
            <a:r>
              <a:rPr lang="en-US" spc="45">
                <a:solidFill>
                  <a:schemeClr val="tx2"/>
                </a:solidFill>
              </a:rPr>
              <a:t> </a:t>
            </a:r>
            <a:r>
              <a:rPr lang="en-US" spc="-65">
                <a:solidFill>
                  <a:schemeClr val="tx2"/>
                </a:solidFill>
              </a:rPr>
              <a:t>or</a:t>
            </a:r>
            <a:r>
              <a:rPr lang="en-US" spc="75">
                <a:solidFill>
                  <a:schemeClr val="tx2"/>
                </a:solidFill>
              </a:rPr>
              <a:t> </a:t>
            </a:r>
            <a:r>
              <a:rPr lang="en-US" spc="25">
                <a:solidFill>
                  <a:schemeClr val="tx2"/>
                </a:solidFill>
              </a:rPr>
              <a:t>en</a:t>
            </a:r>
            <a:r>
              <a:rPr lang="en-US" spc="-110">
                <a:solidFill>
                  <a:schemeClr val="tx2"/>
                </a:solidFill>
              </a:rPr>
              <a:t>t</a:t>
            </a:r>
            <a:r>
              <a:rPr lang="en-US" spc="-130">
                <a:solidFill>
                  <a:schemeClr val="tx2"/>
                </a:solidFill>
              </a:rPr>
              <a:t>i</a:t>
            </a:r>
            <a:r>
              <a:rPr lang="en-US" spc="-60">
                <a:solidFill>
                  <a:schemeClr val="tx2"/>
                </a:solidFill>
              </a:rPr>
              <a:t>re</a:t>
            </a:r>
            <a:r>
              <a:rPr lang="en-US" spc="50">
                <a:solidFill>
                  <a:schemeClr val="tx2"/>
                </a:solidFill>
              </a:rPr>
              <a:t> </a:t>
            </a:r>
            <a:r>
              <a:rPr lang="en-US" spc="-30">
                <a:solidFill>
                  <a:schemeClr val="tx2"/>
                </a:solidFill>
              </a:rPr>
              <a:t>homes</a:t>
            </a:r>
            <a:r>
              <a:rPr lang="en-US" spc="70">
                <a:solidFill>
                  <a:schemeClr val="tx2"/>
                </a:solidFill>
              </a:rPr>
              <a:t> </a:t>
            </a:r>
            <a:r>
              <a:rPr lang="en-US" spc="-175">
                <a:solidFill>
                  <a:schemeClr val="tx2"/>
                </a:solidFill>
              </a:rPr>
              <a:t>(</a:t>
            </a:r>
            <a:r>
              <a:rPr lang="en-US" spc="-140">
                <a:solidFill>
                  <a:schemeClr val="tx2"/>
                </a:solidFill>
              </a:rPr>
              <a:t>52</a:t>
            </a:r>
            <a:r>
              <a:rPr lang="en-US" spc="-515">
                <a:solidFill>
                  <a:schemeClr val="tx2"/>
                </a:solidFill>
              </a:rPr>
              <a:t>%</a:t>
            </a:r>
            <a:r>
              <a:rPr lang="en-US" spc="-125">
                <a:solidFill>
                  <a:schemeClr val="tx2"/>
                </a:solidFill>
              </a:rPr>
              <a:t>)  </a:t>
            </a:r>
            <a:r>
              <a:rPr lang="en-US" spc="-45">
                <a:solidFill>
                  <a:schemeClr val="tx2"/>
                </a:solidFill>
              </a:rPr>
              <a:t>i</a:t>
            </a:r>
            <a:r>
              <a:rPr lang="en-US" spc="-114">
                <a:solidFill>
                  <a:schemeClr val="tx2"/>
                </a:solidFill>
              </a:rPr>
              <a:t>n</a:t>
            </a:r>
            <a:r>
              <a:rPr lang="en-US" spc="-140">
                <a:solidFill>
                  <a:schemeClr val="tx2"/>
                </a:solidFill>
              </a:rPr>
              <a:t> </a:t>
            </a:r>
            <a:r>
              <a:rPr lang="en-US" spc="65">
                <a:solidFill>
                  <a:schemeClr val="tx2"/>
                </a:solidFill>
              </a:rPr>
              <a:t>co</a:t>
            </a:r>
            <a:r>
              <a:rPr lang="en-US" spc="105">
                <a:solidFill>
                  <a:schemeClr val="tx2"/>
                </a:solidFill>
              </a:rPr>
              <a:t>m</a:t>
            </a:r>
            <a:r>
              <a:rPr lang="en-US" spc="-35">
                <a:solidFill>
                  <a:schemeClr val="tx2"/>
                </a:solidFill>
              </a:rPr>
              <a:t>par</a:t>
            </a:r>
            <a:r>
              <a:rPr lang="en-US" spc="-10">
                <a:solidFill>
                  <a:schemeClr val="tx2"/>
                </a:solidFill>
              </a:rPr>
              <a:t>i</a:t>
            </a:r>
            <a:r>
              <a:rPr lang="en-US" spc="-65">
                <a:solidFill>
                  <a:schemeClr val="tx2"/>
                </a:solidFill>
              </a:rPr>
              <a:t>son</a:t>
            </a:r>
            <a:r>
              <a:rPr lang="en-US" spc="-155">
                <a:solidFill>
                  <a:schemeClr val="tx2"/>
                </a:solidFill>
              </a:rPr>
              <a:t> </a:t>
            </a:r>
            <a:r>
              <a:rPr lang="en-US" spc="-20">
                <a:solidFill>
                  <a:schemeClr val="tx2"/>
                </a:solidFill>
              </a:rPr>
              <a:t>t</a:t>
            </a:r>
            <a:r>
              <a:rPr lang="en-US" spc="-5">
                <a:solidFill>
                  <a:schemeClr val="tx2"/>
                </a:solidFill>
              </a:rPr>
              <a:t>o</a:t>
            </a:r>
            <a:r>
              <a:rPr lang="en-US" spc="-110">
                <a:solidFill>
                  <a:schemeClr val="tx2"/>
                </a:solidFill>
              </a:rPr>
              <a:t> </a:t>
            </a:r>
            <a:r>
              <a:rPr lang="en-US" spc="-25">
                <a:solidFill>
                  <a:schemeClr val="tx2"/>
                </a:solidFill>
              </a:rPr>
              <a:t>shared</a:t>
            </a:r>
            <a:r>
              <a:rPr lang="en-US" spc="-150">
                <a:solidFill>
                  <a:schemeClr val="tx2"/>
                </a:solidFill>
              </a:rPr>
              <a:t> </a:t>
            </a:r>
            <a:r>
              <a:rPr lang="en-US" spc="-20">
                <a:solidFill>
                  <a:schemeClr val="tx2"/>
                </a:solidFill>
              </a:rPr>
              <a:t>roo</a:t>
            </a:r>
            <a:r>
              <a:rPr lang="en-US" spc="-40">
                <a:solidFill>
                  <a:schemeClr val="tx2"/>
                </a:solidFill>
              </a:rPr>
              <a:t>m</a:t>
            </a:r>
            <a:r>
              <a:rPr lang="en-US" spc="-225">
                <a:solidFill>
                  <a:schemeClr val="tx2"/>
                </a:solidFill>
              </a:rPr>
              <a:t>s</a:t>
            </a:r>
            <a:r>
              <a:rPr lang="en-US" spc="-135">
                <a:solidFill>
                  <a:schemeClr val="tx2"/>
                </a:solidFill>
              </a:rPr>
              <a:t> </a:t>
            </a:r>
            <a:r>
              <a:rPr lang="en-US" spc="-175">
                <a:solidFill>
                  <a:schemeClr val="tx2"/>
                </a:solidFill>
              </a:rPr>
              <a:t>(</a:t>
            </a:r>
            <a:r>
              <a:rPr lang="en-US" spc="-140">
                <a:solidFill>
                  <a:schemeClr val="tx2"/>
                </a:solidFill>
              </a:rPr>
              <a:t>2</a:t>
            </a:r>
            <a:r>
              <a:rPr lang="en-US" spc="-170">
                <a:solidFill>
                  <a:schemeClr val="tx2"/>
                </a:solidFill>
              </a:rPr>
              <a:t>.</a:t>
            </a:r>
            <a:r>
              <a:rPr lang="en-US" spc="-140">
                <a:solidFill>
                  <a:schemeClr val="tx2"/>
                </a:solidFill>
              </a:rPr>
              <a:t>4</a:t>
            </a:r>
            <a:r>
              <a:rPr lang="en-US" spc="-515">
                <a:solidFill>
                  <a:schemeClr val="tx2"/>
                </a:solidFill>
              </a:rPr>
              <a:t>%</a:t>
            </a:r>
            <a:r>
              <a:rPr lang="en-US" spc="-165">
                <a:solidFill>
                  <a:schemeClr val="tx2"/>
                </a:solidFill>
              </a:rPr>
              <a:t>)</a:t>
            </a:r>
            <a:r>
              <a:rPr lang="en-US" spc="-150">
                <a:solidFill>
                  <a:schemeClr val="tx2"/>
                </a:solidFill>
              </a:rPr>
              <a:t>.</a:t>
            </a:r>
            <a:endParaRPr lang="en-US">
              <a:solidFill>
                <a:schemeClr val="tx2"/>
              </a:solidFill>
            </a:endParaRPr>
          </a:p>
          <a:p>
            <a:pPr marL="299085" marR="5080" indent="-28702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>
                <a:tab pos="299720" algn="l"/>
              </a:tabLst>
            </a:pPr>
            <a:r>
              <a:rPr lang="en-US" spc="-15">
                <a:solidFill>
                  <a:schemeClr val="tx2"/>
                </a:solidFill>
              </a:rPr>
              <a:t>Airbnb</a:t>
            </a:r>
            <a:r>
              <a:rPr lang="en-US" spc="-10">
                <a:solidFill>
                  <a:schemeClr val="tx2"/>
                </a:solidFill>
              </a:rPr>
              <a:t> </a:t>
            </a:r>
            <a:r>
              <a:rPr lang="en-US" spc="105">
                <a:solidFill>
                  <a:schemeClr val="tx2"/>
                </a:solidFill>
              </a:rPr>
              <a:t>can </a:t>
            </a:r>
            <a:r>
              <a:rPr lang="en-US" spc="30">
                <a:solidFill>
                  <a:schemeClr val="tx2"/>
                </a:solidFill>
              </a:rPr>
              <a:t>concentrate</a:t>
            </a:r>
            <a:r>
              <a:rPr lang="en-US" spc="35">
                <a:solidFill>
                  <a:schemeClr val="tx2"/>
                </a:solidFill>
              </a:rPr>
              <a:t> </a:t>
            </a:r>
            <a:r>
              <a:rPr lang="en-US" spc="20">
                <a:solidFill>
                  <a:schemeClr val="tx2"/>
                </a:solidFill>
              </a:rPr>
              <a:t>on</a:t>
            </a:r>
            <a:r>
              <a:rPr lang="en-US" spc="25">
                <a:solidFill>
                  <a:schemeClr val="tx2"/>
                </a:solidFill>
              </a:rPr>
              <a:t> </a:t>
            </a:r>
            <a:r>
              <a:rPr lang="en-US" spc="-25">
                <a:solidFill>
                  <a:schemeClr val="tx2"/>
                </a:solidFill>
              </a:rPr>
              <a:t>promoting </a:t>
            </a:r>
            <a:r>
              <a:rPr lang="en-US" spc="-20">
                <a:solidFill>
                  <a:schemeClr val="tx2"/>
                </a:solidFill>
              </a:rPr>
              <a:t> </a:t>
            </a:r>
            <a:r>
              <a:rPr lang="en-US" spc="-25">
                <a:solidFill>
                  <a:schemeClr val="tx2"/>
                </a:solidFill>
              </a:rPr>
              <a:t>shared </a:t>
            </a:r>
            <a:r>
              <a:rPr lang="en-US" spc="-65">
                <a:solidFill>
                  <a:schemeClr val="tx2"/>
                </a:solidFill>
              </a:rPr>
              <a:t>rooms with </a:t>
            </a:r>
            <a:r>
              <a:rPr lang="en-US" spc="-45">
                <a:solidFill>
                  <a:schemeClr val="tx2"/>
                </a:solidFill>
              </a:rPr>
              <a:t>discounts </a:t>
            </a:r>
            <a:r>
              <a:rPr lang="en-US" spc="-15">
                <a:solidFill>
                  <a:schemeClr val="tx2"/>
                </a:solidFill>
              </a:rPr>
              <a:t>to </a:t>
            </a:r>
            <a:r>
              <a:rPr lang="en-US" spc="-10">
                <a:solidFill>
                  <a:schemeClr val="tx2"/>
                </a:solidFill>
              </a:rPr>
              <a:t>increase </a:t>
            </a:r>
            <a:r>
              <a:rPr lang="en-US" spc="-5">
                <a:solidFill>
                  <a:schemeClr val="tx2"/>
                </a:solidFill>
              </a:rPr>
              <a:t> </a:t>
            </a:r>
            <a:r>
              <a:rPr lang="en-US" spc="-30">
                <a:solidFill>
                  <a:schemeClr val="tx2"/>
                </a:solidFill>
              </a:rPr>
              <a:t>bookings </a:t>
            </a:r>
            <a:r>
              <a:rPr lang="en-US" spc="65">
                <a:solidFill>
                  <a:schemeClr val="tx2"/>
                </a:solidFill>
              </a:rPr>
              <a:t>and </a:t>
            </a:r>
            <a:r>
              <a:rPr lang="en-US" spc="-35">
                <a:solidFill>
                  <a:schemeClr val="tx2"/>
                </a:solidFill>
              </a:rPr>
              <a:t>also </a:t>
            </a:r>
            <a:r>
              <a:rPr lang="en-US" spc="20">
                <a:solidFill>
                  <a:schemeClr val="tx2"/>
                </a:solidFill>
              </a:rPr>
              <a:t>acquire </a:t>
            </a:r>
            <a:r>
              <a:rPr lang="en-US" spc="-25">
                <a:solidFill>
                  <a:schemeClr val="tx2"/>
                </a:solidFill>
              </a:rPr>
              <a:t>more </a:t>
            </a:r>
            <a:r>
              <a:rPr lang="en-US" spc="-30">
                <a:solidFill>
                  <a:schemeClr val="tx2"/>
                </a:solidFill>
              </a:rPr>
              <a:t>private </a:t>
            </a:r>
            <a:r>
              <a:rPr lang="en-US" spc="-25">
                <a:solidFill>
                  <a:schemeClr val="tx2"/>
                </a:solidFill>
              </a:rPr>
              <a:t> </a:t>
            </a:r>
            <a:r>
              <a:rPr lang="en-US" spc="-114">
                <a:solidFill>
                  <a:schemeClr val="tx2"/>
                </a:solidFill>
              </a:rPr>
              <a:t>listings.</a:t>
            </a:r>
            <a:endParaRPr lang="en-US">
              <a:solidFill>
                <a:schemeClr val="tx2"/>
              </a:solidFill>
            </a:endParaRPr>
          </a:p>
          <a:p>
            <a:pPr marL="299085" marR="5080" indent="-28702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>
                <a:tab pos="299720" algn="l"/>
              </a:tabLst>
            </a:pPr>
            <a:r>
              <a:rPr lang="en-US">
                <a:solidFill>
                  <a:schemeClr val="tx2"/>
                </a:solidFill>
              </a:rPr>
              <a:t>Queens </a:t>
            </a:r>
            <a:r>
              <a:rPr lang="en-US" spc="50">
                <a:solidFill>
                  <a:schemeClr val="tx2"/>
                </a:solidFill>
              </a:rPr>
              <a:t>&amp; </a:t>
            </a:r>
            <a:r>
              <a:rPr lang="en-US" spc="-114">
                <a:solidFill>
                  <a:schemeClr val="tx2"/>
                </a:solidFill>
              </a:rPr>
              <a:t>Bronx </a:t>
            </a:r>
            <a:r>
              <a:rPr lang="en-US" spc="-20">
                <a:solidFill>
                  <a:schemeClr val="tx2"/>
                </a:solidFill>
              </a:rPr>
              <a:t>contribute </a:t>
            </a:r>
            <a:r>
              <a:rPr lang="en-US" spc="-265">
                <a:solidFill>
                  <a:schemeClr val="tx2"/>
                </a:solidFill>
              </a:rPr>
              <a:t>60%</a:t>
            </a:r>
            <a:r>
              <a:rPr lang="en-US" spc="-260">
                <a:solidFill>
                  <a:schemeClr val="tx2"/>
                </a:solidFill>
              </a:rPr>
              <a:t> </a:t>
            </a:r>
            <a:r>
              <a:rPr lang="en-US" spc="95">
                <a:solidFill>
                  <a:schemeClr val="tx2"/>
                </a:solidFill>
              </a:rPr>
              <a:t>each </a:t>
            </a:r>
            <a:r>
              <a:rPr lang="en-US" spc="-20">
                <a:solidFill>
                  <a:schemeClr val="tx2"/>
                </a:solidFill>
              </a:rPr>
              <a:t>to </a:t>
            </a:r>
            <a:r>
              <a:rPr lang="en-US" spc="-15">
                <a:solidFill>
                  <a:schemeClr val="tx2"/>
                </a:solidFill>
              </a:rPr>
              <a:t> </a:t>
            </a:r>
            <a:r>
              <a:rPr lang="en-US" spc="-30">
                <a:solidFill>
                  <a:schemeClr val="tx2"/>
                </a:solidFill>
              </a:rPr>
              <a:t>private </a:t>
            </a:r>
            <a:r>
              <a:rPr lang="en-US" spc="-80">
                <a:solidFill>
                  <a:schemeClr val="tx2"/>
                </a:solidFill>
              </a:rPr>
              <a:t>rooms, </a:t>
            </a:r>
            <a:r>
              <a:rPr lang="en-US" spc="-25">
                <a:solidFill>
                  <a:schemeClr val="tx2"/>
                </a:solidFill>
              </a:rPr>
              <a:t>more </a:t>
            </a:r>
            <a:r>
              <a:rPr lang="en-US" spc="-10">
                <a:solidFill>
                  <a:schemeClr val="tx2"/>
                </a:solidFill>
              </a:rPr>
              <a:t>than </a:t>
            </a:r>
            <a:r>
              <a:rPr lang="en-US" spc="-15">
                <a:solidFill>
                  <a:schemeClr val="tx2"/>
                </a:solidFill>
              </a:rPr>
              <a:t>the </a:t>
            </a:r>
            <a:r>
              <a:rPr lang="en-US" spc="40">
                <a:solidFill>
                  <a:schemeClr val="tx2"/>
                </a:solidFill>
              </a:rPr>
              <a:t>combined </a:t>
            </a:r>
            <a:r>
              <a:rPr lang="en-US" spc="45">
                <a:solidFill>
                  <a:schemeClr val="tx2"/>
                </a:solidFill>
              </a:rPr>
              <a:t> </a:t>
            </a:r>
            <a:r>
              <a:rPr lang="en-US" spc="-45">
                <a:solidFill>
                  <a:schemeClr val="tx2"/>
                </a:solidFill>
              </a:rPr>
              <a:t>ratio </a:t>
            </a:r>
            <a:r>
              <a:rPr lang="en-US" spc="10">
                <a:solidFill>
                  <a:schemeClr val="tx2"/>
                </a:solidFill>
              </a:rPr>
              <a:t>of </a:t>
            </a:r>
            <a:r>
              <a:rPr lang="en-US" spc="-265">
                <a:solidFill>
                  <a:schemeClr val="tx2"/>
                </a:solidFill>
              </a:rPr>
              <a:t>45%</a:t>
            </a:r>
            <a:r>
              <a:rPr lang="en-US" spc="-260">
                <a:solidFill>
                  <a:schemeClr val="tx2"/>
                </a:solidFill>
              </a:rPr>
              <a:t> </a:t>
            </a:r>
            <a:r>
              <a:rPr lang="en-US" spc="-45">
                <a:solidFill>
                  <a:schemeClr val="tx2"/>
                </a:solidFill>
              </a:rPr>
              <a:t>Whereas, </a:t>
            </a:r>
            <a:r>
              <a:rPr lang="en-US" spc="25">
                <a:solidFill>
                  <a:schemeClr val="tx2"/>
                </a:solidFill>
              </a:rPr>
              <a:t>Manhattan </a:t>
            </a:r>
            <a:r>
              <a:rPr lang="en-US" spc="-40">
                <a:solidFill>
                  <a:schemeClr val="tx2"/>
                </a:solidFill>
              </a:rPr>
              <a:t>has </a:t>
            </a:r>
            <a:r>
              <a:rPr lang="en-US" spc="140">
                <a:solidFill>
                  <a:schemeClr val="tx2"/>
                </a:solidFill>
              </a:rPr>
              <a:t>a </a:t>
            </a:r>
            <a:r>
              <a:rPr lang="en-US" spc="145">
                <a:solidFill>
                  <a:schemeClr val="tx2"/>
                </a:solidFill>
              </a:rPr>
              <a:t> </a:t>
            </a:r>
            <a:r>
              <a:rPr lang="en-US" spc="-45">
                <a:solidFill>
                  <a:schemeClr val="tx2"/>
                </a:solidFill>
              </a:rPr>
              <a:t>higher </a:t>
            </a:r>
            <a:r>
              <a:rPr lang="en-US" spc="-30">
                <a:solidFill>
                  <a:schemeClr val="tx2"/>
                </a:solidFill>
              </a:rPr>
              <a:t>contribution </a:t>
            </a:r>
            <a:r>
              <a:rPr lang="en-US" spc="-80">
                <a:solidFill>
                  <a:schemeClr val="tx2"/>
                </a:solidFill>
              </a:rPr>
              <a:t>in </a:t>
            </a:r>
            <a:r>
              <a:rPr lang="en-US" spc="-50">
                <a:solidFill>
                  <a:schemeClr val="tx2"/>
                </a:solidFill>
              </a:rPr>
              <a:t>entire </a:t>
            </a:r>
            <a:r>
              <a:rPr lang="en-US" spc="20">
                <a:solidFill>
                  <a:schemeClr val="tx2"/>
                </a:solidFill>
              </a:rPr>
              <a:t>home </a:t>
            </a:r>
            <a:r>
              <a:rPr lang="en-US" spc="-210">
                <a:solidFill>
                  <a:schemeClr val="tx2"/>
                </a:solidFill>
              </a:rPr>
              <a:t>(61%), </a:t>
            </a:r>
            <a:r>
              <a:rPr lang="en-US" spc="-204">
                <a:solidFill>
                  <a:schemeClr val="tx2"/>
                </a:solidFill>
              </a:rPr>
              <a:t> </a:t>
            </a:r>
            <a:r>
              <a:rPr lang="en-US" spc="60">
                <a:solidFill>
                  <a:schemeClr val="tx2"/>
                </a:solidFill>
              </a:rPr>
              <a:t>compared</a:t>
            </a:r>
            <a:r>
              <a:rPr lang="en-US" spc="-145">
                <a:solidFill>
                  <a:schemeClr val="tx2"/>
                </a:solidFill>
              </a:rPr>
              <a:t> </a:t>
            </a:r>
            <a:r>
              <a:rPr lang="en-US" spc="-20">
                <a:solidFill>
                  <a:schemeClr val="tx2"/>
                </a:solidFill>
              </a:rPr>
              <a:t>t</a:t>
            </a:r>
            <a:r>
              <a:rPr lang="en-US" spc="-10">
                <a:solidFill>
                  <a:schemeClr val="tx2"/>
                </a:solidFill>
              </a:rPr>
              <a:t>o</a:t>
            </a:r>
            <a:r>
              <a:rPr lang="en-US" spc="-120">
                <a:solidFill>
                  <a:schemeClr val="tx2"/>
                </a:solidFill>
              </a:rPr>
              <a:t> </a:t>
            </a:r>
            <a:r>
              <a:rPr lang="en-US" spc="-110">
                <a:solidFill>
                  <a:schemeClr val="tx2"/>
                </a:solidFill>
              </a:rPr>
              <a:t>t</a:t>
            </a:r>
            <a:r>
              <a:rPr lang="en-US" spc="25">
                <a:solidFill>
                  <a:schemeClr val="tx2"/>
                </a:solidFill>
              </a:rPr>
              <a:t>he</a:t>
            </a:r>
            <a:r>
              <a:rPr lang="en-US" spc="-120">
                <a:solidFill>
                  <a:schemeClr val="tx2"/>
                </a:solidFill>
              </a:rPr>
              <a:t> </a:t>
            </a:r>
            <a:r>
              <a:rPr lang="en-US" spc="50">
                <a:solidFill>
                  <a:schemeClr val="tx2"/>
                </a:solidFill>
              </a:rPr>
              <a:t>comb</a:t>
            </a:r>
            <a:r>
              <a:rPr lang="en-US" spc="25">
                <a:solidFill>
                  <a:schemeClr val="tx2"/>
                </a:solidFill>
              </a:rPr>
              <a:t>i</a:t>
            </a:r>
            <a:r>
              <a:rPr lang="en-US" spc="55">
                <a:solidFill>
                  <a:schemeClr val="tx2"/>
                </a:solidFill>
              </a:rPr>
              <a:t>ned</a:t>
            </a:r>
            <a:r>
              <a:rPr lang="en-US" spc="-155">
                <a:solidFill>
                  <a:schemeClr val="tx2"/>
                </a:solidFill>
              </a:rPr>
              <a:t> </a:t>
            </a:r>
            <a:r>
              <a:rPr lang="en-US" spc="-60">
                <a:solidFill>
                  <a:schemeClr val="tx2"/>
                </a:solidFill>
              </a:rPr>
              <a:t>ra</a:t>
            </a:r>
            <a:r>
              <a:rPr lang="en-US" spc="-55">
                <a:solidFill>
                  <a:schemeClr val="tx2"/>
                </a:solidFill>
              </a:rPr>
              <a:t>t</a:t>
            </a:r>
            <a:r>
              <a:rPr lang="en-US" spc="-130">
                <a:solidFill>
                  <a:schemeClr val="tx2"/>
                </a:solidFill>
              </a:rPr>
              <a:t>i</a:t>
            </a:r>
            <a:r>
              <a:rPr lang="en-US" spc="80">
                <a:solidFill>
                  <a:schemeClr val="tx2"/>
                </a:solidFill>
              </a:rPr>
              <a:t>o</a:t>
            </a:r>
            <a:r>
              <a:rPr lang="en-US" spc="-130">
                <a:solidFill>
                  <a:schemeClr val="tx2"/>
                </a:solidFill>
              </a:rPr>
              <a:t> </a:t>
            </a:r>
            <a:r>
              <a:rPr lang="en-US" spc="10">
                <a:solidFill>
                  <a:schemeClr val="tx2"/>
                </a:solidFill>
              </a:rPr>
              <a:t>of</a:t>
            </a:r>
            <a:r>
              <a:rPr lang="en-US" spc="-125">
                <a:solidFill>
                  <a:schemeClr val="tx2"/>
                </a:solidFill>
              </a:rPr>
              <a:t> </a:t>
            </a:r>
            <a:r>
              <a:rPr lang="en-US" spc="-140">
                <a:solidFill>
                  <a:schemeClr val="tx2"/>
                </a:solidFill>
              </a:rPr>
              <a:t>52</a:t>
            </a:r>
            <a:r>
              <a:rPr lang="en-US" spc="-515">
                <a:solidFill>
                  <a:schemeClr val="tx2"/>
                </a:solidFill>
              </a:rPr>
              <a:t>%</a:t>
            </a:r>
            <a:r>
              <a:rPr lang="en-US" spc="-150">
                <a:solidFill>
                  <a:schemeClr val="tx2"/>
                </a:solidFill>
              </a:rPr>
              <a:t>.</a:t>
            </a:r>
            <a:endParaRPr 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110" y="826346"/>
            <a:ext cx="3171905" cy="101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 marR="5080" indent="614045" algn="ctr">
              <a:lnSpc>
                <a:spcPct val="90000"/>
              </a:lnSpc>
            </a:pPr>
            <a:r>
              <a:rPr lang="en-US" sz="2200" spc="-70" dirty="0" err="1">
                <a:solidFill>
                  <a:srgbClr val="FFFFFF"/>
                </a:solidFill>
              </a:rPr>
              <a:t>PRIce</a:t>
            </a:r>
            <a:r>
              <a:rPr lang="en-US" sz="2200" spc="-140" dirty="0">
                <a:solidFill>
                  <a:srgbClr val="FFFFFF"/>
                </a:solidFill>
              </a:rPr>
              <a:t> </a:t>
            </a:r>
            <a:r>
              <a:rPr lang="en-US" sz="2200" spc="5" dirty="0">
                <a:solidFill>
                  <a:srgbClr val="FFFFFF"/>
                </a:solidFill>
              </a:rPr>
              <a:t>Anal</a:t>
            </a:r>
            <a:r>
              <a:rPr lang="en-US" sz="2200" spc="-114" dirty="0">
                <a:solidFill>
                  <a:srgbClr val="FFFFFF"/>
                </a:solidFill>
              </a:rPr>
              <a:t>y</a:t>
            </a:r>
            <a:r>
              <a:rPr lang="en-US" sz="2200" spc="-90" dirty="0">
                <a:solidFill>
                  <a:srgbClr val="FFFFFF"/>
                </a:solidFill>
              </a:rPr>
              <a:t>s</a:t>
            </a:r>
            <a:r>
              <a:rPr lang="en-US" sz="2200" spc="-170" dirty="0">
                <a:solidFill>
                  <a:srgbClr val="FFFFFF"/>
                </a:solidFill>
              </a:rPr>
              <a:t>is  </a:t>
            </a:r>
            <a:r>
              <a:rPr lang="en-US" sz="2200" spc="-30" dirty="0">
                <a:solidFill>
                  <a:srgbClr val="FFFFFF"/>
                </a:solidFill>
              </a:rPr>
              <a:t>Neighborhood</a:t>
            </a:r>
            <a:r>
              <a:rPr lang="en-US" sz="2200" spc="-114" dirty="0">
                <a:solidFill>
                  <a:srgbClr val="FFFFFF"/>
                </a:solidFill>
              </a:rPr>
              <a:t> </a:t>
            </a:r>
            <a:r>
              <a:rPr lang="en-US" sz="2200" spc="-130" dirty="0">
                <a:solidFill>
                  <a:srgbClr val="FFFFFF"/>
                </a:solidFill>
              </a:rPr>
              <a:t>wise</a:t>
            </a:r>
            <a:endParaRPr lang="en-US" sz="2200" dirty="0">
              <a:solidFill>
                <a:srgbClr val="FFFFFF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110" y="2052084"/>
            <a:ext cx="3033249" cy="385622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299085" marR="5080" indent="-28702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>
                <a:tab pos="299720" algn="l"/>
              </a:tabLst>
            </a:pPr>
            <a:r>
              <a:rPr lang="en-US" sz="1500" spc="-30" dirty="0">
                <a:solidFill>
                  <a:srgbClr val="FFFFFF"/>
                </a:solidFill>
              </a:rPr>
              <a:t>Most</a:t>
            </a:r>
            <a:r>
              <a:rPr lang="en-US" sz="1500" spc="-25" dirty="0">
                <a:solidFill>
                  <a:srgbClr val="FFFFFF"/>
                </a:solidFill>
              </a:rPr>
              <a:t> </a:t>
            </a:r>
            <a:r>
              <a:rPr lang="en-US" sz="1500" spc="5" dirty="0">
                <a:solidFill>
                  <a:srgbClr val="FFFFFF"/>
                </a:solidFill>
              </a:rPr>
              <a:t>of </a:t>
            </a:r>
            <a:r>
              <a:rPr lang="en-US" sz="1500" spc="-15" dirty="0">
                <a:solidFill>
                  <a:srgbClr val="FFFFFF"/>
                </a:solidFill>
              </a:rPr>
              <a:t>the</a:t>
            </a:r>
            <a:r>
              <a:rPr lang="en-US" sz="1500" spc="-10" dirty="0">
                <a:solidFill>
                  <a:srgbClr val="FFFFFF"/>
                </a:solidFill>
              </a:rPr>
              <a:t> </a:t>
            </a:r>
            <a:r>
              <a:rPr lang="en-US" sz="1500" spc="-90" dirty="0">
                <a:solidFill>
                  <a:srgbClr val="FFFFFF"/>
                </a:solidFill>
              </a:rPr>
              <a:t>outliers</a:t>
            </a:r>
            <a:r>
              <a:rPr lang="en-US" sz="1500" spc="-85" dirty="0">
                <a:solidFill>
                  <a:srgbClr val="FFFFFF"/>
                </a:solidFill>
              </a:rPr>
              <a:t> </a:t>
            </a:r>
            <a:r>
              <a:rPr lang="en-US" sz="1500" spc="-80" dirty="0">
                <a:solidFill>
                  <a:srgbClr val="FFFFFF"/>
                </a:solidFill>
              </a:rPr>
              <a:t>in</a:t>
            </a:r>
            <a:r>
              <a:rPr lang="en-US" sz="1500" spc="-75" dirty="0">
                <a:solidFill>
                  <a:srgbClr val="FFFFFF"/>
                </a:solidFill>
              </a:rPr>
              <a:t> </a:t>
            </a:r>
            <a:r>
              <a:rPr lang="en-US" sz="1500" spc="-15" dirty="0">
                <a:solidFill>
                  <a:srgbClr val="FFFFFF"/>
                </a:solidFill>
              </a:rPr>
              <a:t>Price </a:t>
            </a:r>
            <a:r>
              <a:rPr lang="en-US" sz="1500" spc="-10" dirty="0">
                <a:solidFill>
                  <a:srgbClr val="FFFFFF"/>
                </a:solidFill>
              </a:rPr>
              <a:t> </a:t>
            </a:r>
            <a:r>
              <a:rPr lang="en-US" sz="1500" spc="5" dirty="0">
                <a:solidFill>
                  <a:srgbClr val="FFFFFF"/>
                </a:solidFill>
              </a:rPr>
              <a:t>column </a:t>
            </a:r>
            <a:r>
              <a:rPr lang="en-US" sz="1500" dirty="0">
                <a:solidFill>
                  <a:srgbClr val="FFFFFF"/>
                </a:solidFill>
              </a:rPr>
              <a:t>are </a:t>
            </a:r>
            <a:r>
              <a:rPr lang="en-US" sz="1500" spc="-70" dirty="0">
                <a:solidFill>
                  <a:srgbClr val="FFFFFF"/>
                </a:solidFill>
              </a:rPr>
              <a:t>for </a:t>
            </a:r>
            <a:r>
              <a:rPr lang="en-US" sz="1500" spc="-90" dirty="0">
                <a:solidFill>
                  <a:srgbClr val="FFFFFF"/>
                </a:solidFill>
              </a:rPr>
              <a:t>Brooklyn </a:t>
            </a:r>
            <a:r>
              <a:rPr lang="en-US" sz="1500" spc="60" dirty="0">
                <a:solidFill>
                  <a:srgbClr val="FFFFFF"/>
                </a:solidFill>
              </a:rPr>
              <a:t>and </a:t>
            </a:r>
            <a:r>
              <a:rPr lang="en-US" sz="1500" spc="65" dirty="0">
                <a:solidFill>
                  <a:srgbClr val="FFFFFF"/>
                </a:solidFill>
              </a:rPr>
              <a:t> </a:t>
            </a:r>
            <a:r>
              <a:rPr lang="en-US" sz="1500" dirty="0">
                <a:solidFill>
                  <a:srgbClr val="FFFFFF"/>
                </a:solidFill>
              </a:rPr>
              <a:t>Manhattan.</a:t>
            </a:r>
          </a:p>
          <a:p>
            <a:pPr marL="299085" marR="5080" indent="-28702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>
                <a:tab pos="299720" algn="l"/>
              </a:tabLst>
            </a:pPr>
            <a:r>
              <a:rPr lang="en-US" sz="1500" spc="-70" dirty="0">
                <a:solidFill>
                  <a:srgbClr val="FFFFFF"/>
                </a:solidFill>
              </a:rPr>
              <a:t>Also,</a:t>
            </a:r>
            <a:r>
              <a:rPr lang="en-US" sz="1500" spc="-65" dirty="0">
                <a:solidFill>
                  <a:srgbClr val="FFFFFF"/>
                </a:solidFill>
              </a:rPr>
              <a:t> </a:t>
            </a:r>
            <a:r>
              <a:rPr lang="en-US" sz="1500" spc="25" dirty="0">
                <a:solidFill>
                  <a:srgbClr val="FFFFFF"/>
                </a:solidFill>
              </a:rPr>
              <a:t>Manhattan</a:t>
            </a:r>
            <a:r>
              <a:rPr lang="en-US" sz="1500" spc="30" dirty="0">
                <a:solidFill>
                  <a:srgbClr val="FFFFFF"/>
                </a:solidFill>
              </a:rPr>
              <a:t> </a:t>
            </a:r>
            <a:r>
              <a:rPr lang="en-US" sz="1500" spc="-55" dirty="0">
                <a:solidFill>
                  <a:srgbClr val="FFFFFF"/>
                </a:solidFill>
              </a:rPr>
              <a:t>has</a:t>
            </a:r>
            <a:r>
              <a:rPr lang="en-US" sz="1500" spc="-50" dirty="0">
                <a:solidFill>
                  <a:srgbClr val="FFFFFF"/>
                </a:solidFill>
              </a:rPr>
              <a:t> </a:t>
            </a:r>
            <a:r>
              <a:rPr lang="en-US" sz="1500" spc="-20" dirty="0">
                <a:solidFill>
                  <a:srgbClr val="FFFFFF"/>
                </a:solidFill>
              </a:rPr>
              <a:t>the </a:t>
            </a:r>
            <a:r>
              <a:rPr lang="en-US" sz="1500" spc="-15" dirty="0">
                <a:solidFill>
                  <a:srgbClr val="FFFFFF"/>
                </a:solidFill>
              </a:rPr>
              <a:t> </a:t>
            </a:r>
            <a:r>
              <a:rPr lang="en-US" sz="1500" spc="-55" dirty="0">
                <a:solidFill>
                  <a:srgbClr val="FFFFFF"/>
                </a:solidFill>
              </a:rPr>
              <a:t>highest </a:t>
            </a:r>
            <a:r>
              <a:rPr lang="en-US" sz="1500" spc="10" dirty="0">
                <a:solidFill>
                  <a:srgbClr val="FFFFFF"/>
                </a:solidFill>
              </a:rPr>
              <a:t>range </a:t>
            </a:r>
            <a:r>
              <a:rPr lang="en-US" sz="1500" spc="5" dirty="0">
                <a:solidFill>
                  <a:srgbClr val="FFFFFF"/>
                </a:solidFill>
              </a:rPr>
              <a:t>of </a:t>
            </a:r>
            <a:r>
              <a:rPr lang="en-US" sz="1500" spc="-35" dirty="0">
                <a:solidFill>
                  <a:srgbClr val="FFFFFF"/>
                </a:solidFill>
              </a:rPr>
              <a:t>prices </a:t>
            </a:r>
            <a:r>
              <a:rPr lang="en-US" sz="1500" spc="-70" dirty="0">
                <a:solidFill>
                  <a:srgbClr val="FFFFFF"/>
                </a:solidFill>
              </a:rPr>
              <a:t>for </a:t>
            </a:r>
            <a:r>
              <a:rPr lang="en-US" sz="1500" spc="-20" dirty="0">
                <a:solidFill>
                  <a:srgbClr val="FFFFFF"/>
                </a:solidFill>
              </a:rPr>
              <a:t>the </a:t>
            </a:r>
            <a:r>
              <a:rPr lang="en-US" sz="1500" spc="-620" dirty="0">
                <a:solidFill>
                  <a:srgbClr val="FFFFFF"/>
                </a:solidFill>
              </a:rPr>
              <a:t> </a:t>
            </a:r>
            <a:r>
              <a:rPr lang="en-US" sz="1500" spc="-120" dirty="0">
                <a:solidFill>
                  <a:srgbClr val="FFFFFF"/>
                </a:solidFill>
              </a:rPr>
              <a:t>listings.</a:t>
            </a:r>
            <a:endParaRPr lang="en-US" sz="1500" dirty="0">
              <a:solidFill>
                <a:srgbClr val="FFFFFF"/>
              </a:solidFill>
            </a:endParaRPr>
          </a:p>
          <a:p>
            <a:pPr marL="299085" marR="5715" indent="-28702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>
                <a:tab pos="299720" algn="l"/>
              </a:tabLst>
            </a:pPr>
            <a:r>
              <a:rPr lang="en-US" sz="1500" spc="-120" dirty="0">
                <a:solidFill>
                  <a:srgbClr val="FFFFFF"/>
                </a:solidFill>
              </a:rPr>
              <a:t>Br</a:t>
            </a:r>
            <a:r>
              <a:rPr lang="en-US" sz="1500" spc="-135" dirty="0">
                <a:solidFill>
                  <a:srgbClr val="FFFFFF"/>
                </a:solidFill>
              </a:rPr>
              <a:t>o</a:t>
            </a:r>
            <a:r>
              <a:rPr lang="en-US" sz="1500" spc="-55" dirty="0">
                <a:solidFill>
                  <a:srgbClr val="FFFFFF"/>
                </a:solidFill>
              </a:rPr>
              <a:t>n</a:t>
            </a:r>
            <a:r>
              <a:rPr lang="en-US" sz="1500" spc="-204" dirty="0">
                <a:solidFill>
                  <a:srgbClr val="FFFFFF"/>
                </a:solidFill>
              </a:rPr>
              <a:t>x</a:t>
            </a:r>
            <a:r>
              <a:rPr lang="en-US" sz="1500" spc="25" dirty="0">
                <a:solidFill>
                  <a:srgbClr val="FFFFFF"/>
                </a:solidFill>
              </a:rPr>
              <a:t> </a:t>
            </a:r>
            <a:r>
              <a:rPr lang="en-US" sz="1500" spc="-110" dirty="0">
                <a:solidFill>
                  <a:srgbClr val="FFFFFF"/>
                </a:solidFill>
              </a:rPr>
              <a:t>i</a:t>
            </a:r>
            <a:r>
              <a:rPr lang="en-US" sz="1500" spc="-245" dirty="0">
                <a:solidFill>
                  <a:srgbClr val="FFFFFF"/>
                </a:solidFill>
              </a:rPr>
              <a:t>s</a:t>
            </a:r>
            <a:r>
              <a:rPr lang="en-US" sz="1500" spc="20" dirty="0">
                <a:solidFill>
                  <a:srgbClr val="FFFFFF"/>
                </a:solidFill>
              </a:rPr>
              <a:t> </a:t>
            </a:r>
            <a:r>
              <a:rPr lang="en-US" sz="1500" spc="-114" dirty="0">
                <a:solidFill>
                  <a:srgbClr val="FFFFFF"/>
                </a:solidFill>
              </a:rPr>
              <a:t>t</a:t>
            </a:r>
            <a:r>
              <a:rPr lang="en-US" sz="1500" spc="-45" dirty="0">
                <a:solidFill>
                  <a:srgbClr val="FFFFFF"/>
                </a:solidFill>
              </a:rPr>
              <a:t>h</a:t>
            </a:r>
            <a:r>
              <a:rPr lang="en-US" sz="1500" spc="95" dirty="0">
                <a:solidFill>
                  <a:srgbClr val="FFFFFF"/>
                </a:solidFill>
              </a:rPr>
              <a:t>e</a:t>
            </a:r>
            <a:r>
              <a:rPr lang="en-US" sz="1500" spc="25" dirty="0">
                <a:solidFill>
                  <a:srgbClr val="FFFFFF"/>
                </a:solidFill>
              </a:rPr>
              <a:t> </a:t>
            </a:r>
            <a:r>
              <a:rPr lang="en-US" sz="1500" spc="229" dirty="0">
                <a:solidFill>
                  <a:srgbClr val="FFFFFF"/>
                </a:solidFill>
              </a:rPr>
              <a:t>c</a:t>
            </a:r>
            <a:r>
              <a:rPr lang="en-US" sz="1500" spc="-45" dirty="0">
                <a:solidFill>
                  <a:srgbClr val="FFFFFF"/>
                </a:solidFill>
              </a:rPr>
              <a:t>h</a:t>
            </a:r>
            <a:r>
              <a:rPr lang="en-US" sz="1500" spc="85" dirty="0">
                <a:solidFill>
                  <a:srgbClr val="FFFFFF"/>
                </a:solidFill>
              </a:rPr>
              <a:t>e</a:t>
            </a:r>
            <a:r>
              <a:rPr lang="en-US" sz="1500" spc="135" dirty="0">
                <a:solidFill>
                  <a:srgbClr val="FFFFFF"/>
                </a:solidFill>
              </a:rPr>
              <a:t>a</a:t>
            </a:r>
            <a:r>
              <a:rPr lang="en-US" sz="1500" spc="110" dirty="0">
                <a:solidFill>
                  <a:srgbClr val="FFFFFF"/>
                </a:solidFill>
              </a:rPr>
              <a:t>p</a:t>
            </a:r>
            <a:r>
              <a:rPr lang="en-US" sz="1500" spc="85" dirty="0">
                <a:solidFill>
                  <a:srgbClr val="FFFFFF"/>
                </a:solidFill>
              </a:rPr>
              <a:t>e</a:t>
            </a:r>
            <a:r>
              <a:rPr lang="en-US" sz="1500" spc="-235" dirty="0">
                <a:solidFill>
                  <a:srgbClr val="FFFFFF"/>
                </a:solidFill>
              </a:rPr>
              <a:t>s</a:t>
            </a:r>
            <a:r>
              <a:rPr lang="en-US" sz="1500" spc="-100" dirty="0">
                <a:solidFill>
                  <a:srgbClr val="FFFFFF"/>
                </a:solidFill>
              </a:rPr>
              <a:t>t</a:t>
            </a:r>
            <a:r>
              <a:rPr lang="en-US" sz="1500" spc="20" dirty="0">
                <a:solidFill>
                  <a:srgbClr val="FFFFFF"/>
                </a:solidFill>
              </a:rPr>
              <a:t> </a:t>
            </a:r>
            <a:r>
              <a:rPr lang="en-US" sz="1500" spc="5" dirty="0">
                <a:solidFill>
                  <a:srgbClr val="FFFFFF"/>
                </a:solidFill>
              </a:rPr>
              <a:t>of</a:t>
            </a:r>
            <a:r>
              <a:rPr lang="en-US" sz="1500" spc="35" dirty="0">
                <a:solidFill>
                  <a:srgbClr val="FFFFFF"/>
                </a:solidFill>
              </a:rPr>
              <a:t> </a:t>
            </a:r>
            <a:r>
              <a:rPr lang="en-US" sz="1500" spc="-55" dirty="0">
                <a:solidFill>
                  <a:srgbClr val="FFFFFF"/>
                </a:solidFill>
              </a:rPr>
              <a:t>t</a:t>
            </a:r>
            <a:r>
              <a:rPr lang="en-US" sz="1500" spc="-85" dirty="0">
                <a:solidFill>
                  <a:srgbClr val="FFFFFF"/>
                </a:solidFill>
              </a:rPr>
              <a:t>h</a:t>
            </a:r>
            <a:r>
              <a:rPr lang="en-US" sz="1500" spc="85" dirty="0">
                <a:solidFill>
                  <a:srgbClr val="FFFFFF"/>
                </a:solidFill>
              </a:rPr>
              <a:t>e</a:t>
            </a:r>
            <a:r>
              <a:rPr lang="en-US" sz="1500" spc="-40" dirty="0">
                <a:solidFill>
                  <a:srgbClr val="FFFFFF"/>
                </a:solidFill>
              </a:rPr>
              <a:t>m  </a:t>
            </a:r>
            <a:r>
              <a:rPr lang="en-US" sz="1500" spc="-70" dirty="0">
                <a:solidFill>
                  <a:srgbClr val="FFFFFF"/>
                </a:solidFill>
              </a:rPr>
              <a:t>all.</a:t>
            </a:r>
            <a:endParaRPr lang="en-US" sz="1500" dirty="0">
              <a:solidFill>
                <a:srgbClr val="FFFFFF"/>
              </a:solidFill>
            </a:endParaRPr>
          </a:p>
          <a:p>
            <a:pPr marL="299085" marR="5080" indent="-28702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>
                <a:tab pos="299720" algn="l"/>
              </a:tabLst>
            </a:pPr>
            <a:r>
              <a:rPr lang="en-US" sz="1500" spc="10" dirty="0">
                <a:solidFill>
                  <a:srgbClr val="FFFFFF"/>
                </a:solidFill>
              </a:rPr>
              <a:t>We</a:t>
            </a:r>
            <a:r>
              <a:rPr lang="en-US" sz="1500" spc="-20" dirty="0">
                <a:solidFill>
                  <a:srgbClr val="FFFFFF"/>
                </a:solidFill>
              </a:rPr>
              <a:t> </a:t>
            </a:r>
            <a:r>
              <a:rPr lang="en-US" sz="1500" spc="110" dirty="0">
                <a:solidFill>
                  <a:srgbClr val="FFFFFF"/>
                </a:solidFill>
              </a:rPr>
              <a:t>can</a:t>
            </a:r>
            <a:r>
              <a:rPr lang="en-US" sz="1500" spc="-30" dirty="0">
                <a:solidFill>
                  <a:srgbClr val="FFFFFF"/>
                </a:solidFill>
              </a:rPr>
              <a:t> </a:t>
            </a:r>
            <a:r>
              <a:rPr lang="en-US" sz="1500" spc="-15" dirty="0">
                <a:solidFill>
                  <a:srgbClr val="FFFFFF"/>
                </a:solidFill>
              </a:rPr>
              <a:t>see</a:t>
            </a:r>
            <a:r>
              <a:rPr lang="en-US" sz="1500" spc="-35" dirty="0">
                <a:solidFill>
                  <a:srgbClr val="FFFFFF"/>
                </a:solidFill>
              </a:rPr>
              <a:t> </a:t>
            </a:r>
            <a:r>
              <a:rPr lang="en-US" sz="1500" spc="-15" dirty="0">
                <a:solidFill>
                  <a:srgbClr val="FFFFFF"/>
                </a:solidFill>
              </a:rPr>
              <a:t>the</a:t>
            </a:r>
            <a:r>
              <a:rPr lang="en-US" sz="1500" spc="-30" dirty="0">
                <a:solidFill>
                  <a:srgbClr val="FFFFFF"/>
                </a:solidFill>
              </a:rPr>
              <a:t> </a:t>
            </a:r>
            <a:r>
              <a:rPr lang="en-US" sz="1500" spc="20" dirty="0">
                <a:solidFill>
                  <a:srgbClr val="FFFFFF"/>
                </a:solidFill>
              </a:rPr>
              <a:t>median</a:t>
            </a:r>
            <a:r>
              <a:rPr lang="en-US" sz="1500" spc="-30" dirty="0">
                <a:solidFill>
                  <a:srgbClr val="FFFFFF"/>
                </a:solidFill>
              </a:rPr>
              <a:t> </a:t>
            </a:r>
            <a:r>
              <a:rPr lang="en-US" sz="1500" spc="10" dirty="0">
                <a:solidFill>
                  <a:srgbClr val="FFFFFF"/>
                </a:solidFill>
              </a:rPr>
              <a:t>price </a:t>
            </a:r>
            <a:r>
              <a:rPr lang="en-US" sz="1500" spc="-620" dirty="0">
                <a:solidFill>
                  <a:srgbClr val="FFFFFF"/>
                </a:solidFill>
              </a:rPr>
              <a:t> </a:t>
            </a:r>
            <a:r>
              <a:rPr lang="en-US" sz="1500" spc="5" dirty="0">
                <a:solidFill>
                  <a:srgbClr val="FFFFFF"/>
                </a:solidFill>
              </a:rPr>
              <a:t>of </a:t>
            </a:r>
            <a:r>
              <a:rPr lang="en-US" sz="1500" spc="-45" dirty="0">
                <a:solidFill>
                  <a:srgbClr val="FFFFFF"/>
                </a:solidFill>
              </a:rPr>
              <a:t>all </a:t>
            </a:r>
            <a:r>
              <a:rPr lang="en-US" sz="1500" spc="5" dirty="0" err="1">
                <a:solidFill>
                  <a:srgbClr val="FFFFFF"/>
                </a:solidFill>
              </a:rPr>
              <a:t>neighbourhood</a:t>
            </a:r>
            <a:r>
              <a:rPr lang="en-US" sz="1500" spc="5" dirty="0">
                <a:solidFill>
                  <a:srgbClr val="FFFFFF"/>
                </a:solidFill>
              </a:rPr>
              <a:t> </a:t>
            </a:r>
            <a:r>
              <a:rPr lang="en-US" sz="1500" spc="-45" dirty="0">
                <a:solidFill>
                  <a:srgbClr val="FFFFFF"/>
                </a:solidFill>
              </a:rPr>
              <a:t>groups </a:t>
            </a:r>
            <a:r>
              <a:rPr lang="en-US" sz="1500" spc="-40" dirty="0">
                <a:solidFill>
                  <a:srgbClr val="FFFFFF"/>
                </a:solidFill>
              </a:rPr>
              <a:t> </a:t>
            </a:r>
            <a:r>
              <a:rPr lang="en-US" sz="1500" spc="-125" dirty="0">
                <a:solidFill>
                  <a:srgbClr val="FFFFFF"/>
                </a:solidFill>
              </a:rPr>
              <a:t>l</a:t>
            </a:r>
            <a:r>
              <a:rPr lang="en-US" sz="1500" spc="-165" dirty="0">
                <a:solidFill>
                  <a:srgbClr val="FFFFFF"/>
                </a:solidFill>
              </a:rPr>
              <a:t>y</a:t>
            </a:r>
            <a:r>
              <a:rPr lang="en-US" sz="1500" spc="-60" dirty="0">
                <a:solidFill>
                  <a:srgbClr val="FFFFFF"/>
                </a:solidFill>
              </a:rPr>
              <a:t>i</a:t>
            </a:r>
            <a:r>
              <a:rPr lang="en-US" sz="1500" spc="-55" dirty="0">
                <a:solidFill>
                  <a:srgbClr val="FFFFFF"/>
                </a:solidFill>
              </a:rPr>
              <a:t>n</a:t>
            </a:r>
            <a:r>
              <a:rPr lang="en-US" sz="1500" spc="85" dirty="0">
                <a:solidFill>
                  <a:srgbClr val="FFFFFF"/>
                </a:solidFill>
              </a:rPr>
              <a:t>g</a:t>
            </a:r>
            <a:r>
              <a:rPr lang="en-US" sz="1500" spc="-155" dirty="0">
                <a:solidFill>
                  <a:srgbClr val="FFFFFF"/>
                </a:solidFill>
              </a:rPr>
              <a:t> </a:t>
            </a:r>
            <a:r>
              <a:rPr lang="en-US" sz="1500" spc="95" dirty="0">
                <a:solidFill>
                  <a:srgbClr val="FFFFFF"/>
                </a:solidFill>
              </a:rPr>
              <a:t>b</a:t>
            </a:r>
            <a:r>
              <a:rPr lang="en-US" sz="1500" spc="85" dirty="0">
                <a:solidFill>
                  <a:srgbClr val="FFFFFF"/>
                </a:solidFill>
              </a:rPr>
              <a:t>e</a:t>
            </a:r>
            <a:r>
              <a:rPr lang="en-US" sz="1500" spc="-114" dirty="0">
                <a:solidFill>
                  <a:srgbClr val="FFFFFF"/>
                </a:solidFill>
              </a:rPr>
              <a:t>t</a:t>
            </a:r>
            <a:r>
              <a:rPr lang="en-US" sz="1500" dirty="0">
                <a:solidFill>
                  <a:srgbClr val="FFFFFF"/>
                </a:solidFill>
              </a:rPr>
              <a:t>w</a:t>
            </a:r>
            <a:r>
              <a:rPr lang="en-US" sz="1500" spc="95" dirty="0">
                <a:solidFill>
                  <a:srgbClr val="FFFFFF"/>
                </a:solidFill>
              </a:rPr>
              <a:t>ee</a:t>
            </a:r>
            <a:r>
              <a:rPr lang="en-US" sz="1500" spc="-45" dirty="0">
                <a:solidFill>
                  <a:srgbClr val="FFFFFF"/>
                </a:solidFill>
              </a:rPr>
              <a:t>n</a:t>
            </a:r>
            <a:r>
              <a:rPr lang="en-US" sz="1500" spc="-80" dirty="0">
                <a:solidFill>
                  <a:srgbClr val="FFFFFF"/>
                </a:solidFill>
              </a:rPr>
              <a:t> </a:t>
            </a:r>
            <a:r>
              <a:rPr lang="en-US" sz="1500" spc="-150" dirty="0">
                <a:solidFill>
                  <a:srgbClr val="FFFFFF"/>
                </a:solidFill>
              </a:rPr>
              <a:t>$</a:t>
            </a:r>
            <a:r>
              <a:rPr lang="en-US" sz="1500" spc="-135" dirty="0">
                <a:solidFill>
                  <a:srgbClr val="FFFFFF"/>
                </a:solidFill>
              </a:rPr>
              <a:t> </a:t>
            </a:r>
            <a:r>
              <a:rPr lang="en-US" sz="1500" spc="-155" dirty="0">
                <a:solidFill>
                  <a:srgbClr val="FFFFFF"/>
                </a:solidFill>
              </a:rPr>
              <a:t>8</a:t>
            </a:r>
            <a:r>
              <a:rPr lang="en-US" sz="1500" spc="-150" dirty="0">
                <a:solidFill>
                  <a:srgbClr val="FFFFFF"/>
                </a:solidFill>
              </a:rPr>
              <a:t>0</a:t>
            </a:r>
            <a:r>
              <a:rPr lang="en-US" sz="1500" spc="-120" dirty="0">
                <a:solidFill>
                  <a:srgbClr val="FFFFFF"/>
                </a:solidFill>
              </a:rPr>
              <a:t> </a:t>
            </a:r>
            <a:r>
              <a:rPr lang="en-US" sz="1500" spc="-20" dirty="0">
                <a:solidFill>
                  <a:srgbClr val="FFFFFF"/>
                </a:solidFill>
              </a:rPr>
              <a:t>t</a:t>
            </a:r>
            <a:r>
              <a:rPr lang="en-US" sz="1500" spc="-10" dirty="0">
                <a:solidFill>
                  <a:srgbClr val="FFFFFF"/>
                </a:solidFill>
              </a:rPr>
              <a:t>o</a:t>
            </a:r>
            <a:r>
              <a:rPr lang="en-US" sz="1500" spc="-135" dirty="0">
                <a:solidFill>
                  <a:srgbClr val="FFFFFF"/>
                </a:solidFill>
              </a:rPr>
              <a:t> </a:t>
            </a:r>
            <a:r>
              <a:rPr lang="en-US" sz="1500" spc="-150" dirty="0">
                <a:solidFill>
                  <a:srgbClr val="FFFFFF"/>
                </a:solidFill>
              </a:rPr>
              <a:t>$</a:t>
            </a:r>
            <a:r>
              <a:rPr lang="en-US" sz="1500" spc="-135" dirty="0">
                <a:solidFill>
                  <a:srgbClr val="FFFFFF"/>
                </a:solidFill>
              </a:rPr>
              <a:t> </a:t>
            </a:r>
            <a:r>
              <a:rPr lang="en-US" sz="1500" spc="-155" dirty="0">
                <a:solidFill>
                  <a:srgbClr val="FFFFFF"/>
                </a:solidFill>
              </a:rPr>
              <a:t>300</a:t>
            </a:r>
            <a:r>
              <a:rPr lang="en-US" sz="1500" spc="-160" dirty="0">
                <a:solidFill>
                  <a:srgbClr val="FFFFFF"/>
                </a:solidFill>
              </a:rPr>
              <a:t>.</a:t>
            </a:r>
            <a:endParaRPr lang="en-US" sz="1500" dirty="0">
              <a:solidFill>
                <a:srgbClr val="FFFFFF"/>
              </a:solidFill>
            </a:endParaRPr>
          </a:p>
          <a:p>
            <a:pPr marL="299085" marR="5080" indent="-28702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>
                <a:tab pos="299720" algn="l"/>
              </a:tabLst>
            </a:pPr>
            <a:r>
              <a:rPr lang="en-US" sz="1500" spc="-15" dirty="0">
                <a:solidFill>
                  <a:srgbClr val="FFFFFF"/>
                </a:solidFill>
              </a:rPr>
              <a:t>Price</a:t>
            </a:r>
            <a:r>
              <a:rPr lang="en-US" sz="1500" spc="605" dirty="0">
                <a:solidFill>
                  <a:srgbClr val="FFFFFF"/>
                </a:solidFill>
              </a:rPr>
              <a:t> </a:t>
            </a:r>
            <a:r>
              <a:rPr lang="en-US" sz="1500" spc="-35" dirty="0">
                <a:solidFill>
                  <a:srgbClr val="FFFFFF"/>
                </a:solidFill>
              </a:rPr>
              <a:t>was</a:t>
            </a:r>
            <a:r>
              <a:rPr lang="en-US" sz="1500" spc="-30" dirty="0">
                <a:solidFill>
                  <a:srgbClr val="FFFFFF"/>
                </a:solidFill>
              </a:rPr>
              <a:t> </a:t>
            </a:r>
            <a:r>
              <a:rPr lang="en-US" sz="1500" spc="-60" dirty="0">
                <a:solidFill>
                  <a:srgbClr val="FFFFFF"/>
                </a:solidFill>
              </a:rPr>
              <a:t>highly</a:t>
            </a:r>
            <a:r>
              <a:rPr lang="en-US" sz="1500" spc="-55" dirty="0">
                <a:solidFill>
                  <a:srgbClr val="FFFFFF"/>
                </a:solidFill>
              </a:rPr>
              <a:t> </a:t>
            </a:r>
            <a:r>
              <a:rPr lang="en-US" sz="1500" spc="-65" dirty="0">
                <a:solidFill>
                  <a:srgbClr val="FFFFFF"/>
                </a:solidFill>
              </a:rPr>
              <a:t>positively </a:t>
            </a:r>
            <a:r>
              <a:rPr lang="en-US" sz="1500" spc="-620" dirty="0">
                <a:solidFill>
                  <a:srgbClr val="FFFFFF"/>
                </a:solidFill>
              </a:rPr>
              <a:t> </a:t>
            </a:r>
            <a:r>
              <a:rPr lang="en-US" sz="1500" spc="-20" dirty="0">
                <a:solidFill>
                  <a:srgbClr val="FFFFFF"/>
                </a:solidFill>
              </a:rPr>
              <a:t>skewed </a:t>
            </a:r>
            <a:r>
              <a:rPr lang="en-US" sz="1500" spc="-80" dirty="0">
                <a:solidFill>
                  <a:srgbClr val="FFFFFF"/>
                </a:solidFill>
              </a:rPr>
              <a:t>so </a:t>
            </a:r>
            <a:r>
              <a:rPr lang="en-US" sz="1500" spc="20" dirty="0">
                <a:solidFill>
                  <a:srgbClr val="FFFFFF"/>
                </a:solidFill>
              </a:rPr>
              <a:t>median </a:t>
            </a:r>
            <a:r>
              <a:rPr lang="en-US" sz="1500" spc="-35" dirty="0">
                <a:solidFill>
                  <a:srgbClr val="FFFFFF"/>
                </a:solidFill>
              </a:rPr>
              <a:t>was </a:t>
            </a:r>
            <a:r>
              <a:rPr lang="en-US" sz="1500" spc="-80" dirty="0">
                <a:solidFill>
                  <a:srgbClr val="FFFFFF"/>
                </a:solidFill>
              </a:rPr>
              <a:t>very </a:t>
            </a:r>
            <a:r>
              <a:rPr lang="en-US" sz="1500" spc="-75" dirty="0">
                <a:solidFill>
                  <a:srgbClr val="FFFFFF"/>
                </a:solidFill>
              </a:rPr>
              <a:t> </a:t>
            </a:r>
            <a:r>
              <a:rPr lang="en-US" sz="1500" spc="5" dirty="0">
                <a:solidFill>
                  <a:srgbClr val="FFFFFF"/>
                </a:solidFill>
              </a:rPr>
              <a:t>close </a:t>
            </a:r>
            <a:r>
              <a:rPr lang="en-US" sz="1500" spc="-15" dirty="0">
                <a:solidFill>
                  <a:srgbClr val="FFFFFF"/>
                </a:solidFill>
              </a:rPr>
              <a:t>the </a:t>
            </a:r>
            <a:r>
              <a:rPr lang="en-US" sz="1500" spc="-35" dirty="0">
                <a:solidFill>
                  <a:srgbClr val="FFFFFF"/>
                </a:solidFill>
              </a:rPr>
              <a:t>lower </a:t>
            </a:r>
            <a:r>
              <a:rPr lang="en-US" sz="1500" spc="-40" dirty="0">
                <a:solidFill>
                  <a:srgbClr val="FFFFFF"/>
                </a:solidFill>
              </a:rPr>
              <a:t>quartile </a:t>
            </a:r>
            <a:r>
              <a:rPr lang="en-US" sz="1500" spc="-65" dirty="0">
                <a:solidFill>
                  <a:srgbClr val="FFFFFF"/>
                </a:solidFill>
              </a:rPr>
              <a:t>with </a:t>
            </a:r>
            <a:r>
              <a:rPr lang="en-US" sz="1500" spc="-60" dirty="0">
                <a:solidFill>
                  <a:srgbClr val="FFFFFF"/>
                </a:solidFill>
              </a:rPr>
              <a:t> </a:t>
            </a:r>
            <a:r>
              <a:rPr lang="en-US" sz="1500" spc="-35" dirty="0">
                <a:solidFill>
                  <a:srgbClr val="FFFFFF"/>
                </a:solidFill>
              </a:rPr>
              <a:t>some </a:t>
            </a:r>
            <a:r>
              <a:rPr lang="en-US" sz="1500" spc="-90" dirty="0">
                <a:solidFill>
                  <a:srgbClr val="FFFFFF"/>
                </a:solidFill>
              </a:rPr>
              <a:t>outliers</a:t>
            </a:r>
            <a:r>
              <a:rPr lang="en-US" sz="1500" spc="-85" dirty="0">
                <a:solidFill>
                  <a:srgbClr val="FFFFFF"/>
                </a:solidFill>
              </a:rPr>
              <a:t> </a:t>
            </a:r>
            <a:r>
              <a:rPr lang="en-US" sz="1500" spc="-55" dirty="0">
                <a:solidFill>
                  <a:srgbClr val="FFFFFF"/>
                </a:solidFill>
              </a:rPr>
              <a:t>as </a:t>
            </a:r>
            <a:r>
              <a:rPr lang="en-US" sz="1500" spc="-25" dirty="0">
                <a:solidFill>
                  <a:srgbClr val="FFFFFF"/>
                </a:solidFill>
              </a:rPr>
              <a:t>seen </a:t>
            </a:r>
            <a:r>
              <a:rPr lang="en-US" sz="1500" spc="-80" dirty="0">
                <a:solidFill>
                  <a:srgbClr val="FFFFFF"/>
                </a:solidFill>
              </a:rPr>
              <a:t>in</a:t>
            </a:r>
            <a:r>
              <a:rPr lang="en-US" sz="1500" spc="-75" dirty="0">
                <a:solidFill>
                  <a:srgbClr val="FFFFFF"/>
                </a:solidFill>
              </a:rPr>
              <a:t> </a:t>
            </a:r>
            <a:r>
              <a:rPr lang="en-US" sz="1500" spc="-15" dirty="0">
                <a:solidFill>
                  <a:srgbClr val="FFFFFF"/>
                </a:solidFill>
              </a:rPr>
              <a:t>the </a:t>
            </a:r>
            <a:r>
              <a:rPr lang="en-US" sz="1500" spc="-10" dirty="0">
                <a:solidFill>
                  <a:srgbClr val="FFFFFF"/>
                </a:solidFill>
              </a:rPr>
              <a:t> boxplot</a:t>
            </a:r>
            <a:r>
              <a:rPr lang="en-US" sz="1500" spc="-145" dirty="0">
                <a:solidFill>
                  <a:srgbClr val="FFFFFF"/>
                </a:solidFill>
              </a:rPr>
              <a:t> </a:t>
            </a:r>
            <a:r>
              <a:rPr lang="en-US" sz="1500" spc="-5" dirty="0">
                <a:solidFill>
                  <a:srgbClr val="FFFFFF"/>
                </a:solidFill>
              </a:rPr>
              <a:t>below.</a:t>
            </a:r>
            <a:endParaRPr lang="en-US" sz="1500" dirty="0">
              <a:solidFill>
                <a:srgbClr val="FFFFFF"/>
              </a:solidFill>
            </a:endParaRPr>
          </a:p>
        </p:txBody>
      </p:sp>
      <p:pic>
        <p:nvPicPr>
          <p:cNvPr id="3" name="object 3" descr="A screenshot of a computer screen&#10;&#10;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68800" y="1574407"/>
            <a:ext cx="6866506" cy="3707912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110" y="826346"/>
            <a:ext cx="3171905" cy="101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spc="35">
                <a:solidFill>
                  <a:srgbClr val="FFFFFF"/>
                </a:solidFill>
              </a:rPr>
              <a:t>Average</a:t>
            </a:r>
            <a:r>
              <a:rPr lang="en-US" sz="2200" spc="-50">
                <a:solidFill>
                  <a:srgbClr val="FFFFFF"/>
                </a:solidFill>
              </a:rPr>
              <a:t> </a:t>
            </a:r>
            <a:r>
              <a:rPr lang="en-US" sz="2200">
                <a:solidFill>
                  <a:srgbClr val="FFFFFF"/>
                </a:solidFill>
              </a:rPr>
              <a:t>price</a:t>
            </a:r>
            <a:r>
              <a:rPr lang="en-US" sz="2200" spc="-55">
                <a:solidFill>
                  <a:srgbClr val="FFFFFF"/>
                </a:solidFill>
              </a:rPr>
              <a:t> </a:t>
            </a:r>
            <a:r>
              <a:rPr lang="en-US" sz="2200" spc="-100">
                <a:solidFill>
                  <a:srgbClr val="FFFFFF"/>
                </a:solidFill>
              </a:rPr>
              <a:t>of</a:t>
            </a:r>
            <a:endParaRPr lang="en-US" sz="22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200" spc="-25">
                <a:solidFill>
                  <a:srgbClr val="FFFFFF"/>
                </a:solidFill>
              </a:rPr>
              <a:t>Neighbourhood</a:t>
            </a:r>
            <a:r>
              <a:rPr lang="en-US" sz="2200" spc="-70">
                <a:solidFill>
                  <a:srgbClr val="FFFFFF"/>
                </a:solidFill>
              </a:rPr>
              <a:t> </a:t>
            </a:r>
            <a:r>
              <a:rPr lang="en-US" sz="2200" spc="-65">
                <a:solidFill>
                  <a:srgbClr val="FFFFFF"/>
                </a:solidFill>
              </a:rPr>
              <a:t>groups</a:t>
            </a:r>
            <a:endParaRPr lang="en-US" sz="2200">
              <a:solidFill>
                <a:srgbClr val="FFFFFF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110" y="2052084"/>
            <a:ext cx="3033249" cy="3856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99085" marR="9525" indent="-28702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>
                <a:tab pos="299720" algn="l"/>
              </a:tabLst>
            </a:pPr>
            <a:r>
              <a:rPr lang="en-US" sz="1600" spc="-105">
                <a:solidFill>
                  <a:srgbClr val="FFFFFF"/>
                </a:solidFill>
              </a:rPr>
              <a:t>The</a:t>
            </a:r>
            <a:r>
              <a:rPr lang="en-US" sz="1600" spc="-100">
                <a:solidFill>
                  <a:srgbClr val="FFFFFF"/>
                </a:solidFill>
              </a:rPr>
              <a:t> </a:t>
            </a:r>
            <a:r>
              <a:rPr lang="en-US" sz="1600" spc="35">
                <a:solidFill>
                  <a:srgbClr val="FFFFFF"/>
                </a:solidFill>
              </a:rPr>
              <a:t>average</a:t>
            </a:r>
            <a:r>
              <a:rPr lang="en-US" sz="1600" spc="705">
                <a:solidFill>
                  <a:srgbClr val="FFFFFF"/>
                </a:solidFill>
              </a:rPr>
              <a:t> </a:t>
            </a:r>
            <a:r>
              <a:rPr lang="en-US" sz="1600" spc="15">
                <a:solidFill>
                  <a:srgbClr val="FFFFFF"/>
                </a:solidFill>
              </a:rPr>
              <a:t>price</a:t>
            </a:r>
            <a:r>
              <a:rPr lang="en-US" sz="1600" spc="20">
                <a:solidFill>
                  <a:srgbClr val="FFFFFF"/>
                </a:solidFill>
              </a:rPr>
              <a:t> </a:t>
            </a:r>
            <a:r>
              <a:rPr lang="en-US" sz="1600" spc="5">
                <a:solidFill>
                  <a:srgbClr val="FFFFFF"/>
                </a:solidFill>
              </a:rPr>
              <a:t>of</a:t>
            </a:r>
            <a:r>
              <a:rPr lang="en-US" sz="1600" spc="10">
                <a:solidFill>
                  <a:srgbClr val="FFFFFF"/>
                </a:solidFill>
              </a:rPr>
              <a:t> </a:t>
            </a:r>
            <a:r>
              <a:rPr lang="en-US" sz="1600" spc="-70">
                <a:solidFill>
                  <a:srgbClr val="FFFFFF"/>
                </a:solidFill>
              </a:rPr>
              <a:t>listed </a:t>
            </a:r>
            <a:r>
              <a:rPr lang="en-US" sz="1600" spc="-65">
                <a:solidFill>
                  <a:srgbClr val="FFFFFF"/>
                </a:solidFill>
              </a:rPr>
              <a:t> </a:t>
            </a:r>
            <a:r>
              <a:rPr lang="en-US" sz="1600" spc="-20">
                <a:solidFill>
                  <a:srgbClr val="FFFFFF"/>
                </a:solidFill>
              </a:rPr>
              <a:t>pr</a:t>
            </a:r>
            <a:r>
              <a:rPr lang="en-US" sz="1600" spc="-25">
                <a:solidFill>
                  <a:srgbClr val="FFFFFF"/>
                </a:solidFill>
              </a:rPr>
              <a:t>o</a:t>
            </a:r>
            <a:r>
              <a:rPr lang="en-US" sz="1600" spc="95">
                <a:solidFill>
                  <a:srgbClr val="FFFFFF"/>
                </a:solidFill>
              </a:rPr>
              <a:t>p</a:t>
            </a:r>
            <a:r>
              <a:rPr lang="en-US" sz="1600" spc="85">
                <a:solidFill>
                  <a:srgbClr val="FFFFFF"/>
                </a:solidFill>
              </a:rPr>
              <a:t>e</a:t>
            </a:r>
            <a:r>
              <a:rPr lang="en-US" sz="1600" spc="-225">
                <a:solidFill>
                  <a:srgbClr val="FFFFFF"/>
                </a:solidFill>
              </a:rPr>
              <a:t>r</a:t>
            </a:r>
            <a:r>
              <a:rPr lang="en-US" sz="1600" spc="-114">
                <a:solidFill>
                  <a:srgbClr val="FFFFFF"/>
                </a:solidFill>
              </a:rPr>
              <a:t>ti</a:t>
            </a:r>
            <a:r>
              <a:rPr lang="en-US" sz="1600" spc="85">
                <a:solidFill>
                  <a:srgbClr val="FFFFFF"/>
                </a:solidFill>
              </a:rPr>
              <a:t>e</a:t>
            </a:r>
            <a:r>
              <a:rPr lang="en-US" sz="1600" spc="-240">
                <a:solidFill>
                  <a:srgbClr val="FFFFFF"/>
                </a:solidFill>
              </a:rPr>
              <a:t>s</a:t>
            </a:r>
            <a:r>
              <a:rPr lang="en-US" sz="1600" spc="-130">
                <a:solidFill>
                  <a:srgbClr val="FFFFFF"/>
                </a:solidFill>
              </a:rPr>
              <a:t> </a:t>
            </a:r>
            <a:r>
              <a:rPr lang="en-US" sz="1600" spc="-35">
                <a:solidFill>
                  <a:srgbClr val="FFFFFF"/>
                </a:solidFill>
              </a:rPr>
              <a:t>i</a:t>
            </a:r>
            <a:r>
              <a:rPr lang="en-US" sz="1600" spc="-125">
                <a:solidFill>
                  <a:srgbClr val="FFFFFF"/>
                </a:solidFill>
              </a:rPr>
              <a:t>n </a:t>
            </a:r>
            <a:r>
              <a:rPr lang="en-US" sz="1600" spc="145">
                <a:solidFill>
                  <a:srgbClr val="FFFFFF"/>
                </a:solidFill>
              </a:rPr>
              <a:t>M</a:t>
            </a:r>
            <a:r>
              <a:rPr lang="en-US" sz="1600" spc="135">
                <a:solidFill>
                  <a:srgbClr val="FFFFFF"/>
                </a:solidFill>
              </a:rPr>
              <a:t>a</a:t>
            </a:r>
            <a:r>
              <a:rPr lang="en-US" sz="1600" spc="-55">
                <a:solidFill>
                  <a:srgbClr val="FFFFFF"/>
                </a:solidFill>
              </a:rPr>
              <a:t>nh</a:t>
            </a:r>
            <a:r>
              <a:rPr lang="en-US" sz="1600" spc="135">
                <a:solidFill>
                  <a:srgbClr val="FFFFFF"/>
                </a:solidFill>
              </a:rPr>
              <a:t>a</a:t>
            </a:r>
            <a:r>
              <a:rPr lang="en-US" sz="1600" spc="-100">
                <a:solidFill>
                  <a:srgbClr val="FFFFFF"/>
                </a:solidFill>
              </a:rPr>
              <a:t>t</a:t>
            </a:r>
            <a:r>
              <a:rPr lang="en-US" sz="1600" spc="-110">
                <a:solidFill>
                  <a:srgbClr val="FFFFFF"/>
                </a:solidFill>
              </a:rPr>
              <a:t>t</a:t>
            </a:r>
            <a:r>
              <a:rPr lang="en-US" sz="1600" spc="150">
                <a:solidFill>
                  <a:srgbClr val="FFFFFF"/>
                </a:solidFill>
              </a:rPr>
              <a:t>a</a:t>
            </a:r>
            <a:r>
              <a:rPr lang="en-US" sz="1600" spc="-45">
                <a:solidFill>
                  <a:srgbClr val="FFFFFF"/>
                </a:solidFill>
              </a:rPr>
              <a:t>n</a:t>
            </a:r>
            <a:r>
              <a:rPr lang="en-US" sz="1600" spc="-120">
                <a:solidFill>
                  <a:srgbClr val="FFFFFF"/>
                </a:solidFill>
              </a:rPr>
              <a:t> </a:t>
            </a:r>
            <a:r>
              <a:rPr lang="en-US" sz="1600" spc="-110">
                <a:solidFill>
                  <a:srgbClr val="FFFFFF"/>
                </a:solidFill>
              </a:rPr>
              <a:t>i</a:t>
            </a:r>
            <a:r>
              <a:rPr lang="en-US" sz="1600" spc="-245">
                <a:solidFill>
                  <a:srgbClr val="FFFFFF"/>
                </a:solidFill>
              </a:rPr>
              <a:t>s</a:t>
            </a:r>
            <a:r>
              <a:rPr lang="en-US" sz="1600" spc="-135">
                <a:solidFill>
                  <a:srgbClr val="FFFFFF"/>
                </a:solidFill>
              </a:rPr>
              <a:t> </a:t>
            </a:r>
            <a:r>
              <a:rPr lang="en-US" sz="1600" spc="135">
                <a:solidFill>
                  <a:srgbClr val="FFFFFF"/>
                </a:solidFill>
              </a:rPr>
              <a:t>a</a:t>
            </a:r>
            <a:r>
              <a:rPr lang="en-US" sz="1600" spc="-60">
                <a:solidFill>
                  <a:srgbClr val="FFFFFF"/>
                </a:solidFill>
              </a:rPr>
              <a:t>ro</a:t>
            </a:r>
            <a:r>
              <a:rPr lang="en-US" sz="1600" spc="-85">
                <a:solidFill>
                  <a:srgbClr val="FFFFFF"/>
                </a:solidFill>
              </a:rPr>
              <a:t>u</a:t>
            </a:r>
            <a:r>
              <a:rPr lang="en-US" sz="1600" spc="-55">
                <a:solidFill>
                  <a:srgbClr val="FFFFFF"/>
                </a:solidFill>
              </a:rPr>
              <a:t>n</a:t>
            </a:r>
            <a:r>
              <a:rPr lang="en-US" sz="1600" spc="75">
                <a:solidFill>
                  <a:srgbClr val="FFFFFF"/>
                </a:solidFill>
              </a:rPr>
              <a:t>d  </a:t>
            </a:r>
            <a:r>
              <a:rPr lang="en-US" sz="1600" spc="-150">
                <a:solidFill>
                  <a:srgbClr val="FFFFFF"/>
                </a:solidFill>
              </a:rPr>
              <a:t>196.9, </a:t>
            </a:r>
            <a:r>
              <a:rPr lang="en-US" sz="1600">
                <a:solidFill>
                  <a:srgbClr val="FFFFFF"/>
                </a:solidFill>
              </a:rPr>
              <a:t>which </a:t>
            </a:r>
            <a:r>
              <a:rPr lang="en-US" sz="1600" spc="-185">
                <a:solidFill>
                  <a:srgbClr val="FFFFFF"/>
                </a:solidFill>
              </a:rPr>
              <a:t>is </a:t>
            </a:r>
            <a:r>
              <a:rPr lang="en-US" sz="1600" spc="-50">
                <a:solidFill>
                  <a:srgbClr val="FFFFFF"/>
                </a:solidFill>
              </a:rPr>
              <a:t>highest </a:t>
            </a:r>
            <a:r>
              <a:rPr lang="en-US" sz="1600" spc="40">
                <a:solidFill>
                  <a:srgbClr val="FFFFFF"/>
                </a:solidFill>
              </a:rPr>
              <a:t>among </a:t>
            </a:r>
            <a:r>
              <a:rPr lang="en-US" sz="1600" spc="-50">
                <a:solidFill>
                  <a:srgbClr val="FFFFFF"/>
                </a:solidFill>
              </a:rPr>
              <a:t>all </a:t>
            </a:r>
            <a:r>
              <a:rPr lang="en-US" sz="1600" spc="-45">
                <a:solidFill>
                  <a:srgbClr val="FFFFFF"/>
                </a:solidFill>
              </a:rPr>
              <a:t> </a:t>
            </a:r>
            <a:r>
              <a:rPr lang="en-US" sz="1600" spc="-25">
                <a:solidFill>
                  <a:srgbClr val="FFFFFF"/>
                </a:solidFill>
              </a:rPr>
              <a:t>neighbourhoods.</a:t>
            </a:r>
            <a:endParaRPr lang="en-US" sz="1600">
              <a:solidFill>
                <a:srgbClr val="FFFFFF"/>
              </a:solidFill>
            </a:endParaRPr>
          </a:p>
          <a:p>
            <a:pPr marL="299085" marR="5080" indent="-28702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>
                <a:tab pos="299720" algn="l"/>
              </a:tabLst>
            </a:pPr>
            <a:r>
              <a:rPr lang="en-US" sz="1600" spc="30">
                <a:solidFill>
                  <a:srgbClr val="FFFFFF"/>
                </a:solidFill>
              </a:rPr>
              <a:t>Average</a:t>
            </a:r>
            <a:r>
              <a:rPr lang="en-US" sz="1600" spc="35">
                <a:solidFill>
                  <a:srgbClr val="FFFFFF"/>
                </a:solidFill>
              </a:rPr>
              <a:t> </a:t>
            </a:r>
            <a:r>
              <a:rPr lang="en-US" sz="1600" spc="10">
                <a:solidFill>
                  <a:srgbClr val="FFFFFF"/>
                </a:solidFill>
              </a:rPr>
              <a:t>price</a:t>
            </a:r>
            <a:r>
              <a:rPr lang="en-US" sz="1600" spc="15">
                <a:solidFill>
                  <a:srgbClr val="FFFFFF"/>
                </a:solidFill>
              </a:rPr>
              <a:t> </a:t>
            </a:r>
            <a:r>
              <a:rPr lang="en-US" sz="1600" spc="-70">
                <a:solidFill>
                  <a:srgbClr val="FFFFFF"/>
                </a:solidFill>
              </a:rPr>
              <a:t>for</a:t>
            </a:r>
            <a:r>
              <a:rPr lang="en-US" sz="1600" spc="-65">
                <a:solidFill>
                  <a:srgbClr val="FFFFFF"/>
                </a:solidFill>
              </a:rPr>
              <a:t> </a:t>
            </a:r>
            <a:r>
              <a:rPr lang="en-US" sz="1600" spc="-90">
                <a:solidFill>
                  <a:srgbClr val="FFFFFF"/>
                </a:solidFill>
              </a:rPr>
              <a:t>Brooklyn</a:t>
            </a:r>
            <a:r>
              <a:rPr lang="en-US" sz="1600" spc="455">
                <a:solidFill>
                  <a:srgbClr val="FFFFFF"/>
                </a:solidFill>
              </a:rPr>
              <a:t> </a:t>
            </a:r>
            <a:r>
              <a:rPr lang="en-US" sz="1600" spc="-170">
                <a:solidFill>
                  <a:srgbClr val="FFFFFF"/>
                </a:solidFill>
              </a:rPr>
              <a:t>is </a:t>
            </a:r>
            <a:r>
              <a:rPr lang="en-US" sz="1600" spc="-165">
                <a:solidFill>
                  <a:srgbClr val="FFFFFF"/>
                </a:solidFill>
              </a:rPr>
              <a:t> </a:t>
            </a:r>
            <a:r>
              <a:rPr lang="en-US" sz="1600" spc="-75">
                <a:solidFill>
                  <a:srgbClr val="FFFFFF"/>
                </a:solidFill>
              </a:rPr>
              <a:t>s</a:t>
            </a:r>
            <a:r>
              <a:rPr lang="en-US" sz="1600" spc="-90">
                <a:solidFill>
                  <a:srgbClr val="FFFFFF"/>
                </a:solidFill>
              </a:rPr>
              <a:t>e</a:t>
            </a:r>
            <a:r>
              <a:rPr lang="en-US" sz="1600" spc="85">
                <a:solidFill>
                  <a:srgbClr val="FFFFFF"/>
                </a:solidFill>
              </a:rPr>
              <a:t>con</a:t>
            </a:r>
            <a:r>
              <a:rPr lang="en-US" sz="1600" spc="110">
                <a:solidFill>
                  <a:srgbClr val="FFFFFF"/>
                </a:solidFill>
              </a:rPr>
              <a:t>d</a:t>
            </a:r>
            <a:r>
              <a:rPr lang="en-US" sz="1600" spc="-114">
                <a:solidFill>
                  <a:srgbClr val="FFFFFF"/>
                </a:solidFill>
              </a:rPr>
              <a:t> </a:t>
            </a:r>
            <a:r>
              <a:rPr lang="en-US" sz="1600" spc="-55">
                <a:solidFill>
                  <a:srgbClr val="FFFFFF"/>
                </a:solidFill>
              </a:rPr>
              <a:t>h</a:t>
            </a:r>
            <a:r>
              <a:rPr lang="en-US" sz="1600" spc="-114">
                <a:solidFill>
                  <a:srgbClr val="FFFFFF"/>
                </a:solidFill>
              </a:rPr>
              <a:t>i</a:t>
            </a:r>
            <a:r>
              <a:rPr lang="en-US" sz="1600" spc="20">
                <a:solidFill>
                  <a:srgbClr val="FFFFFF"/>
                </a:solidFill>
              </a:rPr>
              <a:t>g</a:t>
            </a:r>
            <a:r>
              <a:rPr lang="en-US" sz="1600" spc="10">
                <a:solidFill>
                  <a:srgbClr val="FFFFFF"/>
                </a:solidFill>
              </a:rPr>
              <a:t>h</a:t>
            </a:r>
            <a:r>
              <a:rPr lang="en-US" sz="1600" spc="85">
                <a:solidFill>
                  <a:srgbClr val="FFFFFF"/>
                </a:solidFill>
              </a:rPr>
              <a:t>e</a:t>
            </a:r>
            <a:r>
              <a:rPr lang="en-US" sz="1600" spc="-200">
                <a:solidFill>
                  <a:srgbClr val="FFFFFF"/>
                </a:solidFill>
              </a:rPr>
              <a:t>s</a:t>
            </a:r>
            <a:r>
              <a:rPr lang="en-US" sz="1600" spc="-150">
                <a:solidFill>
                  <a:srgbClr val="FFFFFF"/>
                </a:solidFill>
              </a:rPr>
              <a:t>t</a:t>
            </a:r>
            <a:r>
              <a:rPr lang="en-US" sz="1600" spc="-120">
                <a:solidFill>
                  <a:srgbClr val="FFFFFF"/>
                </a:solidFill>
              </a:rPr>
              <a:t> </a:t>
            </a:r>
            <a:r>
              <a:rPr lang="en-US" sz="1600" spc="-114">
                <a:solidFill>
                  <a:srgbClr val="FFFFFF"/>
                </a:solidFill>
              </a:rPr>
              <a:t>i</a:t>
            </a:r>
            <a:r>
              <a:rPr lang="en-US" sz="1600" spc="-180">
                <a:solidFill>
                  <a:srgbClr val="FFFFFF"/>
                </a:solidFill>
              </a:rPr>
              <a:t>.</a:t>
            </a:r>
            <a:r>
              <a:rPr lang="en-US" sz="1600" spc="85">
                <a:solidFill>
                  <a:srgbClr val="FFFFFF"/>
                </a:solidFill>
              </a:rPr>
              <a:t>e</a:t>
            </a:r>
            <a:r>
              <a:rPr lang="en-US" sz="1600" spc="-160">
                <a:solidFill>
                  <a:srgbClr val="FFFFFF"/>
                </a:solidFill>
              </a:rPr>
              <a:t>.</a:t>
            </a:r>
            <a:r>
              <a:rPr lang="en-US" sz="1600" spc="-125">
                <a:solidFill>
                  <a:srgbClr val="FFFFFF"/>
                </a:solidFill>
              </a:rPr>
              <a:t> </a:t>
            </a:r>
            <a:r>
              <a:rPr lang="en-US" sz="1600" spc="-155">
                <a:solidFill>
                  <a:srgbClr val="FFFFFF"/>
                </a:solidFill>
              </a:rPr>
              <a:t>124</a:t>
            </a:r>
            <a:r>
              <a:rPr lang="en-US" sz="1600" spc="-180">
                <a:solidFill>
                  <a:srgbClr val="FFFFFF"/>
                </a:solidFill>
              </a:rPr>
              <a:t>.</a:t>
            </a:r>
            <a:r>
              <a:rPr lang="en-US" sz="1600" spc="-155">
                <a:solidFill>
                  <a:srgbClr val="FFFFFF"/>
                </a:solidFill>
              </a:rPr>
              <a:t>4</a:t>
            </a:r>
            <a:r>
              <a:rPr lang="en-US" sz="1600" spc="-160">
                <a:solidFill>
                  <a:srgbClr val="FFFFFF"/>
                </a:solidFill>
              </a:rPr>
              <a:t>.</a:t>
            </a:r>
            <a:endParaRPr lang="en-US" sz="1600">
              <a:solidFill>
                <a:srgbClr val="FFFFFF"/>
              </a:solidFill>
            </a:endParaRPr>
          </a:p>
          <a:p>
            <a:pPr marL="299085" marR="9525" indent="-28702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>
                <a:tab pos="299720" algn="l"/>
              </a:tabLst>
            </a:pPr>
            <a:r>
              <a:rPr lang="en-US" sz="1600" spc="-125">
                <a:solidFill>
                  <a:srgbClr val="FFFFFF"/>
                </a:solidFill>
              </a:rPr>
              <a:t>Bronx</a:t>
            </a:r>
            <a:r>
              <a:rPr lang="en-US" sz="1600" spc="-120">
                <a:solidFill>
                  <a:srgbClr val="FFFFFF"/>
                </a:solidFill>
              </a:rPr>
              <a:t> </a:t>
            </a:r>
            <a:r>
              <a:rPr lang="en-US" sz="1600" spc="15">
                <a:solidFill>
                  <a:srgbClr val="FFFFFF"/>
                </a:solidFill>
              </a:rPr>
              <a:t>appears</a:t>
            </a:r>
            <a:r>
              <a:rPr lang="en-US" sz="1600" spc="20">
                <a:solidFill>
                  <a:srgbClr val="FFFFFF"/>
                </a:solidFill>
              </a:rPr>
              <a:t> </a:t>
            </a:r>
            <a:r>
              <a:rPr lang="en-US" sz="1600" spc="-15">
                <a:solidFill>
                  <a:srgbClr val="FFFFFF"/>
                </a:solidFill>
              </a:rPr>
              <a:t>to</a:t>
            </a:r>
            <a:r>
              <a:rPr lang="en-US" sz="1600" spc="-10">
                <a:solidFill>
                  <a:srgbClr val="FFFFFF"/>
                </a:solidFill>
              </a:rPr>
              <a:t> </a:t>
            </a:r>
            <a:r>
              <a:rPr lang="en-US" sz="1600" spc="105">
                <a:solidFill>
                  <a:srgbClr val="FFFFFF"/>
                </a:solidFill>
              </a:rPr>
              <a:t>be</a:t>
            </a:r>
            <a:r>
              <a:rPr lang="en-US" sz="1600" spc="110">
                <a:solidFill>
                  <a:srgbClr val="FFFFFF"/>
                </a:solidFill>
              </a:rPr>
              <a:t> </a:t>
            </a:r>
            <a:r>
              <a:rPr lang="en-US" sz="1600" spc="55">
                <a:solidFill>
                  <a:srgbClr val="FFFFFF"/>
                </a:solidFill>
              </a:rPr>
              <a:t>an </a:t>
            </a:r>
            <a:r>
              <a:rPr lang="en-US" sz="1600" spc="60">
                <a:solidFill>
                  <a:srgbClr val="FFFFFF"/>
                </a:solidFill>
              </a:rPr>
              <a:t> </a:t>
            </a:r>
            <a:r>
              <a:rPr lang="en-US" sz="1600" spc="15">
                <a:solidFill>
                  <a:srgbClr val="FFFFFF"/>
                </a:solidFill>
              </a:rPr>
              <a:t>affordable</a:t>
            </a:r>
            <a:r>
              <a:rPr lang="en-US" sz="1600" spc="-65">
                <a:solidFill>
                  <a:srgbClr val="FFFFFF"/>
                </a:solidFill>
              </a:rPr>
              <a:t> </a:t>
            </a:r>
            <a:r>
              <a:rPr lang="en-US" sz="1600" spc="5">
                <a:solidFill>
                  <a:srgbClr val="FFFFFF"/>
                </a:solidFill>
              </a:rPr>
              <a:t>neighbourhood</a:t>
            </a:r>
            <a:r>
              <a:rPr lang="en-US" sz="1600" spc="-35">
                <a:solidFill>
                  <a:srgbClr val="FFFFFF"/>
                </a:solidFill>
              </a:rPr>
              <a:t> </a:t>
            </a:r>
            <a:r>
              <a:rPr lang="en-US" sz="1600" spc="-55">
                <a:solidFill>
                  <a:srgbClr val="FFFFFF"/>
                </a:solidFill>
              </a:rPr>
              <a:t>as </a:t>
            </a:r>
            <a:r>
              <a:rPr lang="en-US" sz="1600" spc="-15">
                <a:solidFill>
                  <a:srgbClr val="FFFFFF"/>
                </a:solidFill>
              </a:rPr>
              <a:t>the </a:t>
            </a:r>
            <a:r>
              <a:rPr lang="en-US" sz="1600" spc="-625">
                <a:solidFill>
                  <a:srgbClr val="FFFFFF"/>
                </a:solidFill>
              </a:rPr>
              <a:t> </a:t>
            </a:r>
            <a:r>
              <a:rPr lang="en-US" sz="1600" spc="35">
                <a:solidFill>
                  <a:srgbClr val="FFFFFF"/>
                </a:solidFill>
              </a:rPr>
              <a:t>average </a:t>
            </a:r>
            <a:r>
              <a:rPr lang="en-US" sz="1600" spc="10">
                <a:solidFill>
                  <a:srgbClr val="FFFFFF"/>
                </a:solidFill>
              </a:rPr>
              <a:t>price </a:t>
            </a:r>
            <a:r>
              <a:rPr lang="en-US" sz="1600" spc="-180">
                <a:solidFill>
                  <a:srgbClr val="FFFFFF"/>
                </a:solidFill>
              </a:rPr>
              <a:t>is </a:t>
            </a:r>
            <a:r>
              <a:rPr lang="en-US" sz="1600" spc="-55">
                <a:solidFill>
                  <a:srgbClr val="FFFFFF"/>
                </a:solidFill>
              </a:rPr>
              <a:t>almost </a:t>
            </a:r>
            <a:r>
              <a:rPr lang="en-US" sz="1600" spc="-25">
                <a:solidFill>
                  <a:srgbClr val="FFFFFF"/>
                </a:solidFill>
              </a:rPr>
              <a:t>half </a:t>
            </a:r>
            <a:r>
              <a:rPr lang="en-US" sz="1600" spc="-20">
                <a:solidFill>
                  <a:srgbClr val="FFFFFF"/>
                </a:solidFill>
              </a:rPr>
              <a:t>than </a:t>
            </a:r>
            <a:r>
              <a:rPr lang="en-US" sz="1600" spc="-620">
                <a:solidFill>
                  <a:srgbClr val="FFFFFF"/>
                </a:solidFill>
              </a:rPr>
              <a:t> </a:t>
            </a:r>
            <a:r>
              <a:rPr lang="en-US" sz="1600" spc="5">
                <a:solidFill>
                  <a:srgbClr val="FFFFFF"/>
                </a:solidFill>
              </a:rPr>
              <a:t>Manhattan’s</a:t>
            </a:r>
            <a:r>
              <a:rPr lang="en-US" sz="1600" spc="-100">
                <a:solidFill>
                  <a:srgbClr val="FFFFFF"/>
                </a:solidFill>
              </a:rPr>
              <a:t> </a:t>
            </a:r>
            <a:r>
              <a:rPr lang="en-US" sz="1600" spc="35">
                <a:solidFill>
                  <a:srgbClr val="FFFFFF"/>
                </a:solidFill>
              </a:rPr>
              <a:t>average</a:t>
            </a:r>
            <a:r>
              <a:rPr lang="en-US" sz="1600" spc="-140">
                <a:solidFill>
                  <a:srgbClr val="FFFFFF"/>
                </a:solidFill>
              </a:rPr>
              <a:t> </a:t>
            </a:r>
            <a:r>
              <a:rPr lang="en-US" sz="1600" spc="-15">
                <a:solidFill>
                  <a:srgbClr val="FFFFFF"/>
                </a:solidFill>
              </a:rPr>
              <a:t>price.</a:t>
            </a:r>
            <a:endParaRPr lang="en-US" sz="1600">
              <a:solidFill>
                <a:srgbClr val="FFFFFF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71587" y="614407"/>
            <a:ext cx="7110813" cy="5100593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110" y="826346"/>
            <a:ext cx="3171905" cy="101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/>
          <a:p>
            <a:pPr marL="12700" marR="5080" indent="252729">
              <a:lnSpc>
                <a:spcPct val="90000"/>
              </a:lnSpc>
            </a:pPr>
            <a:r>
              <a:rPr lang="en-US" sz="2200" spc="-55">
                <a:solidFill>
                  <a:srgbClr val="FFFFFF"/>
                </a:solidFill>
              </a:rPr>
              <a:t>Customer</a:t>
            </a:r>
            <a:r>
              <a:rPr lang="en-US" sz="2200" spc="-60">
                <a:solidFill>
                  <a:srgbClr val="FFFFFF"/>
                </a:solidFill>
              </a:rPr>
              <a:t> Booking</a:t>
            </a:r>
            <a:r>
              <a:rPr lang="en-US" sz="2200" spc="-45">
                <a:solidFill>
                  <a:srgbClr val="FFFFFF"/>
                </a:solidFill>
              </a:rPr>
              <a:t> </a:t>
            </a:r>
            <a:r>
              <a:rPr lang="en-US" sz="2200" spc="-185">
                <a:solidFill>
                  <a:srgbClr val="FFFFFF"/>
                </a:solidFill>
              </a:rPr>
              <a:t>with </a:t>
            </a:r>
            <a:r>
              <a:rPr lang="en-US" sz="2200" spc="-180">
                <a:solidFill>
                  <a:srgbClr val="FFFFFF"/>
                </a:solidFill>
              </a:rPr>
              <a:t> </a:t>
            </a:r>
            <a:r>
              <a:rPr lang="en-US" sz="2200" spc="-25">
                <a:solidFill>
                  <a:srgbClr val="FFFFFF"/>
                </a:solidFill>
              </a:rPr>
              <a:t>respect</a:t>
            </a:r>
            <a:r>
              <a:rPr lang="en-US" sz="2200" spc="-55">
                <a:solidFill>
                  <a:srgbClr val="FFFFFF"/>
                </a:solidFill>
              </a:rPr>
              <a:t> </a:t>
            </a:r>
            <a:r>
              <a:rPr lang="en-US" sz="2200" spc="-114">
                <a:solidFill>
                  <a:srgbClr val="FFFFFF"/>
                </a:solidFill>
              </a:rPr>
              <a:t>to</a:t>
            </a:r>
            <a:r>
              <a:rPr lang="en-US" sz="2200" spc="-40">
                <a:solidFill>
                  <a:srgbClr val="FFFFFF"/>
                </a:solidFill>
              </a:rPr>
              <a:t> </a:t>
            </a:r>
            <a:r>
              <a:rPr lang="en-US" sz="2200" spc="-85">
                <a:solidFill>
                  <a:srgbClr val="FFFFFF"/>
                </a:solidFill>
              </a:rPr>
              <a:t>minimum</a:t>
            </a:r>
            <a:r>
              <a:rPr lang="en-US" sz="2200" spc="-70">
                <a:solidFill>
                  <a:srgbClr val="FFFFFF"/>
                </a:solidFill>
              </a:rPr>
              <a:t> </a:t>
            </a:r>
            <a:r>
              <a:rPr lang="en-US" sz="2200" spc="-130">
                <a:solidFill>
                  <a:srgbClr val="FFFFFF"/>
                </a:solidFill>
              </a:rPr>
              <a:t>nights</a:t>
            </a:r>
            <a:endParaRPr lang="en-US" sz="2200">
              <a:solidFill>
                <a:srgbClr val="FFFFFF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110" y="2052084"/>
            <a:ext cx="3033249" cy="3856229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299085" marR="5080" indent="-28702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>
                <a:tab pos="299720" algn="l"/>
              </a:tabLst>
            </a:pPr>
            <a:r>
              <a:rPr lang="en-US" sz="1400" spc="-90">
                <a:solidFill>
                  <a:srgbClr val="FFFFFF"/>
                </a:solidFill>
              </a:rPr>
              <a:t>The</a:t>
            </a:r>
            <a:r>
              <a:rPr lang="en-US" sz="1400" spc="-85">
                <a:solidFill>
                  <a:srgbClr val="FFFFFF"/>
                </a:solidFill>
              </a:rPr>
              <a:t> </a:t>
            </a:r>
            <a:r>
              <a:rPr lang="en-US" sz="1400" spc="-110">
                <a:solidFill>
                  <a:srgbClr val="FFFFFF"/>
                </a:solidFill>
              </a:rPr>
              <a:t>listings</a:t>
            </a:r>
            <a:r>
              <a:rPr lang="en-US" sz="1400" spc="-105">
                <a:solidFill>
                  <a:srgbClr val="FFFFFF"/>
                </a:solidFill>
              </a:rPr>
              <a:t> </a:t>
            </a:r>
            <a:r>
              <a:rPr lang="en-US" sz="1400" spc="-60">
                <a:solidFill>
                  <a:srgbClr val="FFFFFF"/>
                </a:solidFill>
              </a:rPr>
              <a:t>with</a:t>
            </a:r>
            <a:r>
              <a:rPr lang="en-US" sz="1400" spc="-55">
                <a:solidFill>
                  <a:srgbClr val="FFFFFF"/>
                </a:solidFill>
              </a:rPr>
              <a:t> </a:t>
            </a:r>
            <a:r>
              <a:rPr lang="en-US" sz="1400" spc="-45">
                <a:solidFill>
                  <a:srgbClr val="FFFFFF"/>
                </a:solidFill>
              </a:rPr>
              <a:t>Minimum</a:t>
            </a:r>
            <a:r>
              <a:rPr lang="en-US" sz="1400" spc="-40">
                <a:solidFill>
                  <a:srgbClr val="FFFFFF"/>
                </a:solidFill>
              </a:rPr>
              <a:t> </a:t>
            </a:r>
            <a:r>
              <a:rPr lang="en-US" sz="1400" spc="-75">
                <a:solidFill>
                  <a:srgbClr val="FFFFFF"/>
                </a:solidFill>
              </a:rPr>
              <a:t>nights</a:t>
            </a:r>
            <a:r>
              <a:rPr lang="en-US" sz="1400" spc="-70">
                <a:solidFill>
                  <a:srgbClr val="FFFFFF"/>
                </a:solidFill>
              </a:rPr>
              <a:t> </a:t>
            </a:r>
            <a:r>
              <a:rPr lang="en-US" sz="1400" spc="-160">
                <a:solidFill>
                  <a:srgbClr val="FFFFFF"/>
                </a:solidFill>
              </a:rPr>
              <a:t>1-5 </a:t>
            </a:r>
            <a:r>
              <a:rPr lang="en-US" sz="1400" spc="-550">
                <a:solidFill>
                  <a:srgbClr val="FFFFFF"/>
                </a:solidFill>
              </a:rPr>
              <a:t> </a:t>
            </a:r>
            <a:r>
              <a:rPr lang="en-US" sz="1400" spc="30">
                <a:solidFill>
                  <a:srgbClr val="FFFFFF"/>
                </a:solidFill>
              </a:rPr>
              <a:t>have </a:t>
            </a:r>
            <a:r>
              <a:rPr lang="en-US" sz="1400" spc="-20">
                <a:solidFill>
                  <a:srgbClr val="FFFFFF"/>
                </a:solidFill>
              </a:rPr>
              <a:t>the </a:t>
            </a:r>
            <a:r>
              <a:rPr lang="en-US" sz="1400" spc="-75">
                <a:solidFill>
                  <a:srgbClr val="FFFFFF"/>
                </a:solidFill>
              </a:rPr>
              <a:t>most </a:t>
            </a:r>
            <a:r>
              <a:rPr lang="en-US" sz="1400" spc="-30">
                <a:solidFill>
                  <a:srgbClr val="FFFFFF"/>
                </a:solidFill>
              </a:rPr>
              <a:t>number </a:t>
            </a:r>
            <a:r>
              <a:rPr lang="en-US" sz="1400">
                <a:solidFill>
                  <a:srgbClr val="FFFFFF"/>
                </a:solidFill>
              </a:rPr>
              <a:t>of </a:t>
            </a:r>
            <a:r>
              <a:rPr lang="en-US" sz="1400" spc="-40">
                <a:solidFill>
                  <a:srgbClr val="FFFFFF"/>
                </a:solidFill>
              </a:rPr>
              <a:t>bookings. </a:t>
            </a:r>
            <a:r>
              <a:rPr lang="en-US" sz="1400" spc="-35">
                <a:solidFill>
                  <a:srgbClr val="FFFFFF"/>
                </a:solidFill>
              </a:rPr>
              <a:t> </a:t>
            </a:r>
            <a:r>
              <a:rPr lang="en-US" sz="1400">
                <a:solidFill>
                  <a:srgbClr val="FFFFFF"/>
                </a:solidFill>
              </a:rPr>
              <a:t>We </a:t>
            </a:r>
            <a:r>
              <a:rPr lang="en-US" sz="1400" spc="95">
                <a:solidFill>
                  <a:srgbClr val="FFFFFF"/>
                </a:solidFill>
              </a:rPr>
              <a:t>can </a:t>
            </a:r>
            <a:r>
              <a:rPr lang="en-US" sz="1400" spc="-20">
                <a:solidFill>
                  <a:srgbClr val="FFFFFF"/>
                </a:solidFill>
              </a:rPr>
              <a:t>see </a:t>
            </a:r>
            <a:r>
              <a:rPr lang="en-US" sz="1400" spc="125">
                <a:solidFill>
                  <a:srgbClr val="FFFFFF"/>
                </a:solidFill>
              </a:rPr>
              <a:t>a </a:t>
            </a:r>
            <a:r>
              <a:rPr lang="en-US" sz="1400" spc="-40">
                <a:solidFill>
                  <a:srgbClr val="FFFFFF"/>
                </a:solidFill>
              </a:rPr>
              <a:t>prominent </a:t>
            </a:r>
            <a:r>
              <a:rPr lang="en-US" sz="1400" spc="-65">
                <a:solidFill>
                  <a:srgbClr val="FFFFFF"/>
                </a:solidFill>
              </a:rPr>
              <a:t>spike </a:t>
            </a:r>
            <a:r>
              <a:rPr lang="en-US" sz="1400" spc="-80">
                <a:solidFill>
                  <a:srgbClr val="FFFFFF"/>
                </a:solidFill>
              </a:rPr>
              <a:t>in </a:t>
            </a:r>
            <a:r>
              <a:rPr lang="en-US" sz="1400" spc="-145">
                <a:solidFill>
                  <a:srgbClr val="FFFFFF"/>
                </a:solidFill>
              </a:rPr>
              <a:t>30 </a:t>
            </a:r>
            <a:r>
              <a:rPr lang="en-US" sz="1400" spc="-140">
                <a:solidFill>
                  <a:srgbClr val="FFFFFF"/>
                </a:solidFill>
              </a:rPr>
              <a:t> </a:t>
            </a:r>
            <a:r>
              <a:rPr lang="en-US" sz="1400" spc="-50">
                <a:solidFill>
                  <a:srgbClr val="FFFFFF"/>
                </a:solidFill>
              </a:rPr>
              <a:t>days,</a:t>
            </a:r>
            <a:r>
              <a:rPr lang="en-US" sz="1400" spc="-45">
                <a:solidFill>
                  <a:srgbClr val="FFFFFF"/>
                </a:solidFill>
              </a:rPr>
              <a:t> </a:t>
            </a:r>
            <a:r>
              <a:rPr lang="en-US" sz="1400" spc="-120">
                <a:solidFill>
                  <a:srgbClr val="FFFFFF"/>
                </a:solidFill>
              </a:rPr>
              <a:t>this</a:t>
            </a:r>
            <a:r>
              <a:rPr lang="en-US" sz="1400" spc="-114">
                <a:solidFill>
                  <a:srgbClr val="FFFFFF"/>
                </a:solidFill>
              </a:rPr>
              <a:t> </a:t>
            </a:r>
            <a:r>
              <a:rPr lang="en-US" sz="1400" spc="5">
                <a:solidFill>
                  <a:srgbClr val="FFFFFF"/>
                </a:solidFill>
              </a:rPr>
              <a:t>would</a:t>
            </a:r>
            <a:r>
              <a:rPr lang="en-US" sz="1400" spc="10">
                <a:solidFill>
                  <a:srgbClr val="FFFFFF"/>
                </a:solidFill>
              </a:rPr>
              <a:t> </a:t>
            </a:r>
            <a:r>
              <a:rPr lang="en-US" sz="1400" spc="85">
                <a:solidFill>
                  <a:srgbClr val="FFFFFF"/>
                </a:solidFill>
              </a:rPr>
              <a:t>be</a:t>
            </a:r>
            <a:r>
              <a:rPr lang="en-US" sz="1400" spc="735">
                <a:solidFill>
                  <a:srgbClr val="FFFFFF"/>
                </a:solidFill>
              </a:rPr>
              <a:t> </a:t>
            </a:r>
            <a:r>
              <a:rPr lang="en-US" sz="1400" spc="40">
                <a:solidFill>
                  <a:srgbClr val="FFFFFF"/>
                </a:solidFill>
              </a:rPr>
              <a:t>because </a:t>
            </a:r>
            <a:r>
              <a:rPr lang="en-US" sz="1400" spc="45">
                <a:solidFill>
                  <a:srgbClr val="FFFFFF"/>
                </a:solidFill>
              </a:rPr>
              <a:t> </a:t>
            </a:r>
            <a:r>
              <a:rPr lang="en-US" sz="1400" spc="-55">
                <a:solidFill>
                  <a:srgbClr val="FFFFFF"/>
                </a:solidFill>
              </a:rPr>
              <a:t>customers</a:t>
            </a:r>
            <a:r>
              <a:rPr lang="en-US" sz="1400" spc="-50">
                <a:solidFill>
                  <a:srgbClr val="FFFFFF"/>
                </a:solidFill>
              </a:rPr>
              <a:t> </a:t>
            </a:r>
            <a:r>
              <a:rPr lang="en-US" sz="1400" spc="5">
                <a:solidFill>
                  <a:srgbClr val="FFFFFF"/>
                </a:solidFill>
              </a:rPr>
              <a:t>would</a:t>
            </a:r>
            <a:r>
              <a:rPr lang="en-US" sz="1400" spc="10">
                <a:solidFill>
                  <a:srgbClr val="FFFFFF"/>
                </a:solidFill>
              </a:rPr>
              <a:t> </a:t>
            </a:r>
            <a:r>
              <a:rPr lang="en-US" sz="1400" spc="-65">
                <a:solidFill>
                  <a:srgbClr val="FFFFFF"/>
                </a:solidFill>
              </a:rPr>
              <a:t>rent</a:t>
            </a:r>
            <a:r>
              <a:rPr lang="en-US" sz="1400" spc="-60">
                <a:solidFill>
                  <a:srgbClr val="FFFFFF"/>
                </a:solidFill>
              </a:rPr>
              <a:t> </a:t>
            </a:r>
            <a:r>
              <a:rPr lang="en-US" sz="1400" spc="-20">
                <a:solidFill>
                  <a:srgbClr val="FFFFFF"/>
                </a:solidFill>
              </a:rPr>
              <a:t>out</a:t>
            </a:r>
            <a:r>
              <a:rPr lang="en-US" sz="1400" spc="-15">
                <a:solidFill>
                  <a:srgbClr val="FFFFFF"/>
                </a:solidFill>
              </a:rPr>
              <a:t> </a:t>
            </a:r>
            <a:r>
              <a:rPr lang="en-US" sz="1400" spc="15">
                <a:solidFill>
                  <a:srgbClr val="FFFFFF"/>
                </a:solidFill>
              </a:rPr>
              <a:t>on</a:t>
            </a:r>
            <a:r>
              <a:rPr lang="en-US" sz="1400" spc="20">
                <a:solidFill>
                  <a:srgbClr val="FFFFFF"/>
                </a:solidFill>
              </a:rPr>
              <a:t> </a:t>
            </a:r>
            <a:r>
              <a:rPr lang="en-US" sz="1400" spc="130">
                <a:solidFill>
                  <a:srgbClr val="FFFFFF"/>
                </a:solidFill>
              </a:rPr>
              <a:t>a </a:t>
            </a:r>
            <a:r>
              <a:rPr lang="en-US" sz="1400" spc="135">
                <a:solidFill>
                  <a:srgbClr val="FFFFFF"/>
                </a:solidFill>
              </a:rPr>
              <a:t> </a:t>
            </a:r>
            <a:r>
              <a:rPr lang="en-US" sz="1400" spc="-35">
                <a:solidFill>
                  <a:srgbClr val="FFFFFF"/>
                </a:solidFill>
              </a:rPr>
              <a:t>mont</a:t>
            </a:r>
            <a:r>
              <a:rPr lang="en-US" sz="1400" spc="-114">
                <a:solidFill>
                  <a:srgbClr val="FFFFFF"/>
                </a:solidFill>
              </a:rPr>
              <a:t>h</a:t>
            </a:r>
            <a:r>
              <a:rPr lang="en-US" sz="1400" spc="-40">
                <a:solidFill>
                  <a:srgbClr val="FFFFFF"/>
                </a:solidFill>
              </a:rPr>
              <a:t>l</a:t>
            </a:r>
            <a:r>
              <a:rPr lang="en-US" sz="1400" spc="-95">
                <a:solidFill>
                  <a:srgbClr val="FFFFFF"/>
                </a:solidFill>
              </a:rPr>
              <a:t>y</a:t>
            </a:r>
            <a:r>
              <a:rPr lang="en-US" sz="1400" spc="-110">
                <a:solidFill>
                  <a:srgbClr val="FFFFFF"/>
                </a:solidFill>
              </a:rPr>
              <a:t> </a:t>
            </a:r>
            <a:r>
              <a:rPr lang="en-US" sz="1400" spc="105">
                <a:solidFill>
                  <a:srgbClr val="FFFFFF"/>
                </a:solidFill>
              </a:rPr>
              <a:t>ba</a:t>
            </a:r>
            <a:r>
              <a:rPr lang="en-US" sz="1400" spc="-225">
                <a:solidFill>
                  <a:srgbClr val="FFFFFF"/>
                </a:solidFill>
              </a:rPr>
              <a:t>s</a:t>
            </a:r>
            <a:r>
              <a:rPr lang="en-US" sz="1400" spc="-114">
                <a:solidFill>
                  <a:srgbClr val="FFFFFF"/>
                </a:solidFill>
              </a:rPr>
              <a:t>i</a:t>
            </a:r>
            <a:r>
              <a:rPr lang="en-US" sz="1400" spc="-210">
                <a:solidFill>
                  <a:srgbClr val="FFFFFF"/>
                </a:solidFill>
              </a:rPr>
              <a:t>s</a:t>
            </a:r>
            <a:r>
              <a:rPr lang="en-US" sz="1400" spc="-145">
                <a:solidFill>
                  <a:srgbClr val="FFFFFF"/>
                </a:solidFill>
              </a:rPr>
              <a:t>.</a:t>
            </a:r>
            <a:endParaRPr lang="en-US" sz="1400">
              <a:solidFill>
                <a:srgbClr val="FFFFFF"/>
              </a:solidFill>
            </a:endParaRPr>
          </a:p>
          <a:p>
            <a:pPr marL="299085" marR="6985" indent="-28702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>
                <a:tab pos="299720" algn="l"/>
              </a:tabLst>
            </a:pPr>
            <a:r>
              <a:rPr lang="en-US" sz="1400" spc="-40">
                <a:solidFill>
                  <a:srgbClr val="FFFFFF"/>
                </a:solidFill>
              </a:rPr>
              <a:t>After </a:t>
            </a:r>
            <a:r>
              <a:rPr lang="en-US" sz="1400" spc="-135">
                <a:solidFill>
                  <a:srgbClr val="FFFFFF"/>
                </a:solidFill>
              </a:rPr>
              <a:t>30 </a:t>
            </a:r>
            <a:r>
              <a:rPr lang="en-US" sz="1400" spc="-50">
                <a:solidFill>
                  <a:srgbClr val="FFFFFF"/>
                </a:solidFill>
              </a:rPr>
              <a:t>days, </a:t>
            </a:r>
            <a:r>
              <a:rPr lang="en-US" sz="1400" spc="40">
                <a:solidFill>
                  <a:srgbClr val="FFFFFF"/>
                </a:solidFill>
              </a:rPr>
              <a:t>we </a:t>
            </a:r>
            <a:r>
              <a:rPr lang="en-US" sz="1400" spc="95">
                <a:solidFill>
                  <a:srgbClr val="FFFFFF"/>
                </a:solidFill>
              </a:rPr>
              <a:t>can </a:t>
            </a:r>
            <a:r>
              <a:rPr lang="en-US" sz="1400" spc="-35">
                <a:solidFill>
                  <a:srgbClr val="FFFFFF"/>
                </a:solidFill>
              </a:rPr>
              <a:t>also </a:t>
            </a:r>
            <a:r>
              <a:rPr lang="en-US" sz="1400" spc="-20">
                <a:solidFill>
                  <a:srgbClr val="FFFFFF"/>
                </a:solidFill>
              </a:rPr>
              <a:t>see </a:t>
            </a:r>
            <a:r>
              <a:rPr lang="en-US" sz="1400" spc="-80">
                <a:solidFill>
                  <a:srgbClr val="FFFFFF"/>
                </a:solidFill>
              </a:rPr>
              <a:t>small </a:t>
            </a:r>
            <a:r>
              <a:rPr lang="en-US" sz="1400" spc="-75">
                <a:solidFill>
                  <a:srgbClr val="FFFFFF"/>
                </a:solidFill>
              </a:rPr>
              <a:t> </a:t>
            </a:r>
            <a:r>
              <a:rPr lang="en-US" sz="1400" spc="-95">
                <a:solidFill>
                  <a:srgbClr val="FFFFFF"/>
                </a:solidFill>
              </a:rPr>
              <a:t>spikes, </a:t>
            </a:r>
            <a:r>
              <a:rPr lang="en-US" sz="1400" spc="-120">
                <a:solidFill>
                  <a:srgbClr val="FFFFFF"/>
                </a:solidFill>
              </a:rPr>
              <a:t>this </a:t>
            </a:r>
            <a:r>
              <a:rPr lang="en-US" sz="1400" spc="95">
                <a:solidFill>
                  <a:srgbClr val="FFFFFF"/>
                </a:solidFill>
              </a:rPr>
              <a:t>can </a:t>
            </a:r>
            <a:r>
              <a:rPr lang="en-US" sz="1400" spc="-35">
                <a:solidFill>
                  <a:srgbClr val="FFFFFF"/>
                </a:solidFill>
              </a:rPr>
              <a:t>also </a:t>
            </a:r>
            <a:r>
              <a:rPr lang="en-US" sz="1400" spc="90">
                <a:solidFill>
                  <a:srgbClr val="FFFFFF"/>
                </a:solidFill>
              </a:rPr>
              <a:t>be </a:t>
            </a:r>
            <a:r>
              <a:rPr lang="en-US" sz="1400" spc="-5">
                <a:solidFill>
                  <a:srgbClr val="FFFFFF"/>
                </a:solidFill>
              </a:rPr>
              <a:t>explained </a:t>
            </a:r>
            <a:r>
              <a:rPr lang="en-US" sz="1400">
                <a:solidFill>
                  <a:srgbClr val="FFFFFF"/>
                </a:solidFill>
              </a:rPr>
              <a:t>by </a:t>
            </a:r>
            <a:r>
              <a:rPr lang="en-US" sz="1400" spc="5">
                <a:solidFill>
                  <a:srgbClr val="FFFFFF"/>
                </a:solidFill>
              </a:rPr>
              <a:t> </a:t>
            </a:r>
            <a:r>
              <a:rPr lang="en-US" sz="1400" spc="-105">
                <a:solidFill>
                  <a:srgbClr val="FFFFFF"/>
                </a:solidFill>
              </a:rPr>
              <a:t>t</a:t>
            </a:r>
            <a:r>
              <a:rPr lang="en-US" sz="1400" spc="20">
                <a:solidFill>
                  <a:srgbClr val="FFFFFF"/>
                </a:solidFill>
              </a:rPr>
              <a:t>he</a:t>
            </a:r>
            <a:r>
              <a:rPr lang="en-US" sz="1400" spc="-114">
                <a:solidFill>
                  <a:srgbClr val="FFFFFF"/>
                </a:solidFill>
              </a:rPr>
              <a:t> </a:t>
            </a:r>
            <a:r>
              <a:rPr lang="en-US" sz="1400" spc="-35">
                <a:solidFill>
                  <a:srgbClr val="FFFFFF"/>
                </a:solidFill>
              </a:rPr>
              <a:t>mont</a:t>
            </a:r>
            <a:r>
              <a:rPr lang="en-US" sz="1400" spc="-114">
                <a:solidFill>
                  <a:srgbClr val="FFFFFF"/>
                </a:solidFill>
              </a:rPr>
              <a:t>h</a:t>
            </a:r>
            <a:r>
              <a:rPr lang="en-US" sz="1400" spc="-40">
                <a:solidFill>
                  <a:srgbClr val="FFFFFF"/>
                </a:solidFill>
              </a:rPr>
              <a:t>l</a:t>
            </a:r>
            <a:r>
              <a:rPr lang="en-US" sz="1400" spc="-95">
                <a:solidFill>
                  <a:srgbClr val="FFFFFF"/>
                </a:solidFill>
              </a:rPr>
              <a:t>y</a:t>
            </a:r>
            <a:r>
              <a:rPr lang="en-US" sz="1400" spc="-110">
                <a:solidFill>
                  <a:srgbClr val="FFFFFF"/>
                </a:solidFill>
              </a:rPr>
              <a:t> </a:t>
            </a:r>
            <a:r>
              <a:rPr lang="en-US" sz="1400" spc="-50">
                <a:solidFill>
                  <a:srgbClr val="FFFFFF"/>
                </a:solidFill>
              </a:rPr>
              <a:t>r</a:t>
            </a:r>
            <a:r>
              <a:rPr lang="en-US" sz="1400" spc="-80">
                <a:solidFill>
                  <a:srgbClr val="FFFFFF"/>
                </a:solidFill>
              </a:rPr>
              <a:t>e</a:t>
            </a:r>
            <a:r>
              <a:rPr lang="en-US" sz="1400" spc="-65">
                <a:solidFill>
                  <a:srgbClr val="FFFFFF"/>
                </a:solidFill>
              </a:rPr>
              <a:t>nt</a:t>
            </a:r>
            <a:r>
              <a:rPr lang="en-US" sz="1400" spc="-110">
                <a:solidFill>
                  <a:srgbClr val="FFFFFF"/>
                </a:solidFill>
              </a:rPr>
              <a:t> </a:t>
            </a:r>
            <a:r>
              <a:rPr lang="en-US" sz="1400" spc="-105">
                <a:solidFill>
                  <a:srgbClr val="FFFFFF"/>
                </a:solidFill>
              </a:rPr>
              <a:t>t</a:t>
            </a:r>
            <a:r>
              <a:rPr lang="en-US" sz="1400" spc="-65">
                <a:solidFill>
                  <a:srgbClr val="FFFFFF"/>
                </a:solidFill>
              </a:rPr>
              <a:t>ak</a:t>
            </a:r>
            <a:r>
              <a:rPr lang="en-US" sz="1400" spc="-25">
                <a:solidFill>
                  <a:srgbClr val="FFFFFF"/>
                </a:solidFill>
              </a:rPr>
              <a:t>i</a:t>
            </a:r>
            <a:r>
              <a:rPr lang="en-US" sz="1400" spc="15">
                <a:solidFill>
                  <a:srgbClr val="FFFFFF"/>
                </a:solidFill>
              </a:rPr>
              <a:t>ng</a:t>
            </a:r>
            <a:r>
              <a:rPr lang="en-US" sz="1400" spc="-125">
                <a:solidFill>
                  <a:srgbClr val="FFFFFF"/>
                </a:solidFill>
              </a:rPr>
              <a:t> </a:t>
            </a:r>
            <a:r>
              <a:rPr lang="en-US" sz="1400" spc="-105">
                <a:solidFill>
                  <a:srgbClr val="FFFFFF"/>
                </a:solidFill>
              </a:rPr>
              <a:t>t</a:t>
            </a:r>
            <a:r>
              <a:rPr lang="en-US" sz="1400" spc="-50">
                <a:solidFill>
                  <a:srgbClr val="FFFFFF"/>
                </a:solidFill>
              </a:rPr>
              <a:t>r</a:t>
            </a:r>
            <a:r>
              <a:rPr lang="en-US" sz="1400" spc="-80">
                <a:solidFill>
                  <a:srgbClr val="FFFFFF"/>
                </a:solidFill>
              </a:rPr>
              <a:t>e</a:t>
            </a:r>
            <a:r>
              <a:rPr lang="en-US" sz="1400" spc="25">
                <a:solidFill>
                  <a:srgbClr val="FFFFFF"/>
                </a:solidFill>
              </a:rPr>
              <a:t>n</a:t>
            </a:r>
            <a:r>
              <a:rPr lang="en-US" sz="1400" spc="20">
                <a:solidFill>
                  <a:srgbClr val="FFFFFF"/>
                </a:solidFill>
              </a:rPr>
              <a:t>d</a:t>
            </a:r>
            <a:r>
              <a:rPr lang="en-US" sz="1400" spc="-145">
                <a:solidFill>
                  <a:srgbClr val="FFFFFF"/>
                </a:solidFill>
              </a:rPr>
              <a:t>.</a:t>
            </a:r>
            <a:endParaRPr lang="en-US" sz="1400">
              <a:solidFill>
                <a:srgbClr val="FFFFFF"/>
              </a:solidFill>
            </a:endParaRPr>
          </a:p>
          <a:p>
            <a:pPr marL="299085" marR="5080" indent="-28702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>
                <a:tab pos="299720" algn="l"/>
              </a:tabLst>
            </a:pPr>
            <a:r>
              <a:rPr lang="en-US" sz="1400" spc="15">
                <a:solidFill>
                  <a:srgbClr val="FFFFFF"/>
                </a:solidFill>
              </a:rPr>
              <a:t>Manhattan</a:t>
            </a:r>
            <a:r>
              <a:rPr lang="en-US" sz="1400" spc="20">
                <a:solidFill>
                  <a:srgbClr val="FFFFFF"/>
                </a:solidFill>
              </a:rPr>
              <a:t> </a:t>
            </a:r>
            <a:r>
              <a:rPr lang="en-US" sz="1400" spc="45">
                <a:solidFill>
                  <a:srgbClr val="FFFFFF"/>
                </a:solidFill>
              </a:rPr>
              <a:t>&amp;</a:t>
            </a:r>
            <a:r>
              <a:rPr lang="en-US" sz="1400" spc="50">
                <a:solidFill>
                  <a:srgbClr val="FFFFFF"/>
                </a:solidFill>
              </a:rPr>
              <a:t> </a:t>
            </a:r>
            <a:r>
              <a:rPr lang="en-US" sz="1400" spc="-5">
                <a:solidFill>
                  <a:srgbClr val="FFFFFF"/>
                </a:solidFill>
              </a:rPr>
              <a:t>Queens</a:t>
            </a:r>
            <a:r>
              <a:rPr lang="en-US" sz="1400">
                <a:solidFill>
                  <a:srgbClr val="FFFFFF"/>
                </a:solidFill>
              </a:rPr>
              <a:t> </a:t>
            </a:r>
            <a:r>
              <a:rPr lang="en-US" sz="1400" spc="30">
                <a:solidFill>
                  <a:srgbClr val="FFFFFF"/>
                </a:solidFill>
              </a:rPr>
              <a:t>have</a:t>
            </a:r>
            <a:r>
              <a:rPr lang="en-US" sz="1400" spc="35">
                <a:solidFill>
                  <a:srgbClr val="FFFFFF"/>
                </a:solidFill>
              </a:rPr>
              <a:t> </a:t>
            </a:r>
            <a:r>
              <a:rPr lang="en-US" sz="1400" spc="-40">
                <a:solidFill>
                  <a:srgbClr val="FFFFFF"/>
                </a:solidFill>
              </a:rPr>
              <a:t>higher </a:t>
            </a:r>
            <a:r>
              <a:rPr lang="en-US" sz="1400" spc="-550">
                <a:solidFill>
                  <a:srgbClr val="FFFFFF"/>
                </a:solidFill>
              </a:rPr>
              <a:t> </a:t>
            </a:r>
            <a:r>
              <a:rPr lang="en-US" sz="1400" spc="-30">
                <a:solidFill>
                  <a:srgbClr val="FFFFFF"/>
                </a:solidFill>
              </a:rPr>
              <a:t>number</a:t>
            </a:r>
            <a:r>
              <a:rPr lang="en-US" sz="1400" spc="-25">
                <a:solidFill>
                  <a:srgbClr val="FFFFFF"/>
                </a:solidFill>
              </a:rPr>
              <a:t> </a:t>
            </a:r>
            <a:r>
              <a:rPr lang="en-US" sz="1400">
                <a:solidFill>
                  <a:srgbClr val="FFFFFF"/>
                </a:solidFill>
              </a:rPr>
              <a:t>of</a:t>
            </a:r>
            <a:r>
              <a:rPr lang="en-US" sz="1400" spc="5">
                <a:solidFill>
                  <a:srgbClr val="FFFFFF"/>
                </a:solidFill>
              </a:rPr>
              <a:t> </a:t>
            </a:r>
            <a:r>
              <a:rPr lang="en-US" sz="1400" spc="-135">
                <a:solidFill>
                  <a:srgbClr val="FFFFFF"/>
                </a:solidFill>
              </a:rPr>
              <a:t>30</a:t>
            </a:r>
            <a:r>
              <a:rPr lang="en-US" sz="1400" spc="-130">
                <a:solidFill>
                  <a:srgbClr val="FFFFFF"/>
                </a:solidFill>
              </a:rPr>
              <a:t> </a:t>
            </a:r>
            <a:r>
              <a:rPr lang="en-US" sz="1400" spc="40">
                <a:solidFill>
                  <a:srgbClr val="FFFFFF"/>
                </a:solidFill>
              </a:rPr>
              <a:t>day</a:t>
            </a:r>
            <a:r>
              <a:rPr lang="en-US" sz="1400" spc="45">
                <a:solidFill>
                  <a:srgbClr val="FFFFFF"/>
                </a:solidFill>
              </a:rPr>
              <a:t> </a:t>
            </a:r>
            <a:r>
              <a:rPr lang="en-US" sz="1400" spc="-30">
                <a:solidFill>
                  <a:srgbClr val="FFFFFF"/>
                </a:solidFill>
              </a:rPr>
              <a:t>bookings </a:t>
            </a:r>
            <a:r>
              <a:rPr lang="en-US" sz="1400" spc="-25">
                <a:solidFill>
                  <a:srgbClr val="FFFFFF"/>
                </a:solidFill>
              </a:rPr>
              <a:t> </a:t>
            </a:r>
            <a:r>
              <a:rPr lang="en-US" sz="1400" spc="50">
                <a:solidFill>
                  <a:srgbClr val="FFFFFF"/>
                </a:solidFill>
              </a:rPr>
              <a:t>compared </a:t>
            </a:r>
            <a:r>
              <a:rPr lang="en-US" sz="1400" spc="-20">
                <a:solidFill>
                  <a:srgbClr val="FFFFFF"/>
                </a:solidFill>
              </a:rPr>
              <a:t>to the </a:t>
            </a:r>
            <a:r>
              <a:rPr lang="en-US" sz="1400" spc="-80">
                <a:solidFill>
                  <a:srgbClr val="FFFFFF"/>
                </a:solidFill>
              </a:rPr>
              <a:t>others. </a:t>
            </a:r>
            <a:r>
              <a:rPr lang="en-US" sz="1400" spc="-95">
                <a:solidFill>
                  <a:srgbClr val="FFFFFF"/>
                </a:solidFill>
              </a:rPr>
              <a:t>The </a:t>
            </a:r>
            <a:r>
              <a:rPr lang="en-US" sz="1400" spc="-30">
                <a:solidFill>
                  <a:srgbClr val="FFFFFF"/>
                </a:solidFill>
              </a:rPr>
              <a:t>reason </a:t>
            </a:r>
            <a:r>
              <a:rPr lang="en-US" sz="1400" spc="-25">
                <a:solidFill>
                  <a:srgbClr val="FFFFFF"/>
                </a:solidFill>
              </a:rPr>
              <a:t> </a:t>
            </a:r>
            <a:r>
              <a:rPr lang="en-US" sz="1400" spc="40">
                <a:solidFill>
                  <a:srgbClr val="FFFFFF"/>
                </a:solidFill>
              </a:rPr>
              <a:t>could </a:t>
            </a:r>
            <a:r>
              <a:rPr lang="en-US" sz="1400" spc="85">
                <a:solidFill>
                  <a:srgbClr val="FFFFFF"/>
                </a:solidFill>
              </a:rPr>
              <a:t>be </a:t>
            </a:r>
            <a:r>
              <a:rPr lang="en-US" sz="1400" spc="-50">
                <a:solidFill>
                  <a:srgbClr val="FFFFFF"/>
                </a:solidFill>
              </a:rPr>
              <a:t>either </a:t>
            </a:r>
            <a:r>
              <a:rPr lang="en-US" sz="1400" spc="-114">
                <a:solidFill>
                  <a:srgbClr val="FFFFFF"/>
                </a:solidFill>
              </a:rPr>
              <a:t>tourists </a:t>
            </a:r>
            <a:r>
              <a:rPr lang="en-US" sz="1400">
                <a:solidFill>
                  <a:srgbClr val="FFFFFF"/>
                </a:solidFill>
              </a:rPr>
              <a:t>booking long </a:t>
            </a:r>
            <a:r>
              <a:rPr lang="en-US" sz="1400" spc="5">
                <a:solidFill>
                  <a:srgbClr val="FFFFFF"/>
                </a:solidFill>
              </a:rPr>
              <a:t> </a:t>
            </a:r>
            <a:r>
              <a:rPr lang="en-US" sz="1400" spc="-100">
                <a:solidFill>
                  <a:srgbClr val="FFFFFF"/>
                </a:solidFill>
              </a:rPr>
              <a:t>stays </a:t>
            </a:r>
            <a:r>
              <a:rPr lang="en-US" sz="1400" spc="-70">
                <a:solidFill>
                  <a:srgbClr val="FFFFFF"/>
                </a:solidFill>
              </a:rPr>
              <a:t>or </a:t>
            </a:r>
            <a:r>
              <a:rPr lang="en-US" sz="1400" spc="-45">
                <a:solidFill>
                  <a:srgbClr val="FFFFFF"/>
                </a:solidFill>
              </a:rPr>
              <a:t>mid-level </a:t>
            </a:r>
            <a:r>
              <a:rPr lang="en-US" sz="1400" spc="-10">
                <a:solidFill>
                  <a:srgbClr val="FFFFFF"/>
                </a:solidFill>
              </a:rPr>
              <a:t>employees </a:t>
            </a:r>
            <a:r>
              <a:rPr lang="en-US" sz="1400" spc="10">
                <a:solidFill>
                  <a:srgbClr val="FFFFFF"/>
                </a:solidFill>
              </a:rPr>
              <a:t>who </a:t>
            </a:r>
            <a:r>
              <a:rPr lang="en-US" sz="1400" spc="25">
                <a:solidFill>
                  <a:srgbClr val="FFFFFF"/>
                </a:solidFill>
              </a:rPr>
              <a:t>opt </a:t>
            </a:r>
            <a:r>
              <a:rPr lang="en-US" sz="1400" spc="-550">
                <a:solidFill>
                  <a:srgbClr val="FFFFFF"/>
                </a:solidFill>
              </a:rPr>
              <a:t> </a:t>
            </a:r>
            <a:r>
              <a:rPr lang="en-US" sz="1400" spc="-65">
                <a:solidFill>
                  <a:srgbClr val="FFFFFF"/>
                </a:solidFill>
              </a:rPr>
              <a:t>for</a:t>
            </a:r>
            <a:r>
              <a:rPr lang="en-US" sz="1400" spc="-60">
                <a:solidFill>
                  <a:srgbClr val="FFFFFF"/>
                </a:solidFill>
              </a:rPr>
              <a:t> </a:t>
            </a:r>
            <a:r>
              <a:rPr lang="en-US" sz="1400" spc="30">
                <a:solidFill>
                  <a:srgbClr val="FFFFFF"/>
                </a:solidFill>
              </a:rPr>
              <a:t>budget </a:t>
            </a:r>
            <a:r>
              <a:rPr lang="en-US" sz="1400" spc="-30">
                <a:solidFill>
                  <a:srgbClr val="FFFFFF"/>
                </a:solidFill>
              </a:rPr>
              <a:t>bookings</a:t>
            </a:r>
            <a:r>
              <a:rPr lang="en-US" sz="1400" spc="-25">
                <a:solidFill>
                  <a:srgbClr val="FFFFFF"/>
                </a:solidFill>
              </a:rPr>
              <a:t> </a:t>
            </a:r>
            <a:r>
              <a:rPr lang="en-US" sz="1400" spc="45">
                <a:solidFill>
                  <a:srgbClr val="FFFFFF"/>
                </a:solidFill>
              </a:rPr>
              <a:t>due </a:t>
            </a:r>
            <a:r>
              <a:rPr lang="en-US" sz="1400" spc="40">
                <a:solidFill>
                  <a:srgbClr val="FFFFFF"/>
                </a:solidFill>
              </a:rPr>
              <a:t>company </a:t>
            </a:r>
            <a:r>
              <a:rPr lang="en-US" sz="1400" spc="45">
                <a:solidFill>
                  <a:srgbClr val="FFFFFF"/>
                </a:solidFill>
              </a:rPr>
              <a:t> </a:t>
            </a:r>
            <a:r>
              <a:rPr lang="en-US" sz="1400" spc="-135">
                <a:solidFill>
                  <a:srgbClr val="FFFFFF"/>
                </a:solidFill>
              </a:rPr>
              <a:t>visits</a:t>
            </a:r>
            <a:endParaRPr lang="en-US" sz="1400">
              <a:solidFill>
                <a:srgbClr val="FFFFFF"/>
              </a:solidFill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68800" y="1282580"/>
            <a:ext cx="6866506" cy="4291565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110" y="826346"/>
            <a:ext cx="3171905" cy="101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/>
            <a:r>
              <a:rPr lang="en-US" sz="2400" spc="-75">
                <a:solidFill>
                  <a:srgbClr val="FFFFFF"/>
                </a:solidFill>
              </a:rPr>
              <a:t>Popular</a:t>
            </a:r>
            <a:r>
              <a:rPr lang="en-US" sz="2400" spc="-80">
                <a:solidFill>
                  <a:srgbClr val="FFFFFF"/>
                </a:solidFill>
              </a:rPr>
              <a:t> </a:t>
            </a:r>
            <a:r>
              <a:rPr lang="en-US" sz="2400" spc="-30">
                <a:solidFill>
                  <a:srgbClr val="FFFFFF"/>
                </a:solidFill>
              </a:rPr>
              <a:t>Neighborhoods</a:t>
            </a: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110" y="2052084"/>
            <a:ext cx="3033249" cy="3856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99085" marR="5715" indent="-28702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>
                <a:tab pos="299720" algn="l"/>
              </a:tabLst>
            </a:pPr>
            <a:r>
              <a:rPr lang="en-US" sz="1600" spc="10">
                <a:solidFill>
                  <a:srgbClr val="FFFFFF"/>
                </a:solidFill>
              </a:rPr>
              <a:t>We</a:t>
            </a:r>
            <a:r>
              <a:rPr lang="en-US" sz="1600" spc="15">
                <a:solidFill>
                  <a:srgbClr val="FFFFFF"/>
                </a:solidFill>
              </a:rPr>
              <a:t> </a:t>
            </a:r>
            <a:r>
              <a:rPr lang="en-US" sz="1600" spc="-15">
                <a:solidFill>
                  <a:srgbClr val="FFFFFF"/>
                </a:solidFill>
              </a:rPr>
              <a:t>see</a:t>
            </a:r>
            <a:r>
              <a:rPr lang="en-US" sz="1600" spc="-10">
                <a:solidFill>
                  <a:srgbClr val="FFFFFF"/>
                </a:solidFill>
              </a:rPr>
              <a:t> </a:t>
            </a:r>
            <a:r>
              <a:rPr lang="en-US" sz="1600" spc="-30">
                <a:solidFill>
                  <a:srgbClr val="FFFFFF"/>
                </a:solidFill>
              </a:rPr>
              <a:t>that</a:t>
            </a:r>
            <a:r>
              <a:rPr lang="en-US" sz="1600" spc="-25">
                <a:solidFill>
                  <a:srgbClr val="FFFFFF"/>
                </a:solidFill>
              </a:rPr>
              <a:t> </a:t>
            </a:r>
            <a:r>
              <a:rPr lang="en-US" sz="1600" spc="-40">
                <a:solidFill>
                  <a:srgbClr val="FFFFFF"/>
                </a:solidFill>
              </a:rPr>
              <a:t>Bedford- </a:t>
            </a:r>
            <a:r>
              <a:rPr lang="en-US" sz="1600" spc="-620">
                <a:solidFill>
                  <a:srgbClr val="FFFFFF"/>
                </a:solidFill>
              </a:rPr>
              <a:t> </a:t>
            </a:r>
            <a:r>
              <a:rPr lang="en-US" sz="1600" spc="-280">
                <a:solidFill>
                  <a:srgbClr val="FFFFFF"/>
                </a:solidFill>
              </a:rPr>
              <a:t>S</a:t>
            </a:r>
            <a:r>
              <a:rPr lang="en-US" sz="1600" spc="-160">
                <a:solidFill>
                  <a:srgbClr val="FFFFFF"/>
                </a:solidFill>
              </a:rPr>
              <a:t>t</a:t>
            </a:r>
            <a:r>
              <a:rPr lang="en-US" sz="1600" spc="-75">
                <a:solidFill>
                  <a:srgbClr val="FFFFFF"/>
                </a:solidFill>
              </a:rPr>
              <a:t>u</a:t>
            </a:r>
            <a:r>
              <a:rPr lang="en-US" sz="1600" spc="-85">
                <a:solidFill>
                  <a:srgbClr val="FFFFFF"/>
                </a:solidFill>
              </a:rPr>
              <a:t>y</a:t>
            </a:r>
            <a:r>
              <a:rPr lang="en-US" sz="1600" spc="-50">
                <a:solidFill>
                  <a:srgbClr val="FFFFFF"/>
                </a:solidFill>
              </a:rPr>
              <a:t>v</a:t>
            </a:r>
            <a:r>
              <a:rPr lang="en-US" sz="1600" spc="85">
                <a:solidFill>
                  <a:srgbClr val="FFFFFF"/>
                </a:solidFill>
              </a:rPr>
              <a:t>e</a:t>
            </a:r>
            <a:r>
              <a:rPr lang="en-US" sz="1600" spc="-50">
                <a:solidFill>
                  <a:srgbClr val="FFFFFF"/>
                </a:solidFill>
              </a:rPr>
              <a:t>s</a:t>
            </a:r>
            <a:r>
              <a:rPr lang="en-US" sz="1600" spc="-60">
                <a:solidFill>
                  <a:srgbClr val="FFFFFF"/>
                </a:solidFill>
              </a:rPr>
              <a:t>a</a:t>
            </a:r>
            <a:r>
              <a:rPr lang="en-US" sz="1600" spc="-45">
                <a:solidFill>
                  <a:srgbClr val="FFFFFF"/>
                </a:solidFill>
              </a:rPr>
              <a:t>n</a:t>
            </a:r>
            <a:r>
              <a:rPr lang="en-US" sz="1600" spc="-100">
                <a:solidFill>
                  <a:srgbClr val="FFFFFF"/>
                </a:solidFill>
              </a:rPr>
              <a:t>t</a:t>
            </a:r>
            <a:r>
              <a:rPr lang="en-US" sz="1600" spc="-110">
                <a:solidFill>
                  <a:srgbClr val="FFFFFF"/>
                </a:solidFill>
              </a:rPr>
              <a:t> </a:t>
            </a:r>
            <a:r>
              <a:rPr lang="en-US" sz="1600" spc="-70">
                <a:solidFill>
                  <a:srgbClr val="FFFFFF"/>
                </a:solidFill>
              </a:rPr>
              <a:t>fro</a:t>
            </a:r>
            <a:r>
              <a:rPr lang="en-US" sz="1600" spc="-65">
                <a:solidFill>
                  <a:srgbClr val="FFFFFF"/>
                </a:solidFill>
              </a:rPr>
              <a:t>m</a:t>
            </a:r>
            <a:r>
              <a:rPr lang="en-US" sz="1600" spc="-100">
                <a:solidFill>
                  <a:srgbClr val="FFFFFF"/>
                </a:solidFill>
              </a:rPr>
              <a:t> </a:t>
            </a:r>
            <a:r>
              <a:rPr lang="en-US" sz="1600" spc="-120">
                <a:solidFill>
                  <a:srgbClr val="FFFFFF"/>
                </a:solidFill>
              </a:rPr>
              <a:t>Br</a:t>
            </a:r>
            <a:r>
              <a:rPr lang="en-US" sz="1600" spc="-135">
                <a:solidFill>
                  <a:srgbClr val="FFFFFF"/>
                </a:solidFill>
              </a:rPr>
              <a:t>o</a:t>
            </a:r>
            <a:r>
              <a:rPr lang="en-US" sz="1600" spc="-40">
                <a:solidFill>
                  <a:srgbClr val="FFFFFF"/>
                </a:solidFill>
              </a:rPr>
              <a:t>o</a:t>
            </a:r>
            <a:r>
              <a:rPr lang="en-US" sz="1600" spc="-50">
                <a:solidFill>
                  <a:srgbClr val="FFFFFF"/>
                </a:solidFill>
              </a:rPr>
              <a:t>k</a:t>
            </a:r>
            <a:r>
              <a:rPr lang="en-US" sz="1600" spc="-125">
                <a:solidFill>
                  <a:srgbClr val="FFFFFF"/>
                </a:solidFill>
              </a:rPr>
              <a:t>l</a:t>
            </a:r>
            <a:r>
              <a:rPr lang="en-US" sz="1600" spc="-75">
                <a:solidFill>
                  <a:srgbClr val="FFFFFF"/>
                </a:solidFill>
              </a:rPr>
              <a:t>yn</a:t>
            </a:r>
            <a:r>
              <a:rPr lang="en-US" sz="1600" spc="-125">
                <a:solidFill>
                  <a:srgbClr val="FFFFFF"/>
                </a:solidFill>
              </a:rPr>
              <a:t> </a:t>
            </a:r>
            <a:r>
              <a:rPr lang="en-US" sz="1600" spc="-110">
                <a:solidFill>
                  <a:srgbClr val="FFFFFF"/>
                </a:solidFill>
              </a:rPr>
              <a:t>i</a:t>
            </a:r>
            <a:r>
              <a:rPr lang="en-US" sz="1600" spc="-245">
                <a:solidFill>
                  <a:srgbClr val="FFFFFF"/>
                </a:solidFill>
              </a:rPr>
              <a:t>s</a:t>
            </a:r>
            <a:r>
              <a:rPr lang="en-US" sz="1600" spc="-110">
                <a:solidFill>
                  <a:srgbClr val="FFFFFF"/>
                </a:solidFill>
              </a:rPr>
              <a:t> </a:t>
            </a:r>
            <a:r>
              <a:rPr lang="en-US" sz="1600" spc="-114">
                <a:solidFill>
                  <a:srgbClr val="FFFFFF"/>
                </a:solidFill>
              </a:rPr>
              <a:t>t</a:t>
            </a:r>
            <a:r>
              <a:rPr lang="en-US" sz="1600" spc="-45">
                <a:solidFill>
                  <a:srgbClr val="FFFFFF"/>
                </a:solidFill>
              </a:rPr>
              <a:t>h</a:t>
            </a:r>
            <a:r>
              <a:rPr lang="en-US" sz="1600" spc="70">
                <a:solidFill>
                  <a:srgbClr val="FFFFFF"/>
                </a:solidFill>
              </a:rPr>
              <a:t>e  </a:t>
            </a:r>
            <a:r>
              <a:rPr lang="en-US" sz="1600" spc="-55">
                <a:solidFill>
                  <a:srgbClr val="FFFFFF"/>
                </a:solidFill>
              </a:rPr>
              <a:t>highest </a:t>
            </a:r>
            <a:r>
              <a:rPr lang="en-US" sz="1600">
                <a:solidFill>
                  <a:srgbClr val="FFFFFF"/>
                </a:solidFill>
              </a:rPr>
              <a:t>popular </a:t>
            </a:r>
            <a:r>
              <a:rPr lang="en-US" sz="1600" spc="-75">
                <a:solidFill>
                  <a:srgbClr val="FFFFFF"/>
                </a:solidFill>
              </a:rPr>
              <a:t>with </a:t>
            </a:r>
            <a:r>
              <a:rPr lang="en-US" sz="1600" spc="-150">
                <a:solidFill>
                  <a:srgbClr val="FFFFFF"/>
                </a:solidFill>
              </a:rPr>
              <a:t>1,10,352 </a:t>
            </a:r>
            <a:r>
              <a:rPr lang="en-US" sz="1600" spc="-145">
                <a:solidFill>
                  <a:srgbClr val="FFFFFF"/>
                </a:solidFill>
              </a:rPr>
              <a:t> </a:t>
            </a:r>
            <a:r>
              <a:rPr lang="en-US" sz="1600" spc="15">
                <a:solidFill>
                  <a:srgbClr val="FFFFFF"/>
                </a:solidFill>
              </a:rPr>
              <a:t>no </a:t>
            </a:r>
            <a:r>
              <a:rPr lang="en-US" sz="1600" spc="5">
                <a:solidFill>
                  <a:srgbClr val="FFFFFF"/>
                </a:solidFill>
              </a:rPr>
              <a:t>of </a:t>
            </a:r>
            <a:r>
              <a:rPr lang="en-US" sz="1600" spc="-65">
                <a:solidFill>
                  <a:srgbClr val="FFFFFF"/>
                </a:solidFill>
              </a:rPr>
              <a:t>reviews </a:t>
            </a:r>
            <a:r>
              <a:rPr lang="en-US" sz="1600" spc="-80">
                <a:solidFill>
                  <a:srgbClr val="FFFFFF"/>
                </a:solidFill>
              </a:rPr>
              <a:t>in </a:t>
            </a:r>
            <a:r>
              <a:rPr lang="en-US" sz="1600" spc="-30">
                <a:solidFill>
                  <a:srgbClr val="FFFFFF"/>
                </a:solidFill>
              </a:rPr>
              <a:t>total </a:t>
            </a:r>
            <a:r>
              <a:rPr lang="en-US" sz="1600" spc="5">
                <a:solidFill>
                  <a:srgbClr val="FFFFFF"/>
                </a:solidFill>
              </a:rPr>
              <a:t>followed </a:t>
            </a:r>
            <a:r>
              <a:rPr lang="en-US" sz="1600" spc="-620">
                <a:solidFill>
                  <a:srgbClr val="FFFFFF"/>
                </a:solidFill>
              </a:rPr>
              <a:t> </a:t>
            </a:r>
            <a:r>
              <a:rPr lang="en-US" sz="1600">
                <a:solidFill>
                  <a:srgbClr val="FFFFFF"/>
                </a:solidFill>
              </a:rPr>
              <a:t>by</a:t>
            </a:r>
            <a:r>
              <a:rPr lang="en-US" sz="1600" spc="-140">
                <a:solidFill>
                  <a:srgbClr val="FFFFFF"/>
                </a:solidFill>
              </a:rPr>
              <a:t> </a:t>
            </a:r>
            <a:r>
              <a:rPr lang="en-US" sz="1600" spc="-80">
                <a:solidFill>
                  <a:srgbClr val="FFFFFF"/>
                </a:solidFill>
              </a:rPr>
              <a:t>Williamsburg.</a:t>
            </a:r>
            <a:endParaRPr lang="en-US" sz="1600">
              <a:solidFill>
                <a:srgbClr val="FFFFFF"/>
              </a:solidFill>
            </a:endParaRPr>
          </a:p>
          <a:p>
            <a:pPr marL="299085" marR="5715" indent="-28702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>
                <a:tab pos="299720" algn="l"/>
              </a:tabLst>
            </a:pPr>
            <a:r>
              <a:rPr lang="en-US" sz="1600" spc="-55">
                <a:solidFill>
                  <a:srgbClr val="FFFFFF"/>
                </a:solidFill>
              </a:rPr>
              <a:t>Harlem</a:t>
            </a:r>
            <a:r>
              <a:rPr lang="en-US" sz="1600" spc="-50">
                <a:solidFill>
                  <a:srgbClr val="FFFFFF"/>
                </a:solidFill>
              </a:rPr>
              <a:t> </a:t>
            </a:r>
            <a:r>
              <a:rPr lang="en-US" sz="1600" spc="-75">
                <a:solidFill>
                  <a:srgbClr val="FFFFFF"/>
                </a:solidFill>
              </a:rPr>
              <a:t>from</a:t>
            </a:r>
            <a:r>
              <a:rPr lang="en-US" sz="1600" spc="-70">
                <a:solidFill>
                  <a:srgbClr val="FFFFFF"/>
                </a:solidFill>
              </a:rPr>
              <a:t> </a:t>
            </a:r>
            <a:r>
              <a:rPr lang="en-US" sz="1600" spc="25">
                <a:solidFill>
                  <a:srgbClr val="FFFFFF"/>
                </a:solidFill>
              </a:rPr>
              <a:t>Manhattan got </a:t>
            </a:r>
            <a:r>
              <a:rPr lang="en-US" sz="1600" spc="30">
                <a:solidFill>
                  <a:srgbClr val="FFFFFF"/>
                </a:solidFill>
              </a:rPr>
              <a:t> </a:t>
            </a:r>
            <a:r>
              <a:rPr lang="en-US" sz="1600" spc="-15">
                <a:solidFill>
                  <a:srgbClr val="FFFFFF"/>
                </a:solidFill>
              </a:rPr>
              <a:t>the</a:t>
            </a:r>
            <a:r>
              <a:rPr lang="en-US" sz="1600" spc="-10">
                <a:solidFill>
                  <a:srgbClr val="FFFFFF"/>
                </a:solidFill>
              </a:rPr>
              <a:t> </a:t>
            </a:r>
            <a:r>
              <a:rPr lang="en-US" sz="1600" spc="-55">
                <a:solidFill>
                  <a:srgbClr val="FFFFFF"/>
                </a:solidFill>
              </a:rPr>
              <a:t>highest</a:t>
            </a:r>
            <a:r>
              <a:rPr lang="en-US" sz="1600" spc="-50">
                <a:solidFill>
                  <a:srgbClr val="FFFFFF"/>
                </a:solidFill>
              </a:rPr>
              <a:t> </a:t>
            </a:r>
            <a:r>
              <a:rPr lang="en-US" sz="1600" spc="15">
                <a:solidFill>
                  <a:srgbClr val="FFFFFF"/>
                </a:solidFill>
              </a:rPr>
              <a:t>no</a:t>
            </a:r>
            <a:r>
              <a:rPr lang="en-US" sz="1600" spc="20">
                <a:solidFill>
                  <a:srgbClr val="FFFFFF"/>
                </a:solidFill>
              </a:rPr>
              <a:t> </a:t>
            </a:r>
            <a:r>
              <a:rPr lang="en-US" sz="1600" spc="5">
                <a:solidFill>
                  <a:srgbClr val="FFFFFF"/>
                </a:solidFill>
              </a:rPr>
              <a:t>of</a:t>
            </a:r>
            <a:r>
              <a:rPr lang="en-US" sz="1600" spc="10">
                <a:solidFill>
                  <a:srgbClr val="FFFFFF"/>
                </a:solidFill>
              </a:rPr>
              <a:t> </a:t>
            </a:r>
            <a:r>
              <a:rPr lang="en-US" sz="1600" spc="-70">
                <a:solidFill>
                  <a:srgbClr val="FFFFFF"/>
                </a:solidFill>
              </a:rPr>
              <a:t>reviews </a:t>
            </a:r>
            <a:r>
              <a:rPr lang="en-US" sz="1600" spc="-65">
                <a:solidFill>
                  <a:srgbClr val="FFFFFF"/>
                </a:solidFill>
              </a:rPr>
              <a:t> </a:t>
            </a:r>
            <a:r>
              <a:rPr lang="en-US" sz="1600" spc="-45">
                <a:solidFill>
                  <a:srgbClr val="FFFFFF"/>
                </a:solidFill>
              </a:rPr>
              <a:t>fo</a:t>
            </a:r>
            <a:r>
              <a:rPr lang="en-US" sz="1600" spc="-25">
                <a:solidFill>
                  <a:srgbClr val="FFFFFF"/>
                </a:solidFill>
              </a:rPr>
              <a:t>l</a:t>
            </a:r>
            <a:r>
              <a:rPr lang="en-US" sz="1600" spc="-125">
                <a:solidFill>
                  <a:srgbClr val="FFFFFF"/>
                </a:solidFill>
              </a:rPr>
              <a:t>l</a:t>
            </a:r>
            <a:r>
              <a:rPr lang="en-US" sz="1600" spc="45">
                <a:solidFill>
                  <a:srgbClr val="FFFFFF"/>
                </a:solidFill>
              </a:rPr>
              <a:t>o</a:t>
            </a:r>
            <a:r>
              <a:rPr lang="en-US" sz="1600" spc="25">
                <a:solidFill>
                  <a:srgbClr val="FFFFFF"/>
                </a:solidFill>
              </a:rPr>
              <a:t>w</a:t>
            </a:r>
            <a:r>
              <a:rPr lang="en-US" sz="1600" spc="85">
                <a:solidFill>
                  <a:srgbClr val="FFFFFF"/>
                </a:solidFill>
              </a:rPr>
              <a:t>e</a:t>
            </a:r>
            <a:r>
              <a:rPr lang="en-US" sz="1600" spc="110">
                <a:solidFill>
                  <a:srgbClr val="FFFFFF"/>
                </a:solidFill>
              </a:rPr>
              <a:t>d</a:t>
            </a:r>
            <a:r>
              <a:rPr lang="en-US" sz="1600" spc="-100">
                <a:solidFill>
                  <a:srgbClr val="FFFFFF"/>
                </a:solidFill>
              </a:rPr>
              <a:t> </a:t>
            </a:r>
            <a:r>
              <a:rPr lang="en-US" sz="1600" spc="-5">
                <a:solidFill>
                  <a:srgbClr val="FFFFFF"/>
                </a:solidFill>
              </a:rPr>
              <a:t>b</a:t>
            </a:r>
            <a:r>
              <a:rPr lang="en-US" sz="1600">
                <a:solidFill>
                  <a:srgbClr val="FFFFFF"/>
                </a:solidFill>
              </a:rPr>
              <a:t>y</a:t>
            </a:r>
            <a:r>
              <a:rPr lang="en-US" sz="1600" spc="-135">
                <a:solidFill>
                  <a:srgbClr val="FFFFFF"/>
                </a:solidFill>
              </a:rPr>
              <a:t> H</a:t>
            </a:r>
            <a:r>
              <a:rPr lang="en-US" sz="1600" spc="85">
                <a:solidFill>
                  <a:srgbClr val="FFFFFF"/>
                </a:solidFill>
              </a:rPr>
              <a:t>e</a:t>
            </a:r>
            <a:r>
              <a:rPr lang="en-US" sz="1600" spc="-125">
                <a:solidFill>
                  <a:srgbClr val="FFFFFF"/>
                </a:solidFill>
              </a:rPr>
              <a:t>ll</a:t>
            </a:r>
            <a:r>
              <a:rPr lang="en-US" sz="1600" spc="-40">
                <a:solidFill>
                  <a:srgbClr val="FFFFFF"/>
                </a:solidFill>
              </a:rPr>
              <a:t>’</a:t>
            </a:r>
            <a:r>
              <a:rPr lang="en-US" sz="1600" spc="-60">
                <a:solidFill>
                  <a:srgbClr val="FFFFFF"/>
                </a:solidFill>
              </a:rPr>
              <a:t>s</a:t>
            </a:r>
            <a:r>
              <a:rPr lang="en-US" sz="1600" spc="-140">
                <a:solidFill>
                  <a:srgbClr val="FFFFFF"/>
                </a:solidFill>
              </a:rPr>
              <a:t> </a:t>
            </a:r>
            <a:r>
              <a:rPr lang="en-US" sz="1600" spc="-204">
                <a:solidFill>
                  <a:srgbClr val="FFFFFF"/>
                </a:solidFill>
              </a:rPr>
              <a:t>k</a:t>
            </a:r>
            <a:r>
              <a:rPr lang="en-US" sz="1600" spc="-80">
                <a:solidFill>
                  <a:srgbClr val="FFFFFF"/>
                </a:solidFill>
              </a:rPr>
              <a:t>i</a:t>
            </a:r>
            <a:r>
              <a:rPr lang="en-US" sz="1600" spc="-114">
                <a:solidFill>
                  <a:srgbClr val="FFFFFF"/>
                </a:solidFill>
              </a:rPr>
              <a:t>t</a:t>
            </a:r>
            <a:r>
              <a:rPr lang="en-US" sz="1600" spc="80">
                <a:solidFill>
                  <a:srgbClr val="FFFFFF"/>
                </a:solidFill>
              </a:rPr>
              <a:t>c</a:t>
            </a:r>
            <a:r>
              <a:rPr lang="en-US" sz="1600" spc="90">
                <a:solidFill>
                  <a:srgbClr val="FFFFFF"/>
                </a:solidFill>
              </a:rPr>
              <a:t>h</a:t>
            </a:r>
            <a:r>
              <a:rPr lang="en-US" sz="1600" spc="85">
                <a:solidFill>
                  <a:srgbClr val="FFFFFF"/>
                </a:solidFill>
              </a:rPr>
              <a:t>e</a:t>
            </a:r>
            <a:r>
              <a:rPr lang="en-US" sz="1600" spc="-50">
                <a:solidFill>
                  <a:srgbClr val="FFFFFF"/>
                </a:solidFill>
              </a:rPr>
              <a:t>n</a:t>
            </a:r>
            <a:r>
              <a:rPr lang="en-US" sz="1600" spc="-160">
                <a:solidFill>
                  <a:srgbClr val="FFFFFF"/>
                </a:solidFill>
              </a:rPr>
              <a:t>.</a:t>
            </a:r>
            <a:endParaRPr lang="en-US" sz="1600">
              <a:solidFill>
                <a:srgbClr val="FFFFFF"/>
              </a:solidFill>
            </a:endParaRPr>
          </a:p>
          <a:p>
            <a:pPr marL="299085" marR="5080" indent="-28702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>
                <a:tab pos="299720" algn="l"/>
              </a:tabLst>
            </a:pPr>
            <a:r>
              <a:rPr lang="en-US" sz="1600" spc="-105">
                <a:solidFill>
                  <a:srgbClr val="FFFFFF"/>
                </a:solidFill>
              </a:rPr>
              <a:t>The</a:t>
            </a:r>
            <a:r>
              <a:rPr lang="en-US" sz="1600" spc="-100">
                <a:solidFill>
                  <a:srgbClr val="FFFFFF"/>
                </a:solidFill>
              </a:rPr>
              <a:t> </a:t>
            </a:r>
            <a:r>
              <a:rPr lang="en-US" sz="1600" spc="-45">
                <a:solidFill>
                  <a:srgbClr val="FFFFFF"/>
                </a:solidFill>
              </a:rPr>
              <a:t>higher</a:t>
            </a:r>
            <a:r>
              <a:rPr lang="en-US" sz="1600" spc="-40">
                <a:solidFill>
                  <a:srgbClr val="FFFFFF"/>
                </a:solidFill>
              </a:rPr>
              <a:t> </a:t>
            </a:r>
            <a:r>
              <a:rPr lang="en-US" sz="1600" spc="-35">
                <a:solidFill>
                  <a:srgbClr val="FFFFFF"/>
                </a:solidFill>
              </a:rPr>
              <a:t>number</a:t>
            </a:r>
            <a:r>
              <a:rPr lang="en-US" sz="1600" spc="565">
                <a:solidFill>
                  <a:srgbClr val="FFFFFF"/>
                </a:solidFill>
              </a:rPr>
              <a:t> </a:t>
            </a:r>
            <a:r>
              <a:rPr lang="en-US" sz="1600">
                <a:solidFill>
                  <a:srgbClr val="FFFFFF"/>
                </a:solidFill>
              </a:rPr>
              <a:t>of </a:t>
            </a:r>
            <a:r>
              <a:rPr lang="en-US" sz="1600" spc="-620">
                <a:solidFill>
                  <a:srgbClr val="FFFFFF"/>
                </a:solidFill>
              </a:rPr>
              <a:t> </a:t>
            </a:r>
            <a:r>
              <a:rPr lang="en-US" sz="1600" spc="-35">
                <a:solidFill>
                  <a:srgbClr val="FFFFFF"/>
                </a:solidFill>
              </a:rPr>
              <a:t>customer </a:t>
            </a:r>
            <a:r>
              <a:rPr lang="en-US" sz="1600" spc="-65">
                <a:solidFill>
                  <a:srgbClr val="FFFFFF"/>
                </a:solidFill>
              </a:rPr>
              <a:t>reviews imply </a:t>
            </a:r>
            <a:r>
              <a:rPr lang="en-US" sz="1600" spc="-45">
                <a:solidFill>
                  <a:srgbClr val="FFFFFF"/>
                </a:solidFill>
              </a:rPr>
              <a:t>higher </a:t>
            </a:r>
            <a:r>
              <a:rPr lang="en-US" sz="1600" spc="-620">
                <a:solidFill>
                  <a:srgbClr val="FFFFFF"/>
                </a:solidFill>
              </a:rPr>
              <a:t> </a:t>
            </a:r>
            <a:r>
              <a:rPr lang="en-US" sz="1600" spc="-50">
                <a:solidFill>
                  <a:srgbClr val="FFFFFF"/>
                </a:solidFill>
              </a:rPr>
              <a:t>s</a:t>
            </a:r>
            <a:r>
              <a:rPr lang="en-US" sz="1600" spc="-60">
                <a:solidFill>
                  <a:srgbClr val="FFFFFF"/>
                </a:solidFill>
              </a:rPr>
              <a:t>a</a:t>
            </a:r>
            <a:r>
              <a:rPr lang="en-US" sz="1600" spc="-114">
                <a:solidFill>
                  <a:srgbClr val="FFFFFF"/>
                </a:solidFill>
              </a:rPr>
              <a:t>ti</a:t>
            </a:r>
            <a:r>
              <a:rPr lang="en-US" sz="1600" spc="-55">
                <a:solidFill>
                  <a:srgbClr val="FFFFFF"/>
                </a:solidFill>
              </a:rPr>
              <a:t>sf</a:t>
            </a:r>
            <a:r>
              <a:rPr lang="en-US" sz="1600" spc="-75">
                <a:solidFill>
                  <a:srgbClr val="FFFFFF"/>
                </a:solidFill>
              </a:rPr>
              <a:t>a</a:t>
            </a:r>
            <a:r>
              <a:rPr lang="en-US" sz="1600" spc="70">
                <a:solidFill>
                  <a:srgbClr val="FFFFFF"/>
                </a:solidFill>
              </a:rPr>
              <a:t>c</a:t>
            </a:r>
            <a:r>
              <a:rPr lang="en-US" sz="1600" spc="35">
                <a:solidFill>
                  <a:srgbClr val="FFFFFF"/>
                </a:solidFill>
              </a:rPr>
              <a:t>t</a:t>
            </a:r>
            <a:r>
              <a:rPr lang="en-US" sz="1600" spc="-114">
                <a:solidFill>
                  <a:srgbClr val="FFFFFF"/>
                </a:solidFill>
              </a:rPr>
              <a:t>i</a:t>
            </a:r>
            <a:r>
              <a:rPr lang="en-US" sz="1600" spc="20">
                <a:solidFill>
                  <a:srgbClr val="FFFFFF"/>
                </a:solidFill>
              </a:rPr>
              <a:t>on</a:t>
            </a:r>
            <a:r>
              <a:rPr lang="en-US" sz="1600" spc="-145">
                <a:solidFill>
                  <a:srgbClr val="FFFFFF"/>
                </a:solidFill>
              </a:rPr>
              <a:t> </a:t>
            </a:r>
            <a:r>
              <a:rPr lang="en-US" sz="1600" spc="-35">
                <a:solidFill>
                  <a:srgbClr val="FFFFFF"/>
                </a:solidFill>
              </a:rPr>
              <a:t>i</a:t>
            </a:r>
            <a:r>
              <a:rPr lang="en-US" sz="1600" spc="-125">
                <a:solidFill>
                  <a:srgbClr val="FFFFFF"/>
                </a:solidFill>
              </a:rPr>
              <a:t>n</a:t>
            </a:r>
            <a:r>
              <a:rPr lang="en-US" sz="1600" spc="-150">
                <a:solidFill>
                  <a:srgbClr val="FFFFFF"/>
                </a:solidFill>
              </a:rPr>
              <a:t> </a:t>
            </a:r>
            <a:r>
              <a:rPr lang="en-US" sz="1600" spc="-114">
                <a:solidFill>
                  <a:srgbClr val="FFFFFF"/>
                </a:solidFill>
              </a:rPr>
              <a:t>t</a:t>
            </a:r>
            <a:r>
              <a:rPr lang="en-US" sz="1600" spc="-55">
                <a:solidFill>
                  <a:srgbClr val="FFFFFF"/>
                </a:solidFill>
              </a:rPr>
              <a:t>h</a:t>
            </a:r>
            <a:r>
              <a:rPr lang="en-US" sz="1600" spc="85">
                <a:solidFill>
                  <a:srgbClr val="FFFFFF"/>
                </a:solidFill>
              </a:rPr>
              <a:t>e</a:t>
            </a:r>
            <a:r>
              <a:rPr lang="en-US" sz="1600" spc="-75">
                <a:solidFill>
                  <a:srgbClr val="FFFFFF"/>
                </a:solidFill>
              </a:rPr>
              <a:t>s</a:t>
            </a:r>
            <a:r>
              <a:rPr lang="en-US" sz="1600" spc="-80">
                <a:solidFill>
                  <a:srgbClr val="FFFFFF"/>
                </a:solidFill>
              </a:rPr>
              <a:t>e</a:t>
            </a:r>
            <a:r>
              <a:rPr lang="en-US" sz="1600" spc="-105">
                <a:solidFill>
                  <a:srgbClr val="FFFFFF"/>
                </a:solidFill>
              </a:rPr>
              <a:t> </a:t>
            </a:r>
            <a:r>
              <a:rPr lang="en-US" sz="1600" spc="-125">
                <a:solidFill>
                  <a:srgbClr val="FFFFFF"/>
                </a:solidFill>
              </a:rPr>
              <a:t>l</a:t>
            </a:r>
            <a:r>
              <a:rPr lang="en-US" sz="1600" spc="150">
                <a:solidFill>
                  <a:srgbClr val="FFFFFF"/>
                </a:solidFill>
              </a:rPr>
              <a:t>oca</a:t>
            </a:r>
            <a:r>
              <a:rPr lang="en-US" sz="1600" spc="-125">
                <a:solidFill>
                  <a:srgbClr val="FFFFFF"/>
                </a:solidFill>
              </a:rPr>
              <a:t>l</a:t>
            </a:r>
            <a:r>
              <a:rPr lang="en-US" sz="1600" spc="-114">
                <a:solidFill>
                  <a:srgbClr val="FFFFFF"/>
                </a:solidFill>
              </a:rPr>
              <a:t>it</a:t>
            </a:r>
            <a:r>
              <a:rPr lang="en-US" sz="1600" spc="-125">
                <a:solidFill>
                  <a:srgbClr val="FFFFFF"/>
                </a:solidFill>
              </a:rPr>
              <a:t>i</a:t>
            </a:r>
            <a:r>
              <a:rPr lang="en-US" sz="1600" spc="85">
                <a:solidFill>
                  <a:srgbClr val="FFFFFF"/>
                </a:solidFill>
              </a:rPr>
              <a:t>e</a:t>
            </a:r>
            <a:r>
              <a:rPr lang="en-US" sz="1600" spc="-240">
                <a:solidFill>
                  <a:srgbClr val="FFFFFF"/>
                </a:solidFill>
              </a:rPr>
              <a:t>s</a:t>
            </a:r>
            <a:r>
              <a:rPr lang="en-US" sz="1600" spc="-145">
                <a:solidFill>
                  <a:srgbClr val="FFFFFF"/>
                </a:solidFill>
              </a:rPr>
              <a:t>.</a:t>
            </a:r>
            <a:endParaRPr lang="en-US" sz="1600">
              <a:solidFill>
                <a:srgbClr val="FFFFFF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71587" y="826346"/>
            <a:ext cx="7273880" cy="5399833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110" y="826346"/>
            <a:ext cx="3171905" cy="101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/>
          <a:p>
            <a:pPr marL="554990" marR="5080" indent="-542925"/>
            <a:r>
              <a:rPr lang="en-US" sz="2400" spc="-25">
                <a:solidFill>
                  <a:srgbClr val="FFFFFF"/>
                </a:solidFill>
              </a:rPr>
              <a:t>Neighbourhood</a:t>
            </a:r>
            <a:r>
              <a:rPr lang="en-US" sz="2400" spc="-90">
                <a:solidFill>
                  <a:srgbClr val="FFFFFF"/>
                </a:solidFill>
              </a:rPr>
              <a:t> </a:t>
            </a:r>
            <a:r>
              <a:rPr lang="en-US" sz="2400" spc="-120">
                <a:solidFill>
                  <a:srgbClr val="FFFFFF"/>
                </a:solidFill>
              </a:rPr>
              <a:t>vs </a:t>
            </a:r>
            <a:r>
              <a:rPr lang="en-US" sz="2400" spc="-690">
                <a:solidFill>
                  <a:srgbClr val="FFFFFF"/>
                </a:solidFill>
              </a:rPr>
              <a:t> </a:t>
            </a:r>
            <a:r>
              <a:rPr lang="en-US" sz="2400" spc="-50">
                <a:solidFill>
                  <a:srgbClr val="FFFFFF"/>
                </a:solidFill>
              </a:rPr>
              <a:t>Availability</a:t>
            </a: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110" y="2052084"/>
            <a:ext cx="3033249" cy="3856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99085" marR="5080" indent="-28702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>
                <a:tab pos="299720" algn="l"/>
              </a:tabLst>
            </a:pPr>
            <a:r>
              <a:rPr lang="en-US" sz="1600" spc="-40">
                <a:solidFill>
                  <a:srgbClr val="FFFFFF"/>
                </a:solidFill>
              </a:rPr>
              <a:t>Availability</a:t>
            </a:r>
            <a:r>
              <a:rPr lang="en-US" sz="1600" spc="-35">
                <a:solidFill>
                  <a:srgbClr val="FFFFFF"/>
                </a:solidFill>
              </a:rPr>
              <a:t> </a:t>
            </a:r>
            <a:r>
              <a:rPr lang="en-US" sz="1600" spc="5">
                <a:solidFill>
                  <a:srgbClr val="FFFFFF"/>
                </a:solidFill>
              </a:rPr>
              <a:t>of</a:t>
            </a:r>
            <a:r>
              <a:rPr lang="en-US" sz="1600" spc="10">
                <a:solidFill>
                  <a:srgbClr val="FFFFFF"/>
                </a:solidFill>
              </a:rPr>
              <a:t> </a:t>
            </a:r>
            <a:r>
              <a:rPr lang="en-US" sz="1600" spc="-20">
                <a:solidFill>
                  <a:srgbClr val="FFFFFF"/>
                </a:solidFill>
              </a:rPr>
              <a:t>Bedford</a:t>
            </a:r>
            <a:r>
              <a:rPr lang="en-US" sz="1600" spc="-15">
                <a:solidFill>
                  <a:srgbClr val="FFFFFF"/>
                </a:solidFill>
              </a:rPr>
              <a:t> </a:t>
            </a:r>
            <a:r>
              <a:rPr lang="en-US" sz="1600" spc="-170">
                <a:solidFill>
                  <a:srgbClr val="FFFFFF"/>
                </a:solidFill>
              </a:rPr>
              <a:t>is </a:t>
            </a:r>
            <a:r>
              <a:rPr lang="en-US" sz="1600" spc="-165">
                <a:solidFill>
                  <a:srgbClr val="FFFFFF"/>
                </a:solidFill>
              </a:rPr>
              <a:t> </a:t>
            </a:r>
            <a:r>
              <a:rPr lang="en-US" sz="1600" spc="-55">
                <a:solidFill>
                  <a:srgbClr val="FFFFFF"/>
                </a:solidFill>
              </a:rPr>
              <a:t>highest </a:t>
            </a:r>
            <a:r>
              <a:rPr lang="en-US" sz="1600" spc="70">
                <a:solidFill>
                  <a:srgbClr val="FFFFFF"/>
                </a:solidFill>
              </a:rPr>
              <a:t>and </a:t>
            </a:r>
            <a:r>
              <a:rPr lang="en-US" sz="1600" spc="-160">
                <a:solidFill>
                  <a:srgbClr val="FFFFFF"/>
                </a:solidFill>
              </a:rPr>
              <a:t>its </a:t>
            </a:r>
            <a:r>
              <a:rPr lang="en-US" sz="1600" spc="15">
                <a:solidFill>
                  <a:srgbClr val="FFFFFF"/>
                </a:solidFill>
              </a:rPr>
              <a:t>price </a:t>
            </a:r>
            <a:r>
              <a:rPr lang="en-US" sz="1600" spc="-180">
                <a:solidFill>
                  <a:srgbClr val="FFFFFF"/>
                </a:solidFill>
              </a:rPr>
              <a:t>is </a:t>
            </a:r>
            <a:r>
              <a:rPr lang="en-US" sz="1600" spc="20">
                <a:solidFill>
                  <a:srgbClr val="FFFFFF"/>
                </a:solidFill>
              </a:rPr>
              <a:t>on </a:t>
            </a:r>
            <a:r>
              <a:rPr lang="en-US" sz="1600" spc="-15">
                <a:solidFill>
                  <a:srgbClr val="FFFFFF"/>
                </a:solidFill>
              </a:rPr>
              <a:t>the </a:t>
            </a:r>
            <a:r>
              <a:rPr lang="en-US" sz="1600" spc="-10">
                <a:solidFill>
                  <a:srgbClr val="FFFFFF"/>
                </a:solidFill>
              </a:rPr>
              <a:t> </a:t>
            </a:r>
            <a:r>
              <a:rPr lang="en-US" sz="1600" spc="-125">
                <a:solidFill>
                  <a:srgbClr val="FFFFFF"/>
                </a:solidFill>
              </a:rPr>
              <a:t>l</a:t>
            </a:r>
            <a:r>
              <a:rPr lang="en-US" sz="1600" spc="90">
                <a:solidFill>
                  <a:srgbClr val="FFFFFF"/>
                </a:solidFill>
              </a:rPr>
              <a:t>o</a:t>
            </a:r>
            <a:r>
              <a:rPr lang="en-US" sz="1600">
                <a:solidFill>
                  <a:srgbClr val="FFFFFF"/>
                </a:solidFill>
              </a:rPr>
              <a:t>w</a:t>
            </a:r>
            <a:r>
              <a:rPr lang="en-US" sz="1600" spc="85">
                <a:solidFill>
                  <a:srgbClr val="FFFFFF"/>
                </a:solidFill>
              </a:rPr>
              <a:t>e</a:t>
            </a:r>
            <a:r>
              <a:rPr lang="en-US" sz="1600" spc="-229">
                <a:solidFill>
                  <a:srgbClr val="FFFFFF"/>
                </a:solidFill>
              </a:rPr>
              <a:t>r</a:t>
            </a:r>
            <a:r>
              <a:rPr lang="en-US" sz="1600" spc="-20">
                <a:solidFill>
                  <a:srgbClr val="FFFFFF"/>
                </a:solidFill>
              </a:rPr>
              <a:t> </a:t>
            </a:r>
            <a:r>
              <a:rPr lang="en-US" sz="1600" spc="-250">
                <a:solidFill>
                  <a:srgbClr val="FFFFFF"/>
                </a:solidFill>
              </a:rPr>
              <a:t>s</a:t>
            </a:r>
            <a:r>
              <a:rPr lang="en-US" sz="1600" spc="-114">
                <a:solidFill>
                  <a:srgbClr val="FFFFFF"/>
                </a:solidFill>
              </a:rPr>
              <a:t>i</a:t>
            </a:r>
            <a:r>
              <a:rPr lang="en-US" sz="1600" spc="100">
                <a:solidFill>
                  <a:srgbClr val="FFFFFF"/>
                </a:solidFill>
              </a:rPr>
              <a:t>d</a:t>
            </a:r>
            <a:r>
              <a:rPr lang="en-US" sz="1600" spc="110">
                <a:solidFill>
                  <a:srgbClr val="FFFFFF"/>
                </a:solidFill>
              </a:rPr>
              <a:t>e</a:t>
            </a:r>
            <a:r>
              <a:rPr lang="en-US" sz="1600" spc="-160">
                <a:solidFill>
                  <a:srgbClr val="FFFFFF"/>
                </a:solidFill>
              </a:rPr>
              <a:t>.</a:t>
            </a:r>
            <a:r>
              <a:rPr lang="en-US" sz="1600" spc="-40">
                <a:solidFill>
                  <a:srgbClr val="FFFFFF"/>
                </a:solidFill>
              </a:rPr>
              <a:t> </a:t>
            </a:r>
            <a:r>
              <a:rPr lang="en-US" sz="1600" spc="-210">
                <a:solidFill>
                  <a:srgbClr val="FFFFFF"/>
                </a:solidFill>
              </a:rPr>
              <a:t>I</a:t>
            </a:r>
            <a:r>
              <a:rPr lang="en-US" sz="1600" spc="-220">
                <a:solidFill>
                  <a:srgbClr val="FFFFFF"/>
                </a:solidFill>
              </a:rPr>
              <a:t>t</a:t>
            </a:r>
            <a:r>
              <a:rPr lang="en-US" sz="1600" spc="-35">
                <a:solidFill>
                  <a:srgbClr val="FFFFFF"/>
                </a:solidFill>
              </a:rPr>
              <a:t> </a:t>
            </a:r>
            <a:r>
              <a:rPr lang="en-US" sz="1600" spc="-120">
                <a:solidFill>
                  <a:srgbClr val="FFFFFF"/>
                </a:solidFill>
              </a:rPr>
              <a:t>i</a:t>
            </a:r>
            <a:r>
              <a:rPr lang="en-US" sz="1600" spc="-245">
                <a:solidFill>
                  <a:srgbClr val="FFFFFF"/>
                </a:solidFill>
              </a:rPr>
              <a:t>s</a:t>
            </a:r>
            <a:r>
              <a:rPr lang="en-US" sz="1600" spc="-25">
                <a:solidFill>
                  <a:srgbClr val="FFFFFF"/>
                </a:solidFill>
              </a:rPr>
              <a:t> </a:t>
            </a:r>
            <a:r>
              <a:rPr lang="en-US" sz="1600" spc="145">
                <a:solidFill>
                  <a:srgbClr val="FFFFFF"/>
                </a:solidFill>
              </a:rPr>
              <a:t>a</a:t>
            </a:r>
            <a:r>
              <a:rPr lang="en-US" sz="1600" spc="-25">
                <a:solidFill>
                  <a:srgbClr val="FFFFFF"/>
                </a:solidFill>
              </a:rPr>
              <a:t> </a:t>
            </a:r>
            <a:r>
              <a:rPr lang="en-US" sz="1600" spc="85">
                <a:solidFill>
                  <a:srgbClr val="FFFFFF"/>
                </a:solidFill>
              </a:rPr>
              <a:t>go</a:t>
            </a:r>
            <a:r>
              <a:rPr lang="en-US" sz="1600" spc="75">
                <a:solidFill>
                  <a:srgbClr val="FFFFFF"/>
                </a:solidFill>
              </a:rPr>
              <a:t>o</a:t>
            </a:r>
            <a:r>
              <a:rPr lang="en-US" sz="1600" spc="110">
                <a:solidFill>
                  <a:srgbClr val="FFFFFF"/>
                </a:solidFill>
              </a:rPr>
              <a:t>d</a:t>
            </a:r>
            <a:r>
              <a:rPr lang="en-US" sz="1600" spc="-20">
                <a:solidFill>
                  <a:srgbClr val="FFFFFF"/>
                </a:solidFill>
              </a:rPr>
              <a:t> </a:t>
            </a:r>
            <a:r>
              <a:rPr lang="en-US" sz="1600" spc="80">
                <a:solidFill>
                  <a:srgbClr val="FFFFFF"/>
                </a:solidFill>
              </a:rPr>
              <a:t>c</a:t>
            </a:r>
            <a:r>
              <a:rPr lang="en-US" sz="1600" spc="90">
                <a:solidFill>
                  <a:srgbClr val="FFFFFF"/>
                </a:solidFill>
              </a:rPr>
              <a:t>ho</a:t>
            </a:r>
            <a:r>
              <a:rPr lang="en-US" sz="1600" spc="-125">
                <a:solidFill>
                  <a:srgbClr val="FFFFFF"/>
                </a:solidFill>
              </a:rPr>
              <a:t>i</a:t>
            </a:r>
            <a:r>
              <a:rPr lang="en-US" sz="1600" spc="130">
                <a:solidFill>
                  <a:srgbClr val="FFFFFF"/>
                </a:solidFill>
              </a:rPr>
              <a:t>ce  </a:t>
            </a:r>
            <a:r>
              <a:rPr lang="en-US" sz="1600" spc="-70">
                <a:solidFill>
                  <a:srgbClr val="FFFFFF"/>
                </a:solidFill>
              </a:rPr>
              <a:t>for</a:t>
            </a:r>
            <a:r>
              <a:rPr lang="en-US" sz="1600" spc="-150">
                <a:solidFill>
                  <a:srgbClr val="FFFFFF"/>
                </a:solidFill>
              </a:rPr>
              <a:t> </a:t>
            </a:r>
            <a:r>
              <a:rPr lang="en-US" sz="1600" spc="-20">
                <a:solidFill>
                  <a:srgbClr val="FFFFFF"/>
                </a:solidFill>
              </a:rPr>
              <a:t>cu</a:t>
            </a:r>
            <a:r>
              <a:rPr lang="en-US" sz="1600" spc="-30">
                <a:solidFill>
                  <a:srgbClr val="FFFFFF"/>
                </a:solidFill>
              </a:rPr>
              <a:t>s</a:t>
            </a:r>
            <a:r>
              <a:rPr lang="en-US" sz="1600" spc="-114">
                <a:solidFill>
                  <a:srgbClr val="FFFFFF"/>
                </a:solidFill>
              </a:rPr>
              <a:t>t</a:t>
            </a:r>
            <a:r>
              <a:rPr lang="en-US" sz="1600" spc="40">
                <a:solidFill>
                  <a:srgbClr val="FFFFFF"/>
                </a:solidFill>
              </a:rPr>
              <a:t>om</a:t>
            </a:r>
            <a:r>
              <a:rPr lang="en-US" sz="1600" spc="25">
                <a:solidFill>
                  <a:srgbClr val="FFFFFF"/>
                </a:solidFill>
              </a:rPr>
              <a:t>e</a:t>
            </a:r>
            <a:r>
              <a:rPr lang="en-US" sz="1600" spc="-210">
                <a:solidFill>
                  <a:srgbClr val="FFFFFF"/>
                </a:solidFill>
              </a:rPr>
              <a:t>r</a:t>
            </a:r>
            <a:r>
              <a:rPr lang="en-US" sz="1600" spc="-265">
                <a:solidFill>
                  <a:srgbClr val="FFFFFF"/>
                </a:solidFill>
              </a:rPr>
              <a:t>s</a:t>
            </a:r>
            <a:r>
              <a:rPr lang="en-US" sz="1600" spc="-160">
                <a:solidFill>
                  <a:srgbClr val="FFFFFF"/>
                </a:solidFill>
              </a:rPr>
              <a:t>.</a:t>
            </a:r>
            <a:endParaRPr lang="en-US" sz="1600">
              <a:solidFill>
                <a:srgbClr val="FFFFFF"/>
              </a:solidFill>
            </a:endParaRPr>
          </a:p>
          <a:p>
            <a:pPr marL="299085" marR="10795" indent="-28702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>
                <a:tab pos="299720" algn="l"/>
              </a:tabLst>
            </a:pPr>
            <a:r>
              <a:rPr lang="en-US" sz="1600" spc="-45">
                <a:solidFill>
                  <a:srgbClr val="FFFFFF"/>
                </a:solidFill>
              </a:rPr>
              <a:t>After </a:t>
            </a:r>
            <a:r>
              <a:rPr lang="en-US" sz="1600" spc="-35">
                <a:solidFill>
                  <a:srgbClr val="FFFFFF"/>
                </a:solidFill>
              </a:rPr>
              <a:t>Bedford, </a:t>
            </a:r>
            <a:r>
              <a:rPr lang="en-US" sz="1600" spc="-55">
                <a:solidFill>
                  <a:srgbClr val="FFFFFF"/>
                </a:solidFill>
              </a:rPr>
              <a:t>Harlem </a:t>
            </a:r>
            <a:r>
              <a:rPr lang="en-US" sz="1600" spc="-60">
                <a:solidFill>
                  <a:srgbClr val="FFFFFF"/>
                </a:solidFill>
              </a:rPr>
              <a:t>follows </a:t>
            </a:r>
            <a:r>
              <a:rPr lang="en-US" sz="1600" spc="-55">
                <a:solidFill>
                  <a:srgbClr val="FFFFFF"/>
                </a:solidFill>
              </a:rPr>
              <a:t> </a:t>
            </a:r>
            <a:r>
              <a:rPr lang="en-US" sz="1600" spc="-25">
                <a:solidFill>
                  <a:srgbClr val="FFFFFF"/>
                </a:solidFill>
              </a:rPr>
              <a:t>the</a:t>
            </a:r>
            <a:r>
              <a:rPr lang="en-US" sz="1600" spc="-120">
                <a:solidFill>
                  <a:srgbClr val="FFFFFF"/>
                </a:solidFill>
              </a:rPr>
              <a:t> </a:t>
            </a:r>
            <a:r>
              <a:rPr lang="en-US" sz="1600" spc="-20">
                <a:solidFill>
                  <a:srgbClr val="FFFFFF"/>
                </a:solidFill>
              </a:rPr>
              <a:t>same</a:t>
            </a:r>
            <a:r>
              <a:rPr lang="en-US" sz="1600" spc="-125">
                <a:solidFill>
                  <a:srgbClr val="FFFFFF"/>
                </a:solidFill>
              </a:rPr>
              <a:t> </a:t>
            </a:r>
            <a:r>
              <a:rPr lang="en-US" sz="1600" spc="-60">
                <a:solidFill>
                  <a:srgbClr val="FFFFFF"/>
                </a:solidFill>
              </a:rPr>
              <a:t>trend.</a:t>
            </a:r>
            <a:endParaRPr lang="en-US" sz="1600">
              <a:solidFill>
                <a:srgbClr val="FFFFFF"/>
              </a:solidFill>
            </a:endParaRPr>
          </a:p>
          <a:p>
            <a:pPr marL="299085" indent="-28702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>
                <a:tab pos="299720" algn="l"/>
              </a:tabLst>
            </a:pPr>
            <a:r>
              <a:rPr lang="en-US" sz="1600">
                <a:solidFill>
                  <a:srgbClr val="FFFFFF"/>
                </a:solidFill>
              </a:rPr>
              <a:t>Chelsea’s</a:t>
            </a:r>
            <a:r>
              <a:rPr lang="en-US" sz="1600" spc="310">
                <a:solidFill>
                  <a:srgbClr val="FFFFFF"/>
                </a:solidFill>
              </a:rPr>
              <a:t> </a:t>
            </a:r>
            <a:r>
              <a:rPr lang="en-US" sz="1600" spc="-35">
                <a:solidFill>
                  <a:srgbClr val="FFFFFF"/>
                </a:solidFill>
              </a:rPr>
              <a:t>availability</a:t>
            </a:r>
            <a:r>
              <a:rPr lang="en-US" sz="1600" spc="305">
                <a:solidFill>
                  <a:srgbClr val="FFFFFF"/>
                </a:solidFill>
              </a:rPr>
              <a:t> </a:t>
            </a:r>
            <a:r>
              <a:rPr lang="en-US" sz="1600" spc="-5">
                <a:solidFill>
                  <a:srgbClr val="FFFFFF"/>
                </a:solidFill>
              </a:rPr>
              <a:t>low</a:t>
            </a:r>
            <a:r>
              <a:rPr lang="en-US" sz="1600" spc="280">
                <a:solidFill>
                  <a:srgbClr val="FFFFFF"/>
                </a:solidFill>
              </a:rPr>
              <a:t> </a:t>
            </a:r>
            <a:r>
              <a:rPr lang="en-US" sz="1600" spc="-20">
                <a:solidFill>
                  <a:srgbClr val="FFFFFF"/>
                </a:solidFill>
              </a:rPr>
              <a:t>but</a:t>
            </a:r>
            <a:endParaRPr lang="en-US" sz="1600">
              <a:solidFill>
                <a:srgbClr val="FFFFFF"/>
              </a:solidFill>
            </a:endParaRPr>
          </a:p>
          <a:p>
            <a:pPr marL="299085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600" spc="-80">
                <a:solidFill>
                  <a:srgbClr val="FFFFFF"/>
                </a:solidFill>
              </a:rPr>
              <a:t>i</a:t>
            </a:r>
            <a:r>
              <a:rPr lang="en-US" sz="1600" spc="-140">
                <a:solidFill>
                  <a:srgbClr val="FFFFFF"/>
                </a:solidFill>
              </a:rPr>
              <a:t>t</a:t>
            </a:r>
            <a:r>
              <a:rPr lang="en-US" sz="1600" spc="-155">
                <a:solidFill>
                  <a:srgbClr val="FFFFFF"/>
                </a:solidFill>
              </a:rPr>
              <a:t> </a:t>
            </a:r>
            <a:r>
              <a:rPr lang="en-US" sz="1600" spc="-110">
                <a:solidFill>
                  <a:srgbClr val="FFFFFF"/>
                </a:solidFill>
              </a:rPr>
              <a:t>i</a:t>
            </a:r>
            <a:r>
              <a:rPr lang="en-US" sz="1600" spc="-245">
                <a:solidFill>
                  <a:srgbClr val="FFFFFF"/>
                </a:solidFill>
              </a:rPr>
              <a:t>s</a:t>
            </a:r>
            <a:r>
              <a:rPr lang="en-US" sz="1600" spc="-160">
                <a:solidFill>
                  <a:srgbClr val="FFFFFF"/>
                </a:solidFill>
              </a:rPr>
              <a:t> </a:t>
            </a:r>
            <a:r>
              <a:rPr lang="en-US" sz="1600" spc="25">
                <a:solidFill>
                  <a:srgbClr val="FFFFFF"/>
                </a:solidFill>
              </a:rPr>
              <a:t>co</a:t>
            </a:r>
            <a:r>
              <a:rPr lang="en-US" sz="1600" spc="10">
                <a:solidFill>
                  <a:srgbClr val="FFFFFF"/>
                </a:solidFill>
              </a:rPr>
              <a:t>s</a:t>
            </a:r>
            <a:r>
              <a:rPr lang="en-US" sz="1600" spc="-114">
                <a:solidFill>
                  <a:srgbClr val="FFFFFF"/>
                </a:solidFill>
              </a:rPr>
              <a:t>t</a:t>
            </a:r>
            <a:r>
              <a:rPr lang="en-US" sz="1600" spc="-125">
                <a:solidFill>
                  <a:srgbClr val="FFFFFF"/>
                </a:solidFill>
              </a:rPr>
              <a:t>l</a:t>
            </a:r>
            <a:r>
              <a:rPr lang="en-US" sz="1600" spc="-110">
                <a:solidFill>
                  <a:srgbClr val="FFFFFF"/>
                </a:solidFill>
              </a:rPr>
              <a:t>y</a:t>
            </a:r>
            <a:r>
              <a:rPr lang="en-US" sz="1600" spc="-160">
                <a:solidFill>
                  <a:srgbClr val="FFFFFF"/>
                </a:solidFill>
              </a:rPr>
              <a:t>.</a:t>
            </a:r>
            <a:endParaRPr lang="en-US" sz="1600">
              <a:solidFill>
                <a:srgbClr val="FFFFFF"/>
              </a:solidFill>
            </a:endParaRPr>
          </a:p>
          <a:p>
            <a:pPr marL="299085" marR="8890" indent="-28702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tabLst>
                <a:tab pos="299720" algn="l"/>
              </a:tabLst>
            </a:pPr>
            <a:r>
              <a:rPr lang="en-US" sz="1600" spc="50">
                <a:solidFill>
                  <a:srgbClr val="FFFFFF"/>
                </a:solidFill>
              </a:rPr>
              <a:t>On </a:t>
            </a:r>
            <a:r>
              <a:rPr lang="en-US" sz="1600" spc="-15">
                <a:solidFill>
                  <a:srgbClr val="FFFFFF"/>
                </a:solidFill>
              </a:rPr>
              <a:t>the </a:t>
            </a:r>
            <a:r>
              <a:rPr lang="en-US" sz="1600" spc="-40">
                <a:solidFill>
                  <a:srgbClr val="FFFFFF"/>
                </a:solidFill>
              </a:rPr>
              <a:t>other </a:t>
            </a:r>
            <a:r>
              <a:rPr lang="en-US" sz="1600">
                <a:solidFill>
                  <a:srgbClr val="FFFFFF"/>
                </a:solidFill>
              </a:rPr>
              <a:t>hand, </a:t>
            </a:r>
            <a:r>
              <a:rPr lang="en-US" sz="1600" spc="-70">
                <a:solidFill>
                  <a:srgbClr val="FFFFFF"/>
                </a:solidFill>
              </a:rPr>
              <a:t>William’s </a:t>
            </a:r>
            <a:r>
              <a:rPr lang="en-US" sz="1600" spc="-65">
                <a:solidFill>
                  <a:srgbClr val="FFFFFF"/>
                </a:solidFill>
              </a:rPr>
              <a:t> </a:t>
            </a:r>
            <a:r>
              <a:rPr lang="en-US" sz="1600" spc="-80">
                <a:solidFill>
                  <a:srgbClr val="FFFFFF"/>
                </a:solidFill>
              </a:rPr>
              <a:t>p</a:t>
            </a:r>
            <a:r>
              <a:rPr lang="en-US" sz="1600" spc="-70">
                <a:solidFill>
                  <a:srgbClr val="FFFFFF"/>
                </a:solidFill>
              </a:rPr>
              <a:t>r</a:t>
            </a:r>
            <a:r>
              <a:rPr lang="en-US" sz="1600" spc="-114">
                <a:solidFill>
                  <a:srgbClr val="FFFFFF"/>
                </a:solidFill>
              </a:rPr>
              <a:t>i</a:t>
            </a:r>
            <a:r>
              <a:rPr lang="en-US" sz="1600" spc="160">
                <a:solidFill>
                  <a:srgbClr val="FFFFFF"/>
                </a:solidFill>
              </a:rPr>
              <a:t>ce</a:t>
            </a:r>
            <a:r>
              <a:rPr lang="en-US" sz="1600">
                <a:solidFill>
                  <a:srgbClr val="FFFFFF"/>
                </a:solidFill>
              </a:rPr>
              <a:t> </a:t>
            </a:r>
            <a:r>
              <a:rPr lang="en-US" sz="1600" spc="-110">
                <a:solidFill>
                  <a:srgbClr val="FFFFFF"/>
                </a:solidFill>
              </a:rPr>
              <a:t>i</a:t>
            </a:r>
            <a:r>
              <a:rPr lang="en-US" sz="1600" spc="-245">
                <a:solidFill>
                  <a:srgbClr val="FFFFFF"/>
                </a:solidFill>
              </a:rPr>
              <a:t>s</a:t>
            </a:r>
            <a:r>
              <a:rPr lang="en-US" sz="1600">
                <a:solidFill>
                  <a:srgbClr val="FFFFFF"/>
                </a:solidFill>
              </a:rPr>
              <a:t> </a:t>
            </a:r>
            <a:r>
              <a:rPr lang="en-US" sz="1600" spc="-65">
                <a:solidFill>
                  <a:srgbClr val="FFFFFF"/>
                </a:solidFill>
              </a:rPr>
              <a:t>h</a:t>
            </a:r>
            <a:r>
              <a:rPr lang="en-US" sz="1600" spc="-114">
                <a:solidFill>
                  <a:srgbClr val="FFFFFF"/>
                </a:solidFill>
              </a:rPr>
              <a:t>i</a:t>
            </a:r>
            <a:r>
              <a:rPr lang="en-US" sz="1600" spc="20">
                <a:solidFill>
                  <a:srgbClr val="FFFFFF"/>
                </a:solidFill>
              </a:rPr>
              <a:t>gh</a:t>
            </a:r>
            <a:r>
              <a:rPr lang="en-US" sz="1600" spc="10">
                <a:solidFill>
                  <a:srgbClr val="FFFFFF"/>
                </a:solidFill>
              </a:rPr>
              <a:t> </a:t>
            </a:r>
            <a:r>
              <a:rPr lang="en-US" sz="1600" spc="60">
                <a:solidFill>
                  <a:srgbClr val="FFFFFF"/>
                </a:solidFill>
              </a:rPr>
              <a:t>an</a:t>
            </a:r>
            <a:r>
              <a:rPr lang="en-US" sz="1600" spc="70">
                <a:solidFill>
                  <a:srgbClr val="FFFFFF"/>
                </a:solidFill>
              </a:rPr>
              <a:t>d</a:t>
            </a:r>
            <a:r>
              <a:rPr lang="en-US" sz="1600" spc="20">
                <a:solidFill>
                  <a:srgbClr val="FFFFFF"/>
                </a:solidFill>
              </a:rPr>
              <a:t> </a:t>
            </a:r>
            <a:r>
              <a:rPr lang="en-US" sz="1600" spc="-60">
                <a:solidFill>
                  <a:srgbClr val="FFFFFF"/>
                </a:solidFill>
              </a:rPr>
              <a:t>ha</a:t>
            </a:r>
            <a:r>
              <a:rPr lang="en-US" sz="1600" spc="-40">
                <a:solidFill>
                  <a:srgbClr val="FFFFFF"/>
                </a:solidFill>
              </a:rPr>
              <a:t>s</a:t>
            </a:r>
            <a:r>
              <a:rPr lang="en-US" sz="1600" spc="10">
                <a:solidFill>
                  <a:srgbClr val="FFFFFF"/>
                </a:solidFill>
              </a:rPr>
              <a:t> </a:t>
            </a:r>
            <a:r>
              <a:rPr lang="en-US" sz="1600" spc="135">
                <a:solidFill>
                  <a:srgbClr val="FFFFFF"/>
                </a:solidFill>
              </a:rPr>
              <a:t>a</a:t>
            </a:r>
            <a:r>
              <a:rPr lang="en-US" sz="1600" spc="-50">
                <a:solidFill>
                  <a:srgbClr val="FFFFFF"/>
                </a:solidFill>
              </a:rPr>
              <a:t>v</a:t>
            </a:r>
            <a:r>
              <a:rPr lang="en-US" sz="1600" spc="85">
                <a:solidFill>
                  <a:srgbClr val="FFFFFF"/>
                </a:solidFill>
              </a:rPr>
              <a:t>e</a:t>
            </a:r>
            <a:r>
              <a:rPr lang="en-US" sz="1600" spc="-35">
                <a:solidFill>
                  <a:srgbClr val="FFFFFF"/>
                </a:solidFill>
              </a:rPr>
              <a:t>r</a:t>
            </a:r>
            <a:r>
              <a:rPr lang="en-US" sz="1600" spc="-60">
                <a:solidFill>
                  <a:srgbClr val="FFFFFF"/>
                </a:solidFill>
              </a:rPr>
              <a:t>a</a:t>
            </a:r>
            <a:r>
              <a:rPr lang="en-US" sz="1600" spc="70">
                <a:solidFill>
                  <a:srgbClr val="FFFFFF"/>
                </a:solidFill>
              </a:rPr>
              <a:t>ge  </a:t>
            </a:r>
            <a:r>
              <a:rPr lang="en-US" sz="1600" spc="-45">
                <a:solidFill>
                  <a:srgbClr val="FFFFFF"/>
                </a:solidFill>
              </a:rPr>
              <a:t>availability.</a:t>
            </a:r>
            <a:endParaRPr lang="en-US" sz="1600">
              <a:solidFill>
                <a:srgbClr val="FFFFFF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68800" y="1342662"/>
            <a:ext cx="6866506" cy="4171402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FE1D7BF2-AA65-8599-F26A-70AAB65BD0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grayscl/>
          </a:blip>
          <a:srcRect t="1604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F07C67-C31C-5571-1CB3-E88D0063D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42067"/>
            <a:ext cx="3412067" cy="29718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41394094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D4FE1632-F131-47D3-A814-99E9CD025E2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70</TotalTime>
  <Words>657</Words>
  <Application>Microsoft Office PowerPoint</Application>
  <PresentationFormat>Widescreen</PresentationFormat>
  <Paragraphs>58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Bookman Old Style</vt:lpstr>
      <vt:lpstr>Rockwell</vt:lpstr>
      <vt:lpstr>Wingdings 2</vt:lpstr>
      <vt:lpstr>Damask</vt:lpstr>
      <vt:lpstr>PowerPoint Presentation</vt:lpstr>
      <vt:lpstr>Objective:</vt:lpstr>
      <vt:lpstr>Background</vt:lpstr>
      <vt:lpstr>Data Preparation</vt:lpstr>
      <vt:lpstr>Top 10 Host</vt:lpstr>
      <vt:lpstr>Room type with respect  to Neighbourhood group</vt:lpstr>
      <vt:lpstr>PRIce Analysis  Neighborhood wise</vt:lpstr>
      <vt:lpstr>Average price of Neighbourhood groups</vt:lpstr>
      <vt:lpstr>Customer Booking with  respect to minimum nights</vt:lpstr>
      <vt:lpstr>Popular Neighborhoods</vt:lpstr>
      <vt:lpstr>Neighbourhood vs  Availability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Storytelling Case Study: Airbnb, NYC</dc:title>
  <dc:creator>yashraj pratap</dc:creator>
  <cp:lastModifiedBy>vamsiram pandluru</cp:lastModifiedBy>
  <cp:revision>4</cp:revision>
  <dcterms:created xsi:type="dcterms:W3CDTF">2024-07-06T10:18:07Z</dcterms:created>
  <dcterms:modified xsi:type="dcterms:W3CDTF">2026-01-09T06:36:31Z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2023-06-20T00:00:00Z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2024-07-06T00:00:00Z</vt:filetime>
  </property>
</Properties>
</file>