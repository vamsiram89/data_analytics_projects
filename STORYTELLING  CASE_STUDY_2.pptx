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7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iram pandluru" userId="249e5639cb347a6e" providerId="LiveId" clId="{2D4B0D02-3F31-4F58-AD8C-8CA148929900}"/>
    <pc:docChg chg="undo custSel modSld">
      <pc:chgData name="vamsiram pandluru" userId="249e5639cb347a6e" providerId="LiveId" clId="{2D4B0D02-3F31-4F58-AD8C-8CA148929900}" dt="2026-01-09T06:41:04.634" v="104" actId="20577"/>
      <pc:docMkLst>
        <pc:docMk/>
      </pc:docMkLst>
      <pc:sldChg chg="modSp mod">
        <pc:chgData name="vamsiram pandluru" userId="249e5639cb347a6e" providerId="LiveId" clId="{2D4B0D02-3F31-4F58-AD8C-8CA148929900}" dt="2026-01-09T06:41:04.634" v="104" actId="20577"/>
        <pc:sldMkLst>
          <pc:docMk/>
          <pc:sldMk cId="0" sldId="256"/>
        </pc:sldMkLst>
        <pc:spChg chg="mod">
          <ac:chgData name="vamsiram pandluru" userId="249e5639cb347a6e" providerId="LiveId" clId="{2D4B0D02-3F31-4F58-AD8C-8CA148929900}" dt="2026-01-09T06:41:04.634" v="10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amsiram pandluru" userId="249e5639cb347a6e" providerId="LiveId" clId="{2D4B0D02-3F31-4F58-AD8C-8CA148929900}" dt="2026-01-09T06:37:32.886" v="0" actId="20577"/>
        <pc:sldMkLst>
          <pc:docMk/>
          <pc:sldMk cId="0" sldId="257"/>
        </pc:sldMkLst>
        <pc:spChg chg="mod">
          <ac:chgData name="vamsiram pandluru" userId="249e5639cb347a6e" providerId="LiveId" clId="{2D4B0D02-3F31-4F58-AD8C-8CA148929900}" dt="2026-01-09T06:37:32.886" v="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086827-DFD9-48FC-8B6D-4324FCFFB85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C6B6E2A-D9B1-4553-B062-8DE00958053E}">
      <dgm:prSet/>
      <dgm:spPr/>
      <dgm:t>
        <a:bodyPr/>
        <a:lstStyle/>
        <a:p>
          <a:r>
            <a:rPr lang="en-IN" b="0" i="0"/>
            <a:t>Cleaned data to remove any missing values and duplicates. </a:t>
          </a:r>
          <a:endParaRPr lang="en-US"/>
        </a:p>
      </dgm:t>
    </dgm:pt>
    <dgm:pt modelId="{1A1FC3A7-62DE-4964-9998-8429E41B9506}" type="parTrans" cxnId="{BBD87EA5-E3DF-4A23-B708-332FFC27166C}">
      <dgm:prSet/>
      <dgm:spPr/>
      <dgm:t>
        <a:bodyPr/>
        <a:lstStyle/>
        <a:p>
          <a:endParaRPr lang="en-US"/>
        </a:p>
      </dgm:t>
    </dgm:pt>
    <dgm:pt modelId="{50C8262C-84AA-4E2D-822B-CC0E952E67DB}" type="sibTrans" cxnId="{BBD87EA5-E3DF-4A23-B708-332FFC27166C}">
      <dgm:prSet/>
      <dgm:spPr/>
      <dgm:t>
        <a:bodyPr/>
        <a:lstStyle/>
        <a:p>
          <a:endParaRPr lang="en-US"/>
        </a:p>
      </dgm:t>
    </dgm:pt>
    <dgm:pt modelId="{6A727764-FDF6-407A-8AFC-D098D9F9B3F5}">
      <dgm:prSet/>
      <dgm:spPr/>
      <dgm:t>
        <a:bodyPr/>
        <a:lstStyle/>
        <a:p>
          <a:r>
            <a:rPr lang="en-IN" b="0" i="0"/>
            <a:t>Dropped insignificant columns. </a:t>
          </a:r>
          <a:endParaRPr lang="en-US"/>
        </a:p>
      </dgm:t>
    </dgm:pt>
    <dgm:pt modelId="{5C500A0C-C235-4A02-98AC-867FDDF48E96}" type="parTrans" cxnId="{2AEE6930-124C-41CB-85F2-E8CBD26D2EB0}">
      <dgm:prSet/>
      <dgm:spPr/>
      <dgm:t>
        <a:bodyPr/>
        <a:lstStyle/>
        <a:p>
          <a:endParaRPr lang="en-US"/>
        </a:p>
      </dgm:t>
    </dgm:pt>
    <dgm:pt modelId="{7CBC4FD4-9387-4DC2-96C3-A8D19F8839C4}" type="sibTrans" cxnId="{2AEE6930-124C-41CB-85F2-E8CBD26D2EB0}">
      <dgm:prSet/>
      <dgm:spPr/>
      <dgm:t>
        <a:bodyPr/>
        <a:lstStyle/>
        <a:p>
          <a:endParaRPr lang="en-US"/>
        </a:p>
      </dgm:t>
    </dgm:pt>
    <dgm:pt modelId="{F41A5877-7CF1-4A5E-8899-B34EEE05BA76}">
      <dgm:prSet/>
      <dgm:spPr/>
      <dgm:t>
        <a:bodyPr/>
        <a:lstStyle/>
        <a:p>
          <a:r>
            <a:rPr lang="en-IN" b="0" i="0"/>
            <a:t>Identified outliers</a:t>
          </a:r>
          <a:endParaRPr lang="en-US"/>
        </a:p>
      </dgm:t>
    </dgm:pt>
    <dgm:pt modelId="{3DEFFA6B-3387-4713-956D-5EFCC219A5B0}" type="parTrans" cxnId="{C8342C7F-8821-4745-9A6F-E2678C484338}">
      <dgm:prSet/>
      <dgm:spPr/>
      <dgm:t>
        <a:bodyPr/>
        <a:lstStyle/>
        <a:p>
          <a:endParaRPr lang="en-US"/>
        </a:p>
      </dgm:t>
    </dgm:pt>
    <dgm:pt modelId="{F647E71E-3822-4727-994D-9A909B92E108}" type="sibTrans" cxnId="{C8342C7F-8821-4745-9A6F-E2678C484338}">
      <dgm:prSet/>
      <dgm:spPr/>
      <dgm:t>
        <a:bodyPr/>
        <a:lstStyle/>
        <a:p>
          <a:endParaRPr lang="en-US"/>
        </a:p>
      </dgm:t>
    </dgm:pt>
    <dgm:pt modelId="{81A64000-F10A-43B2-A001-5C871E4F6631}" type="pres">
      <dgm:prSet presAssocID="{0F086827-DFD9-48FC-8B6D-4324FCFFB858}" presName="outerComposite" presStyleCnt="0">
        <dgm:presLayoutVars>
          <dgm:chMax val="5"/>
          <dgm:dir/>
          <dgm:resizeHandles val="exact"/>
        </dgm:presLayoutVars>
      </dgm:prSet>
      <dgm:spPr/>
    </dgm:pt>
    <dgm:pt modelId="{730496EA-CE18-4CD3-91C5-A78EB6098586}" type="pres">
      <dgm:prSet presAssocID="{0F086827-DFD9-48FC-8B6D-4324FCFFB858}" presName="dummyMaxCanvas" presStyleCnt="0">
        <dgm:presLayoutVars/>
      </dgm:prSet>
      <dgm:spPr/>
    </dgm:pt>
    <dgm:pt modelId="{D3B54771-86A5-41D8-A905-B39C5169E8AA}" type="pres">
      <dgm:prSet presAssocID="{0F086827-DFD9-48FC-8B6D-4324FCFFB858}" presName="ThreeNodes_1" presStyleLbl="node1" presStyleIdx="0" presStyleCnt="3">
        <dgm:presLayoutVars>
          <dgm:bulletEnabled val="1"/>
        </dgm:presLayoutVars>
      </dgm:prSet>
      <dgm:spPr/>
    </dgm:pt>
    <dgm:pt modelId="{6EA0BDED-3BCA-4F78-82DA-DEC10864C75F}" type="pres">
      <dgm:prSet presAssocID="{0F086827-DFD9-48FC-8B6D-4324FCFFB858}" presName="ThreeNodes_2" presStyleLbl="node1" presStyleIdx="1" presStyleCnt="3">
        <dgm:presLayoutVars>
          <dgm:bulletEnabled val="1"/>
        </dgm:presLayoutVars>
      </dgm:prSet>
      <dgm:spPr/>
    </dgm:pt>
    <dgm:pt modelId="{2BA857F8-A36F-4088-8477-E0A76D0EC84A}" type="pres">
      <dgm:prSet presAssocID="{0F086827-DFD9-48FC-8B6D-4324FCFFB858}" presName="ThreeNodes_3" presStyleLbl="node1" presStyleIdx="2" presStyleCnt="3">
        <dgm:presLayoutVars>
          <dgm:bulletEnabled val="1"/>
        </dgm:presLayoutVars>
      </dgm:prSet>
      <dgm:spPr/>
    </dgm:pt>
    <dgm:pt modelId="{6410252C-8784-4864-9E1C-65A1B5E6AF55}" type="pres">
      <dgm:prSet presAssocID="{0F086827-DFD9-48FC-8B6D-4324FCFFB858}" presName="ThreeConn_1-2" presStyleLbl="fgAccFollowNode1" presStyleIdx="0" presStyleCnt="2">
        <dgm:presLayoutVars>
          <dgm:bulletEnabled val="1"/>
        </dgm:presLayoutVars>
      </dgm:prSet>
      <dgm:spPr/>
    </dgm:pt>
    <dgm:pt modelId="{3C767346-F554-4E8B-B68A-7575E6066314}" type="pres">
      <dgm:prSet presAssocID="{0F086827-DFD9-48FC-8B6D-4324FCFFB858}" presName="ThreeConn_2-3" presStyleLbl="fgAccFollowNode1" presStyleIdx="1" presStyleCnt="2">
        <dgm:presLayoutVars>
          <dgm:bulletEnabled val="1"/>
        </dgm:presLayoutVars>
      </dgm:prSet>
      <dgm:spPr/>
    </dgm:pt>
    <dgm:pt modelId="{F63802C0-F63F-4178-B784-6129A5A76770}" type="pres">
      <dgm:prSet presAssocID="{0F086827-DFD9-48FC-8B6D-4324FCFFB858}" presName="ThreeNodes_1_text" presStyleLbl="node1" presStyleIdx="2" presStyleCnt="3">
        <dgm:presLayoutVars>
          <dgm:bulletEnabled val="1"/>
        </dgm:presLayoutVars>
      </dgm:prSet>
      <dgm:spPr/>
    </dgm:pt>
    <dgm:pt modelId="{B74824BB-E14E-4D90-9B11-A92722BD488E}" type="pres">
      <dgm:prSet presAssocID="{0F086827-DFD9-48FC-8B6D-4324FCFFB858}" presName="ThreeNodes_2_text" presStyleLbl="node1" presStyleIdx="2" presStyleCnt="3">
        <dgm:presLayoutVars>
          <dgm:bulletEnabled val="1"/>
        </dgm:presLayoutVars>
      </dgm:prSet>
      <dgm:spPr/>
    </dgm:pt>
    <dgm:pt modelId="{68AE5758-51B3-4B77-87DC-F85A8570D8F6}" type="pres">
      <dgm:prSet presAssocID="{0F086827-DFD9-48FC-8B6D-4324FCFFB85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62AF605-38A1-4656-B262-61F2D2AA5646}" type="presOf" srcId="{FC6B6E2A-D9B1-4553-B062-8DE00958053E}" destId="{D3B54771-86A5-41D8-A905-B39C5169E8AA}" srcOrd="0" destOrd="0" presId="urn:microsoft.com/office/officeart/2005/8/layout/vProcess5"/>
    <dgm:cxn modelId="{8073250D-6E0F-4284-9203-D27F6E9A24CC}" type="presOf" srcId="{F41A5877-7CF1-4A5E-8899-B34EEE05BA76}" destId="{2BA857F8-A36F-4088-8477-E0A76D0EC84A}" srcOrd="0" destOrd="0" presId="urn:microsoft.com/office/officeart/2005/8/layout/vProcess5"/>
    <dgm:cxn modelId="{2AEE6930-124C-41CB-85F2-E8CBD26D2EB0}" srcId="{0F086827-DFD9-48FC-8B6D-4324FCFFB858}" destId="{6A727764-FDF6-407A-8AFC-D098D9F9B3F5}" srcOrd="1" destOrd="0" parTransId="{5C500A0C-C235-4A02-98AC-867FDDF48E96}" sibTransId="{7CBC4FD4-9387-4DC2-96C3-A8D19F8839C4}"/>
    <dgm:cxn modelId="{CF56643D-2D07-43AB-8D96-DFA5CBC75B16}" type="presOf" srcId="{0F086827-DFD9-48FC-8B6D-4324FCFFB858}" destId="{81A64000-F10A-43B2-A001-5C871E4F6631}" srcOrd="0" destOrd="0" presId="urn:microsoft.com/office/officeart/2005/8/layout/vProcess5"/>
    <dgm:cxn modelId="{56173C6D-128E-4FD3-A8A0-E686987466D5}" type="presOf" srcId="{7CBC4FD4-9387-4DC2-96C3-A8D19F8839C4}" destId="{3C767346-F554-4E8B-B68A-7575E6066314}" srcOrd="0" destOrd="0" presId="urn:microsoft.com/office/officeart/2005/8/layout/vProcess5"/>
    <dgm:cxn modelId="{23962370-93E1-4310-9313-65E5B277E922}" type="presOf" srcId="{50C8262C-84AA-4E2D-822B-CC0E952E67DB}" destId="{6410252C-8784-4864-9E1C-65A1B5E6AF55}" srcOrd="0" destOrd="0" presId="urn:microsoft.com/office/officeart/2005/8/layout/vProcess5"/>
    <dgm:cxn modelId="{314BD25A-B023-4351-8A90-338CAB13A176}" type="presOf" srcId="{6A727764-FDF6-407A-8AFC-D098D9F9B3F5}" destId="{6EA0BDED-3BCA-4F78-82DA-DEC10864C75F}" srcOrd="0" destOrd="0" presId="urn:microsoft.com/office/officeart/2005/8/layout/vProcess5"/>
    <dgm:cxn modelId="{C8342C7F-8821-4745-9A6F-E2678C484338}" srcId="{0F086827-DFD9-48FC-8B6D-4324FCFFB858}" destId="{F41A5877-7CF1-4A5E-8899-B34EEE05BA76}" srcOrd="2" destOrd="0" parTransId="{3DEFFA6B-3387-4713-956D-5EFCC219A5B0}" sibTransId="{F647E71E-3822-4727-994D-9A909B92E108}"/>
    <dgm:cxn modelId="{BBD87EA5-E3DF-4A23-B708-332FFC27166C}" srcId="{0F086827-DFD9-48FC-8B6D-4324FCFFB858}" destId="{FC6B6E2A-D9B1-4553-B062-8DE00958053E}" srcOrd="0" destOrd="0" parTransId="{1A1FC3A7-62DE-4964-9998-8429E41B9506}" sibTransId="{50C8262C-84AA-4E2D-822B-CC0E952E67DB}"/>
    <dgm:cxn modelId="{B063AFAB-3B99-4E8C-B09A-D0F093544D5C}" type="presOf" srcId="{6A727764-FDF6-407A-8AFC-D098D9F9B3F5}" destId="{B74824BB-E14E-4D90-9B11-A92722BD488E}" srcOrd="1" destOrd="0" presId="urn:microsoft.com/office/officeart/2005/8/layout/vProcess5"/>
    <dgm:cxn modelId="{82DFCEDF-057F-4E2E-9BE3-C8DD93337194}" type="presOf" srcId="{F41A5877-7CF1-4A5E-8899-B34EEE05BA76}" destId="{68AE5758-51B3-4B77-87DC-F85A8570D8F6}" srcOrd="1" destOrd="0" presId="urn:microsoft.com/office/officeart/2005/8/layout/vProcess5"/>
    <dgm:cxn modelId="{4CA0A8F7-7669-4EC1-BA5B-B536C111AEE4}" type="presOf" srcId="{FC6B6E2A-D9B1-4553-B062-8DE00958053E}" destId="{F63802C0-F63F-4178-B784-6129A5A76770}" srcOrd="1" destOrd="0" presId="urn:microsoft.com/office/officeart/2005/8/layout/vProcess5"/>
    <dgm:cxn modelId="{4BA6AB91-E1F7-46C7-8D48-9DD6C3C13B3D}" type="presParOf" srcId="{81A64000-F10A-43B2-A001-5C871E4F6631}" destId="{730496EA-CE18-4CD3-91C5-A78EB6098586}" srcOrd="0" destOrd="0" presId="urn:microsoft.com/office/officeart/2005/8/layout/vProcess5"/>
    <dgm:cxn modelId="{8B2E0689-7AA7-4E51-B793-64EC3C08F886}" type="presParOf" srcId="{81A64000-F10A-43B2-A001-5C871E4F6631}" destId="{D3B54771-86A5-41D8-A905-B39C5169E8AA}" srcOrd="1" destOrd="0" presId="urn:microsoft.com/office/officeart/2005/8/layout/vProcess5"/>
    <dgm:cxn modelId="{8C912C5C-20F9-4E64-9F6C-E1178C80CE90}" type="presParOf" srcId="{81A64000-F10A-43B2-A001-5C871E4F6631}" destId="{6EA0BDED-3BCA-4F78-82DA-DEC10864C75F}" srcOrd="2" destOrd="0" presId="urn:microsoft.com/office/officeart/2005/8/layout/vProcess5"/>
    <dgm:cxn modelId="{31F2C2E7-2001-47F1-A656-0DD5CB217EB1}" type="presParOf" srcId="{81A64000-F10A-43B2-A001-5C871E4F6631}" destId="{2BA857F8-A36F-4088-8477-E0A76D0EC84A}" srcOrd="3" destOrd="0" presId="urn:microsoft.com/office/officeart/2005/8/layout/vProcess5"/>
    <dgm:cxn modelId="{593F8204-7BCC-44D8-B70A-A29F0B3E0778}" type="presParOf" srcId="{81A64000-F10A-43B2-A001-5C871E4F6631}" destId="{6410252C-8784-4864-9E1C-65A1B5E6AF55}" srcOrd="4" destOrd="0" presId="urn:microsoft.com/office/officeart/2005/8/layout/vProcess5"/>
    <dgm:cxn modelId="{08E1F544-00AA-4FE9-B5E1-E6262C928ED4}" type="presParOf" srcId="{81A64000-F10A-43B2-A001-5C871E4F6631}" destId="{3C767346-F554-4E8B-B68A-7575E6066314}" srcOrd="5" destOrd="0" presId="urn:microsoft.com/office/officeart/2005/8/layout/vProcess5"/>
    <dgm:cxn modelId="{79BD0D08-C357-4BFB-BC5C-AA1DB40052F6}" type="presParOf" srcId="{81A64000-F10A-43B2-A001-5C871E4F6631}" destId="{F63802C0-F63F-4178-B784-6129A5A76770}" srcOrd="6" destOrd="0" presId="urn:microsoft.com/office/officeart/2005/8/layout/vProcess5"/>
    <dgm:cxn modelId="{5002D052-C6F7-4993-BF20-008E59544BCD}" type="presParOf" srcId="{81A64000-F10A-43B2-A001-5C871E4F6631}" destId="{B74824BB-E14E-4D90-9B11-A92722BD488E}" srcOrd="7" destOrd="0" presId="urn:microsoft.com/office/officeart/2005/8/layout/vProcess5"/>
    <dgm:cxn modelId="{67996D3A-D058-4280-B421-9CEA2859E605}" type="presParOf" srcId="{81A64000-F10A-43B2-A001-5C871E4F6631}" destId="{68AE5758-51B3-4B77-87DC-F85A8570D8F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54771-86A5-41D8-A905-B39C5169E8AA}">
      <dsp:nvSpPr>
        <dsp:cNvPr id="0" name=""/>
        <dsp:cNvSpPr/>
      </dsp:nvSpPr>
      <dsp:spPr>
        <a:xfrm>
          <a:off x="0" y="0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i="0" kern="1200"/>
            <a:t>Cleaned data to remove any missing values and duplicates. </a:t>
          </a:r>
          <a:endParaRPr lang="en-US" sz="2800" kern="1200"/>
        </a:p>
      </dsp:txBody>
      <dsp:txXfrm>
        <a:off x="30074" y="30074"/>
        <a:ext cx="7073573" cy="966656"/>
      </dsp:txXfrm>
    </dsp:sp>
    <dsp:sp modelId="{6EA0BDED-3BCA-4F78-82DA-DEC10864C75F}">
      <dsp:nvSpPr>
        <dsp:cNvPr id="0" name=""/>
        <dsp:cNvSpPr/>
      </dsp:nvSpPr>
      <dsp:spPr>
        <a:xfrm>
          <a:off x="721903" y="1197939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i="0" kern="1200"/>
            <a:t>Dropped insignificant columns. </a:t>
          </a:r>
          <a:endParaRPr lang="en-US" sz="2800" kern="1200"/>
        </a:p>
      </dsp:txBody>
      <dsp:txXfrm>
        <a:off x="751977" y="1228013"/>
        <a:ext cx="6732100" cy="966656"/>
      </dsp:txXfrm>
    </dsp:sp>
    <dsp:sp modelId="{2BA857F8-A36F-4088-8477-E0A76D0EC84A}">
      <dsp:nvSpPr>
        <dsp:cNvPr id="0" name=""/>
        <dsp:cNvSpPr/>
      </dsp:nvSpPr>
      <dsp:spPr>
        <a:xfrm>
          <a:off x="1443807" y="2395878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i="0" kern="1200"/>
            <a:t>Identified outliers</a:t>
          </a:r>
          <a:endParaRPr lang="en-US" sz="2800" kern="1200"/>
        </a:p>
      </dsp:txBody>
      <dsp:txXfrm>
        <a:off x="1473881" y="2425952"/>
        <a:ext cx="6732100" cy="966656"/>
      </dsp:txXfrm>
    </dsp:sp>
    <dsp:sp modelId="{6410252C-8784-4864-9E1C-65A1B5E6AF55}">
      <dsp:nvSpPr>
        <dsp:cNvPr id="0" name=""/>
        <dsp:cNvSpPr/>
      </dsp:nvSpPr>
      <dsp:spPr>
        <a:xfrm>
          <a:off x="7514152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7664322" y="778660"/>
        <a:ext cx="367083" cy="502236"/>
      </dsp:txXfrm>
    </dsp:sp>
    <dsp:sp modelId="{3C767346-F554-4E8B-B68A-7575E6066314}">
      <dsp:nvSpPr>
        <dsp:cNvPr id="0" name=""/>
        <dsp:cNvSpPr/>
      </dsp:nvSpPr>
      <dsp:spPr>
        <a:xfrm>
          <a:off x="823605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386226" y="1969754"/>
        <a:ext cx="367083" cy="50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D03F5-E209-4146-8496-3786D998610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417AF-FEFE-44F5-90C9-CF0CE9A829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79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417AF-FEFE-44F5-90C9-CF0CE9A829A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11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2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36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33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96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03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1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78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82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0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07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64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8973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738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88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732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190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12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85975" y="2741498"/>
            <a:ext cx="902004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286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02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  <p:sldLayoutId id="214748399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171" y="1143000"/>
            <a:ext cx="8825658" cy="3389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>
              <a:spcBef>
                <a:spcPct val="0"/>
              </a:spcBef>
              <a:spcAft>
                <a:spcPts val="600"/>
              </a:spcAft>
            </a:pPr>
            <a:r>
              <a:rPr lang="en-US" sz="6600" spc="-1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Storytelling</a:t>
            </a:r>
            <a:r>
              <a:rPr lang="en-US" sz="6600" spc="2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6600" spc="-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Case</a:t>
            </a:r>
            <a:r>
              <a:rPr lang="en-US" sz="6600" spc="-1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6600" spc="-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Study:</a:t>
            </a:r>
            <a:r>
              <a:rPr lang="en-US" sz="660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6600" spc="-5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Airbnb,</a:t>
            </a:r>
            <a:r>
              <a:rPr lang="en-US" sz="660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6600" spc="-6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NYC</a:t>
            </a:r>
            <a:endParaRPr lang="en-US" sz="660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0014" y="5056657"/>
            <a:ext cx="7151380" cy="99786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cap="all" spc="-1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B</a:t>
            </a:r>
            <a:r>
              <a:rPr lang="en-US" sz="2400" cap="all" spc="-15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cap="all" spc="-3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cap="all" spc="-1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400" cap="all" spc="-165" dirty="0">
                <a:solidFill>
                  <a:schemeClr val="tx2"/>
                </a:solidFill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VAMSIRAM	</a:t>
            </a:r>
          </a:p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cap="all" spc="-165" dirty="0">
                <a:solidFill>
                  <a:schemeClr val="tx2"/>
                </a:solidFill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cap="all" spc="-165" dirty="0">
                <a:solidFill>
                  <a:schemeClr val="tx2"/>
                </a:solidFill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2400" cap="all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3200" spc="-35">
                <a:solidFill>
                  <a:srgbClr val="EBEBEB"/>
                </a:solidFill>
              </a:rPr>
              <a:t>Objective:</a:t>
            </a:r>
            <a:endParaRPr lang="en-US" sz="3200">
              <a:solidFill>
                <a:srgbClr val="EBEBE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0077" y="437513"/>
            <a:ext cx="5502614" cy="5954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9525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354965" algn="l"/>
              </a:tabLst>
            </a:pPr>
            <a:r>
              <a:rPr lang="en-US" sz="2000" spc="-1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rbnb</a:t>
            </a:r>
            <a:r>
              <a:rPr lang="en-US" sz="2000" spc="-1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3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20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spc="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-11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en-US" sz="2000" spc="-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sz="2000" spc="-1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</a:t>
            </a:r>
            <a:r>
              <a:rPr lang="en-US" sz="20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platfor</a:t>
            </a:r>
            <a:r>
              <a:rPr lang="en-US" sz="2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000" spc="-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</a:t>
            </a:r>
            <a:r>
              <a:rPr lang="en-US" sz="20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</a:t>
            </a:r>
            <a:r>
              <a:rPr lang="en-US" sz="2000" spc="-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1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peo</a:t>
            </a:r>
            <a:r>
              <a:rPr 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sz="2000" spc="-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sz="20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3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000" spc="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rent  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30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en-US" sz="2000" spc="-2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sz="2000" spc="-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</a:t>
            </a:r>
            <a:r>
              <a:rPr lang="en-US" sz="2000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r>
              <a:rPr lang="en-US" sz="2000" spc="-1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accommod</a:t>
            </a:r>
            <a:r>
              <a:rPr lang="en-US" sz="2000" spc="1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spc="-1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sz="2000" spc="-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354965" algn="l"/>
                <a:tab pos="1477010" algn="l"/>
                <a:tab pos="2127885" algn="l"/>
                <a:tab pos="3129280" algn="l"/>
                <a:tab pos="4023995" algn="l"/>
                <a:tab pos="5167630" algn="l"/>
                <a:tab pos="6554470" algn="l"/>
                <a:tab pos="6927850" algn="l"/>
                <a:tab pos="7867015" algn="l"/>
                <a:tab pos="8528050" algn="l"/>
              </a:tabLst>
            </a:pPr>
            <a:r>
              <a:rPr lang="en-US" sz="2000" spc="-1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</a:t>
            </a:r>
            <a:r>
              <a:rPr lang="en-US" sz="2000" spc="-3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sz="2000" spc="-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r>
              <a:rPr lang="en-US" sz="2000" spc="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1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000" spc="20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n-US" sz="2000" spc="-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en-US" sz="2000" spc="-1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-1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</a:t>
            </a:r>
            <a:r>
              <a:rPr lang="en-US" sz="2000" spc="-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en-US" sz="2000" spc="-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1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1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urred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spc="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000" spc="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huge </a:t>
            </a:r>
            <a:r>
              <a:rPr lang="en-US" sz="2000" spc="-1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</a:t>
            </a:r>
            <a:r>
              <a:rPr lang="en-US" sz="2000" spc="-1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i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revenue.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55600" marR="635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spc="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People </a:t>
            </a:r>
            <a:r>
              <a:rPr lang="en-US" sz="2000" spc="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 </a:t>
            </a:r>
            <a:r>
              <a:rPr lang="en-US" sz="2000" spc="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 </a:t>
            </a:r>
            <a:r>
              <a:rPr lang="en-US" sz="2000" spc="-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started 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travelling </a:t>
            </a:r>
            <a:r>
              <a:rPr lang="en-US" sz="2000" spc="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again </a:t>
            </a:r>
            <a:r>
              <a:rPr lang="en-US" sz="2000" spc="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Airbnb </a:t>
            </a:r>
            <a:r>
              <a:rPr lang="en-US" sz="2000" spc="-229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en-US" sz="2000" spc="-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aiming </a:t>
            </a:r>
            <a:r>
              <a:rPr lang="en-US" sz="20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bring 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spc="-1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</a:t>
            </a:r>
            <a:r>
              <a:rPr lang="en-US" sz="2000" spc="-1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again </a:t>
            </a:r>
            <a:r>
              <a:rPr lang="en-US" sz="2000" spc="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sz="2000" spc="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ready </a:t>
            </a:r>
            <a:r>
              <a:rPr lang="en-US" sz="20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0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</a:t>
            </a:r>
            <a:r>
              <a:rPr lang="en-US" sz="2000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en-US" sz="2000" spc="-1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1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</a:t>
            </a:r>
            <a:r>
              <a:rPr lang="en-US" sz="2000" spc="-2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</a:t>
            </a:r>
            <a:r>
              <a:rPr lang="en-US" sz="2000" spc="-1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en-US" sz="2000" spc="-1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000" spc="2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spc="-3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2000" spc="-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</a:t>
            </a:r>
            <a:r>
              <a:rPr lang="en-US" sz="2000" spc="-1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customers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3200" spc="-35">
                <a:solidFill>
                  <a:srgbClr val="EBEBEB"/>
                </a:solidFill>
              </a:rPr>
              <a:t>Background</a:t>
            </a:r>
            <a:endParaRPr lang="en-US" sz="3200">
              <a:solidFill>
                <a:srgbClr val="EBEBE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0077" y="437513"/>
            <a:ext cx="5502614" cy="5954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spc="-1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</a:t>
            </a:r>
            <a:r>
              <a:rPr lang="en-US" sz="2000" spc="-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en-US" sz="2000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past</a:t>
            </a:r>
            <a:r>
              <a:rPr lang="en-US" sz="2000" spc="-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few </a:t>
            </a:r>
            <a:r>
              <a:rPr lang="en-US" sz="2000" spc="-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months,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Airbnb</a:t>
            </a:r>
            <a:r>
              <a:rPr lang="en-US" sz="2000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</a:t>
            </a:r>
            <a:r>
              <a:rPr lang="en-US" sz="2000" spc="-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seen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000" spc="-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major </a:t>
            </a:r>
            <a:r>
              <a:rPr lang="en-US" sz="2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decl</a:t>
            </a:r>
            <a:r>
              <a:rPr lang="en-US" sz="2000" spc="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</a:t>
            </a:r>
            <a:r>
              <a:rPr lang="en-US" sz="2000" spc="-2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1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-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</a:t>
            </a:r>
            <a:r>
              <a:rPr lang="en-US" sz="2000" spc="-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en-US" sz="2000" spc="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enu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55600" marR="762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spc="-1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 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spc="-11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restrictions </a:t>
            </a:r>
            <a:r>
              <a:rPr lang="en-US" sz="2000" spc="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 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started 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lifting </a:t>
            </a:r>
            <a:r>
              <a:rPr lang="en-US" sz="2000" spc="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sz="2000" spc="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people </a:t>
            </a:r>
            <a:r>
              <a:rPr lang="en-US" sz="2000" spc="-8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 </a:t>
            </a:r>
            <a:r>
              <a:rPr lang="en-US" sz="2000" spc="-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started </a:t>
            </a:r>
            <a:r>
              <a:rPr lang="en-US" sz="20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travel more, </a:t>
            </a:r>
            <a:r>
              <a:rPr lang="en-US" sz="20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Airbnb 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wants </a:t>
            </a:r>
            <a:r>
              <a:rPr lang="en-US" sz="20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</a:t>
            </a:r>
            <a:r>
              <a:rPr lang="en-US" sz="2000" spc="-1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sure </a:t>
            </a:r>
            <a:r>
              <a:rPr lang="en-US" sz="2000" spc="-1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sz="2000" spc="-11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r>
              <a:rPr lang="en-US" sz="2000" spc="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spc="-1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sz="2000" spc="-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1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 </a:t>
            </a:r>
            <a:r>
              <a:rPr lang="en-US" sz="2000" spc="-2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3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2000" spc="-20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</a:t>
            </a:r>
            <a:r>
              <a:rPr lang="en-US" sz="2000" spc="-1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ll</a:t>
            </a:r>
            <a:r>
              <a:rPr lang="en-US" sz="2000" spc="-25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en-US" sz="2000" spc="-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</a:t>
            </a:r>
            <a:r>
              <a:rPr lang="en-US" sz="2000" spc="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sz="2000" spc="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are</a:t>
            </a:r>
            <a:r>
              <a:rPr lang="en-US" sz="2000" spc="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r>
              <a:rPr lang="en-US" sz="2000" spc="-1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</a:t>
            </a:r>
            <a:r>
              <a:rPr lang="en-US" sz="2000" spc="-1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200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3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2000" spc="-20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chang</a:t>
            </a:r>
            <a:r>
              <a:rPr lang="en-US" sz="2000" spc="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55600" marR="8255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spc="-1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So, </a:t>
            </a:r>
            <a:r>
              <a:rPr 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 </a:t>
            </a:r>
            <a:r>
              <a:rPr lang="en-US" sz="2000" spc="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been done </a:t>
            </a:r>
            <a:r>
              <a:rPr lang="en-US" sz="2000" spc="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sz="2000" spc="19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000" spc="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</a:t>
            </a:r>
            <a:r>
              <a:rPr lang="en-US" sz="2000" spc="-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consisting </a:t>
            </a:r>
            <a:r>
              <a:rPr lang="en-US" sz="20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ario</a:t>
            </a:r>
            <a:r>
              <a:rPr lang="en-US" sz="2000" spc="-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</a:t>
            </a:r>
            <a:r>
              <a:rPr lang="en-US" sz="2000" spc="-3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</a:t>
            </a:r>
            <a:r>
              <a:rPr lang="en-US" sz="2000" spc="-2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lang="en-US" sz="2000" spc="-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</a:t>
            </a:r>
            <a:r>
              <a:rPr lang="en-US" sz="2000" spc="-204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1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sting</a:t>
            </a:r>
            <a:r>
              <a:rPr lang="en-US" sz="2000" spc="-1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</a:t>
            </a:r>
            <a:r>
              <a:rPr lang="en-US" sz="2000" spc="-2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spc="-1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sz="2000" spc="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</a:t>
            </a:r>
            <a:r>
              <a:rPr lang="en-US" sz="2000" spc="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</a:t>
            </a:r>
            <a:r>
              <a:rPr lang="en-US" sz="2000" spc="-1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spc="-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en-US" sz="2000" spc="-1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</a:t>
            </a:r>
            <a:r>
              <a:rPr lang="en-US" sz="2000" spc="-1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sz="2000" spc="-2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1270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IN" b="1" spc="-6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lang="en-IN" b="1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IN" b="1" spc="-130">
                <a:solidFill>
                  <a:srgbClr val="FFFFFF"/>
                </a:solidFill>
                <a:latin typeface="Tahoma"/>
                <a:cs typeface="Tahoma"/>
              </a:rPr>
              <a:t>Preparation</a:t>
            </a:r>
            <a:endParaRPr lang="en-IN">
              <a:solidFill>
                <a:srgbClr val="FFFFFF"/>
              </a:solidFill>
              <a:latin typeface="Tahoma"/>
              <a:cs typeface="Tahoma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4A3397D-D814-9EEE-97D7-E11696952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09984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12700" marR="5080" indent="93980">
              <a:lnSpc>
                <a:spcPct val="90000"/>
              </a:lnSpc>
            </a:pPr>
            <a:r>
              <a:rPr lang="en-US" sz="2000" b="0" i="0" kern="1200" spc="-7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Roo</a:t>
            </a:r>
            <a:r>
              <a:rPr lang="en-US" sz="2000" b="0" i="0" kern="1200" spc="-9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</a:t>
            </a:r>
            <a:r>
              <a:rPr lang="en-US" sz="2000" b="0" i="0" kern="1200" spc="-3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0" i="0" kern="1200" spc="-2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type</a:t>
            </a:r>
            <a:r>
              <a:rPr lang="en-US" sz="2000" b="0" i="0" kern="1200" spc="-3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0" i="0" kern="1200" spc="-18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with</a:t>
            </a:r>
            <a:r>
              <a:rPr lang="en-US" sz="2000" b="0" i="0" kern="1200" spc="-2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respect  </a:t>
            </a:r>
            <a:r>
              <a:rPr lang="en-US" sz="2000" b="0" i="0" kern="1200" spc="-114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2000" b="0" i="0" kern="1200" spc="-5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0" i="0" kern="1200" spc="-2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Neighbourhood</a:t>
            </a:r>
            <a:r>
              <a:rPr lang="en-US" sz="2000" b="0" i="0" kern="1200" spc="-5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0" i="0" kern="1200" spc="-4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group</a:t>
            </a:r>
            <a:endParaRPr lang="en-US" sz="20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4607" y="1665553"/>
            <a:ext cx="6391533" cy="35268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500" spc="25">
                <a:solidFill>
                  <a:srgbClr val="FFFFFF"/>
                </a:solidFill>
              </a:rPr>
              <a:t>Manhattan </a:t>
            </a:r>
            <a:r>
              <a:rPr lang="en-US" sz="1500" spc="70">
                <a:solidFill>
                  <a:srgbClr val="FFFFFF"/>
                </a:solidFill>
              </a:rPr>
              <a:t>and </a:t>
            </a:r>
            <a:r>
              <a:rPr lang="en-US" sz="1500" spc="-90">
                <a:solidFill>
                  <a:srgbClr val="FFFFFF"/>
                </a:solidFill>
              </a:rPr>
              <a:t>Brooklyn </a:t>
            </a:r>
            <a:r>
              <a:rPr lang="en-US" sz="1500">
                <a:solidFill>
                  <a:srgbClr val="FFFFFF"/>
                </a:solidFill>
              </a:rPr>
              <a:t>are </a:t>
            </a:r>
            <a:r>
              <a:rPr lang="en-US" sz="1500" spc="5">
                <a:solidFill>
                  <a:srgbClr val="FFFFFF"/>
                </a:solidFill>
              </a:rPr>
              <a:t> </a:t>
            </a:r>
            <a:r>
              <a:rPr lang="en-US" sz="1500" spc="25">
                <a:solidFill>
                  <a:srgbClr val="FFFFFF"/>
                </a:solidFill>
              </a:rPr>
              <a:t>top</a:t>
            </a:r>
            <a:r>
              <a:rPr lang="en-US" sz="1500" spc="30">
                <a:solidFill>
                  <a:srgbClr val="FFFFFF"/>
                </a:solidFill>
              </a:rPr>
              <a:t> </a:t>
            </a:r>
            <a:r>
              <a:rPr lang="en-US" sz="1500" spc="5">
                <a:solidFill>
                  <a:srgbClr val="FFFFFF"/>
                </a:solidFill>
              </a:rPr>
              <a:t>neighbourhood</a:t>
            </a:r>
            <a:r>
              <a:rPr lang="en-US" sz="1500" spc="10">
                <a:solidFill>
                  <a:srgbClr val="FFFFFF"/>
                </a:solidFill>
              </a:rPr>
              <a:t> </a:t>
            </a:r>
            <a:r>
              <a:rPr lang="en-US" sz="1500" spc="-40">
                <a:solidFill>
                  <a:srgbClr val="FFFFFF"/>
                </a:solidFill>
              </a:rPr>
              <a:t>groups </a:t>
            </a:r>
            <a:r>
              <a:rPr lang="en-US" sz="1500" spc="-620">
                <a:solidFill>
                  <a:srgbClr val="FFFFFF"/>
                </a:solidFill>
              </a:rPr>
              <a:t> </a:t>
            </a:r>
            <a:r>
              <a:rPr lang="en-US" sz="1500" spc="65">
                <a:solidFill>
                  <a:srgbClr val="FFFFFF"/>
                </a:solidFill>
              </a:rPr>
              <a:t>and </a:t>
            </a:r>
            <a:r>
              <a:rPr lang="en-US" sz="1500" spc="-95">
                <a:solidFill>
                  <a:srgbClr val="FFFFFF"/>
                </a:solidFill>
              </a:rPr>
              <a:t>mostly</a:t>
            </a:r>
            <a:r>
              <a:rPr lang="en-US" sz="1500" spc="-90">
                <a:solidFill>
                  <a:srgbClr val="FFFFFF"/>
                </a:solidFill>
              </a:rPr>
              <a:t> </a:t>
            </a:r>
            <a:r>
              <a:rPr lang="en-US" sz="1500" spc="55">
                <a:solidFill>
                  <a:srgbClr val="FFFFFF"/>
                </a:solidFill>
              </a:rPr>
              <a:t>people </a:t>
            </a:r>
            <a:r>
              <a:rPr lang="en-US" sz="1500" spc="-40">
                <a:solidFill>
                  <a:srgbClr val="FFFFFF"/>
                </a:solidFill>
              </a:rPr>
              <a:t>prefer </a:t>
            </a:r>
            <a:r>
              <a:rPr lang="en-US" sz="1500" spc="-20">
                <a:solidFill>
                  <a:srgbClr val="FFFFFF"/>
                </a:solidFill>
              </a:rPr>
              <a:t>to </a:t>
            </a:r>
            <a:r>
              <a:rPr lang="en-US" sz="1500" spc="-15">
                <a:solidFill>
                  <a:srgbClr val="FFFFFF"/>
                </a:solidFill>
              </a:rPr>
              <a:t> </a:t>
            </a:r>
            <a:r>
              <a:rPr lang="en-US" sz="1500" spc="20">
                <a:solidFill>
                  <a:srgbClr val="FFFFFF"/>
                </a:solidFill>
              </a:rPr>
              <a:t>book</a:t>
            </a:r>
            <a:r>
              <a:rPr lang="en-US" sz="1500" spc="25">
                <a:solidFill>
                  <a:srgbClr val="FFFFFF"/>
                </a:solidFill>
              </a:rPr>
              <a:t> </a:t>
            </a:r>
            <a:r>
              <a:rPr lang="en-US" sz="1500" spc="-20">
                <a:solidFill>
                  <a:srgbClr val="FFFFFF"/>
                </a:solidFill>
              </a:rPr>
              <a:t>the</a:t>
            </a:r>
            <a:r>
              <a:rPr lang="en-US" sz="1500" spc="-15">
                <a:solidFill>
                  <a:srgbClr val="FFFFFF"/>
                </a:solidFill>
              </a:rPr>
              <a:t> </a:t>
            </a:r>
            <a:r>
              <a:rPr lang="en-US" sz="1500" spc="-50">
                <a:solidFill>
                  <a:srgbClr val="FFFFFF"/>
                </a:solidFill>
              </a:rPr>
              <a:t>entire</a:t>
            </a:r>
            <a:r>
              <a:rPr lang="en-US" sz="1500" spc="-45">
                <a:solidFill>
                  <a:srgbClr val="FFFFFF"/>
                </a:solidFill>
              </a:rPr>
              <a:t> </a:t>
            </a:r>
            <a:r>
              <a:rPr lang="en-US" sz="1500" spc="15">
                <a:solidFill>
                  <a:srgbClr val="FFFFFF"/>
                </a:solidFill>
              </a:rPr>
              <a:t>home</a:t>
            </a:r>
            <a:r>
              <a:rPr lang="en-US" sz="1500" spc="20">
                <a:solidFill>
                  <a:srgbClr val="FFFFFF"/>
                </a:solidFill>
              </a:rPr>
              <a:t> </a:t>
            </a:r>
            <a:r>
              <a:rPr lang="en-US" sz="1500" spc="-75">
                <a:solidFill>
                  <a:srgbClr val="FFFFFF"/>
                </a:solidFill>
              </a:rPr>
              <a:t>or </a:t>
            </a:r>
            <a:r>
              <a:rPr lang="en-US" sz="1500" spc="-70">
                <a:solidFill>
                  <a:srgbClr val="FFFFFF"/>
                </a:solidFill>
              </a:rPr>
              <a:t> </a:t>
            </a:r>
            <a:r>
              <a:rPr lang="en-US" sz="1500" spc="-110">
                <a:solidFill>
                  <a:srgbClr val="FFFFFF"/>
                </a:solidFill>
              </a:rPr>
              <a:t>pr</a:t>
            </a:r>
            <a:r>
              <a:rPr lang="en-US" sz="1500" spc="-40">
                <a:solidFill>
                  <a:srgbClr val="FFFFFF"/>
                </a:solidFill>
              </a:rPr>
              <a:t>i</a:t>
            </a:r>
            <a:r>
              <a:rPr lang="en-US" sz="1500" spc="-65">
                <a:solidFill>
                  <a:srgbClr val="FFFFFF"/>
                </a:solidFill>
              </a:rPr>
              <a:t>v</a:t>
            </a:r>
            <a:r>
              <a:rPr lang="en-US" sz="1500" spc="135">
                <a:solidFill>
                  <a:srgbClr val="FFFFFF"/>
                </a:solidFill>
              </a:rPr>
              <a:t>a</a:t>
            </a:r>
            <a:r>
              <a:rPr lang="en-US" sz="1500" spc="-114">
                <a:solidFill>
                  <a:srgbClr val="FFFFFF"/>
                </a:solidFill>
              </a:rPr>
              <a:t>t</a:t>
            </a:r>
            <a:r>
              <a:rPr lang="en-US" sz="1500" spc="95">
                <a:solidFill>
                  <a:srgbClr val="FFFFFF"/>
                </a:solidFill>
              </a:rPr>
              <a:t>e</a:t>
            </a:r>
            <a:r>
              <a:rPr lang="en-US" sz="1500" spc="-145">
                <a:solidFill>
                  <a:srgbClr val="FFFFFF"/>
                </a:solidFill>
              </a:rPr>
              <a:t> </a:t>
            </a:r>
            <a:r>
              <a:rPr lang="en-US" sz="1500" spc="-20">
                <a:solidFill>
                  <a:srgbClr val="FFFFFF"/>
                </a:solidFill>
              </a:rPr>
              <a:t>ro</a:t>
            </a:r>
            <a:r>
              <a:rPr lang="en-US" sz="1500" spc="-35">
                <a:solidFill>
                  <a:srgbClr val="FFFFFF"/>
                </a:solidFill>
              </a:rPr>
              <a:t>o</a:t>
            </a:r>
            <a:r>
              <a:rPr lang="en-US" sz="1500" spc="-65">
                <a:solidFill>
                  <a:srgbClr val="FFFFFF"/>
                </a:solidFill>
              </a:rPr>
              <a:t>m</a:t>
            </a:r>
            <a:r>
              <a:rPr lang="en-US" sz="1500" spc="-160">
                <a:solidFill>
                  <a:srgbClr val="FFFFFF"/>
                </a:solidFill>
              </a:rPr>
              <a:t>.</a:t>
            </a:r>
            <a:endParaRPr lang="en-US" sz="1500">
              <a:solidFill>
                <a:srgbClr val="FFFFFF"/>
              </a:solidFill>
            </a:endParaRPr>
          </a:p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500" spc="25">
                <a:solidFill>
                  <a:srgbClr val="FFFFFF"/>
                </a:solidFill>
              </a:rPr>
              <a:t>Manhattan</a:t>
            </a:r>
            <a:r>
              <a:rPr lang="en-US" sz="1500" spc="30">
                <a:solidFill>
                  <a:srgbClr val="FFFFFF"/>
                </a:solidFill>
              </a:rPr>
              <a:t> </a:t>
            </a:r>
            <a:r>
              <a:rPr lang="en-US" sz="1500" spc="-55">
                <a:solidFill>
                  <a:srgbClr val="FFFFFF"/>
                </a:solidFill>
              </a:rPr>
              <a:t>has</a:t>
            </a:r>
            <a:r>
              <a:rPr lang="en-US" sz="1500" spc="-50">
                <a:solidFill>
                  <a:srgbClr val="FFFFFF"/>
                </a:solidFill>
              </a:rPr>
              <a:t> </a:t>
            </a:r>
            <a:r>
              <a:rPr lang="en-US" sz="1500" spc="-55">
                <a:solidFill>
                  <a:srgbClr val="FFFFFF"/>
                </a:solidFill>
              </a:rPr>
              <a:t>highest </a:t>
            </a:r>
            <a:r>
              <a:rPr lang="en-US" sz="1500" spc="-50">
                <a:solidFill>
                  <a:srgbClr val="FFFFFF"/>
                </a:solidFill>
              </a:rPr>
              <a:t> </a:t>
            </a:r>
            <a:r>
              <a:rPr lang="en-US" sz="1500" spc="-35">
                <a:solidFill>
                  <a:srgbClr val="FFFFFF"/>
                </a:solidFill>
              </a:rPr>
              <a:t>number</a:t>
            </a:r>
            <a:r>
              <a:rPr lang="en-US" sz="1500" spc="-30">
                <a:solidFill>
                  <a:srgbClr val="FFFFFF"/>
                </a:solidFill>
              </a:rPr>
              <a:t> </a:t>
            </a:r>
            <a:r>
              <a:rPr lang="en-US" sz="1500" spc="5">
                <a:solidFill>
                  <a:srgbClr val="FFFFFF"/>
                </a:solidFill>
              </a:rPr>
              <a:t>of</a:t>
            </a:r>
            <a:r>
              <a:rPr lang="en-US" sz="1500" spc="10">
                <a:solidFill>
                  <a:srgbClr val="FFFFFF"/>
                </a:solidFill>
              </a:rPr>
              <a:t> </a:t>
            </a:r>
            <a:r>
              <a:rPr lang="en-US" sz="1500" spc="20">
                <a:solidFill>
                  <a:srgbClr val="FFFFFF"/>
                </a:solidFill>
              </a:rPr>
              <a:t>home/apt </a:t>
            </a:r>
            <a:r>
              <a:rPr lang="en-US" sz="1500" spc="-620">
                <a:solidFill>
                  <a:srgbClr val="FFFFFF"/>
                </a:solidFill>
              </a:rPr>
              <a:t> </a:t>
            </a:r>
            <a:r>
              <a:rPr lang="en-US" sz="1500" spc="-60">
                <a:solidFill>
                  <a:srgbClr val="FFFFFF"/>
                </a:solidFill>
              </a:rPr>
              <a:t>properties, </a:t>
            </a:r>
            <a:r>
              <a:rPr lang="en-US" sz="1500" spc="-90">
                <a:solidFill>
                  <a:srgbClr val="FFFFFF"/>
                </a:solidFill>
              </a:rPr>
              <a:t>i.e. </a:t>
            </a:r>
            <a:r>
              <a:rPr lang="en-US" sz="1500" spc="-215">
                <a:solidFill>
                  <a:srgbClr val="FFFFFF"/>
                </a:solidFill>
              </a:rPr>
              <a:t>60.93% </a:t>
            </a:r>
            <a:r>
              <a:rPr lang="en-US" sz="1500" spc="5">
                <a:solidFill>
                  <a:srgbClr val="FFFFFF"/>
                </a:solidFill>
              </a:rPr>
              <a:t>of </a:t>
            </a:r>
            <a:r>
              <a:rPr lang="en-US" sz="1500" spc="-25">
                <a:solidFill>
                  <a:srgbClr val="FFFFFF"/>
                </a:solidFill>
              </a:rPr>
              <a:t>total </a:t>
            </a:r>
            <a:r>
              <a:rPr lang="en-US" sz="1500" spc="-20">
                <a:solidFill>
                  <a:srgbClr val="FFFFFF"/>
                </a:solidFill>
              </a:rPr>
              <a:t> </a:t>
            </a:r>
            <a:r>
              <a:rPr lang="en-US" sz="1500" spc="-130">
                <a:solidFill>
                  <a:srgbClr val="FFFFFF"/>
                </a:solidFill>
              </a:rPr>
              <a:t>l</a:t>
            </a:r>
            <a:r>
              <a:rPr lang="en-US" sz="1500" spc="-114">
                <a:solidFill>
                  <a:srgbClr val="FFFFFF"/>
                </a:solidFill>
              </a:rPr>
              <a:t>i</a:t>
            </a:r>
            <a:r>
              <a:rPr lang="en-US" sz="1500" spc="-200">
                <a:solidFill>
                  <a:srgbClr val="FFFFFF"/>
                </a:solidFill>
              </a:rPr>
              <a:t>s</a:t>
            </a:r>
            <a:r>
              <a:rPr lang="en-US" sz="1500" spc="-160">
                <a:solidFill>
                  <a:srgbClr val="FFFFFF"/>
                </a:solidFill>
              </a:rPr>
              <a:t>t</a:t>
            </a:r>
            <a:r>
              <a:rPr lang="en-US" sz="1500" spc="85">
                <a:solidFill>
                  <a:srgbClr val="FFFFFF"/>
                </a:solidFill>
              </a:rPr>
              <a:t>e</a:t>
            </a:r>
            <a:r>
              <a:rPr lang="en-US" sz="1500" spc="110">
                <a:solidFill>
                  <a:srgbClr val="FFFFFF"/>
                </a:solidFill>
              </a:rPr>
              <a:t>d</a:t>
            </a:r>
            <a:r>
              <a:rPr lang="en-US" sz="1500" spc="-140">
                <a:solidFill>
                  <a:srgbClr val="FFFFFF"/>
                </a:solidFill>
              </a:rPr>
              <a:t> </a:t>
            </a:r>
            <a:r>
              <a:rPr lang="en-US" sz="1500" spc="-80">
                <a:solidFill>
                  <a:srgbClr val="FFFFFF"/>
                </a:solidFill>
              </a:rPr>
              <a:t>p</a:t>
            </a:r>
            <a:r>
              <a:rPr lang="en-US" sz="1500" spc="-60">
                <a:solidFill>
                  <a:srgbClr val="FFFFFF"/>
                </a:solidFill>
              </a:rPr>
              <a:t>r</a:t>
            </a:r>
            <a:r>
              <a:rPr lang="en-US" sz="1500" spc="95">
                <a:solidFill>
                  <a:srgbClr val="FFFFFF"/>
                </a:solidFill>
              </a:rPr>
              <a:t>o</a:t>
            </a:r>
            <a:r>
              <a:rPr lang="en-US" sz="1500" spc="85">
                <a:solidFill>
                  <a:srgbClr val="FFFFFF"/>
                </a:solidFill>
              </a:rPr>
              <a:t>pe</a:t>
            </a:r>
            <a:r>
              <a:rPr lang="en-US" sz="1500" spc="-170">
                <a:solidFill>
                  <a:srgbClr val="FFFFFF"/>
                </a:solidFill>
              </a:rPr>
              <a:t>r</a:t>
            </a:r>
            <a:r>
              <a:rPr lang="en-US" sz="1500" spc="-175">
                <a:solidFill>
                  <a:srgbClr val="FFFFFF"/>
                </a:solidFill>
              </a:rPr>
              <a:t>t</a:t>
            </a:r>
            <a:r>
              <a:rPr lang="en-US" sz="1500" spc="-114">
                <a:solidFill>
                  <a:srgbClr val="FFFFFF"/>
                </a:solidFill>
              </a:rPr>
              <a:t>i</a:t>
            </a:r>
            <a:r>
              <a:rPr lang="en-US" sz="1500" spc="85">
                <a:solidFill>
                  <a:srgbClr val="FFFFFF"/>
                </a:solidFill>
              </a:rPr>
              <a:t>e</a:t>
            </a:r>
            <a:r>
              <a:rPr lang="en-US" sz="1500" spc="-245">
                <a:solidFill>
                  <a:srgbClr val="FFFFFF"/>
                </a:solidFill>
              </a:rPr>
              <a:t>s</a:t>
            </a:r>
            <a:r>
              <a:rPr lang="en-US" sz="1500" spc="-160">
                <a:solidFill>
                  <a:srgbClr val="FFFFFF"/>
                </a:solidFill>
              </a:rPr>
              <a:t>.</a:t>
            </a:r>
            <a:endParaRPr lang="en-US" sz="1500">
              <a:solidFill>
                <a:srgbClr val="FFFFFF"/>
              </a:solidFill>
            </a:endParaRPr>
          </a:p>
          <a:p>
            <a:pPr marL="299085" marR="635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500" spc="-35">
                <a:solidFill>
                  <a:srgbClr val="FFFFFF"/>
                </a:solidFill>
              </a:rPr>
              <a:t>Maximum number </a:t>
            </a:r>
            <a:r>
              <a:rPr lang="en-US" sz="1500" spc="5">
                <a:solidFill>
                  <a:srgbClr val="FFFFFF"/>
                </a:solidFill>
              </a:rPr>
              <a:t>of </a:t>
            </a:r>
            <a:r>
              <a:rPr lang="en-US" sz="1500" spc="-30">
                <a:solidFill>
                  <a:srgbClr val="FFFFFF"/>
                </a:solidFill>
              </a:rPr>
              <a:t>private </a:t>
            </a:r>
            <a:r>
              <a:rPr lang="en-US" sz="1500" spc="-25">
                <a:solidFill>
                  <a:srgbClr val="FFFFFF"/>
                </a:solidFill>
              </a:rPr>
              <a:t> </a:t>
            </a:r>
            <a:r>
              <a:rPr lang="en-US" sz="1500" spc="-75">
                <a:solidFill>
                  <a:srgbClr val="FFFFFF"/>
                </a:solidFill>
              </a:rPr>
              <a:t>rooms</a:t>
            </a:r>
            <a:r>
              <a:rPr lang="en-US" sz="1500" spc="434">
                <a:solidFill>
                  <a:srgbClr val="FFFFFF"/>
                </a:solidFill>
              </a:rPr>
              <a:t> </a:t>
            </a:r>
            <a:r>
              <a:rPr lang="en-US" sz="1500">
                <a:solidFill>
                  <a:srgbClr val="FFFFFF"/>
                </a:solidFill>
              </a:rPr>
              <a:t>are</a:t>
            </a:r>
            <a:r>
              <a:rPr lang="en-US" sz="1500" spc="170">
                <a:solidFill>
                  <a:srgbClr val="FFFFFF"/>
                </a:solidFill>
              </a:rPr>
              <a:t> </a:t>
            </a:r>
            <a:r>
              <a:rPr lang="en-US" sz="1500" spc="15">
                <a:solidFill>
                  <a:srgbClr val="FFFFFF"/>
                </a:solidFill>
              </a:rPr>
              <a:t>available</a:t>
            </a:r>
            <a:r>
              <a:rPr lang="en-US" sz="1500" spc="175">
                <a:solidFill>
                  <a:srgbClr val="FFFFFF"/>
                </a:solidFill>
              </a:rPr>
              <a:t> </a:t>
            </a:r>
            <a:r>
              <a:rPr lang="en-US" sz="1500" spc="-80">
                <a:solidFill>
                  <a:srgbClr val="FFFFFF"/>
                </a:solidFill>
              </a:rPr>
              <a:t>in</a:t>
            </a:r>
            <a:r>
              <a:rPr lang="en-US" sz="1500" spc="175">
                <a:solidFill>
                  <a:srgbClr val="FFFFFF"/>
                </a:solidFill>
              </a:rPr>
              <a:t> </a:t>
            </a:r>
            <a:r>
              <a:rPr lang="en-US" sz="1500" spc="-125">
                <a:solidFill>
                  <a:srgbClr val="FFFFFF"/>
                </a:solidFill>
              </a:rPr>
              <a:t>Bronx</a:t>
            </a:r>
            <a:endParaRPr lang="en-US" sz="1500">
              <a:solidFill>
                <a:srgbClr val="FFFFFF"/>
              </a:solidFill>
            </a:endParaRPr>
          </a:p>
          <a:p>
            <a:pPr marL="299085" marR="76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 spc="-90">
                <a:solidFill>
                  <a:srgbClr val="FFFFFF"/>
                </a:solidFill>
              </a:rPr>
              <a:t>i.e.</a:t>
            </a:r>
            <a:r>
              <a:rPr lang="en-US" sz="1500" spc="-85">
                <a:solidFill>
                  <a:srgbClr val="FFFFFF"/>
                </a:solidFill>
              </a:rPr>
              <a:t> </a:t>
            </a:r>
            <a:r>
              <a:rPr lang="en-US" sz="1500">
                <a:solidFill>
                  <a:srgbClr val="FFFFFF"/>
                </a:solidFill>
              </a:rPr>
              <a:t>around</a:t>
            </a:r>
            <a:r>
              <a:rPr lang="en-US" sz="1500" spc="5">
                <a:solidFill>
                  <a:srgbClr val="FFFFFF"/>
                </a:solidFill>
              </a:rPr>
              <a:t> </a:t>
            </a:r>
            <a:r>
              <a:rPr lang="en-US" sz="1500" spc="-215">
                <a:solidFill>
                  <a:srgbClr val="FFFFFF"/>
                </a:solidFill>
              </a:rPr>
              <a:t>59.76%</a:t>
            </a:r>
            <a:r>
              <a:rPr lang="en-US" sz="1500" spc="-210">
                <a:solidFill>
                  <a:srgbClr val="FFFFFF"/>
                </a:solidFill>
              </a:rPr>
              <a:t> </a:t>
            </a:r>
            <a:r>
              <a:rPr lang="en-US" sz="1500" spc="5">
                <a:solidFill>
                  <a:srgbClr val="FFFFFF"/>
                </a:solidFill>
              </a:rPr>
              <a:t>of</a:t>
            </a:r>
            <a:r>
              <a:rPr lang="en-US" sz="1500" spc="10">
                <a:solidFill>
                  <a:srgbClr val="FFFFFF"/>
                </a:solidFill>
              </a:rPr>
              <a:t> </a:t>
            </a:r>
            <a:r>
              <a:rPr lang="en-US" sz="1500" spc="-30">
                <a:solidFill>
                  <a:srgbClr val="FFFFFF"/>
                </a:solidFill>
              </a:rPr>
              <a:t>total </a:t>
            </a:r>
            <a:r>
              <a:rPr lang="en-US" sz="1500" spc="-25">
                <a:solidFill>
                  <a:srgbClr val="FFFFFF"/>
                </a:solidFill>
              </a:rPr>
              <a:t> </a:t>
            </a:r>
            <a:r>
              <a:rPr lang="en-US" sz="1500" spc="-125">
                <a:solidFill>
                  <a:srgbClr val="FFFFFF"/>
                </a:solidFill>
              </a:rPr>
              <a:t>l</a:t>
            </a:r>
            <a:r>
              <a:rPr lang="en-US" sz="1500" spc="-114">
                <a:solidFill>
                  <a:srgbClr val="FFFFFF"/>
                </a:solidFill>
              </a:rPr>
              <a:t>i</a:t>
            </a:r>
            <a:r>
              <a:rPr lang="en-US" sz="1500" spc="-200">
                <a:solidFill>
                  <a:srgbClr val="FFFFFF"/>
                </a:solidFill>
              </a:rPr>
              <a:t>s</a:t>
            </a:r>
            <a:r>
              <a:rPr lang="en-US" sz="1500" spc="-165">
                <a:solidFill>
                  <a:srgbClr val="FFFFFF"/>
                </a:solidFill>
              </a:rPr>
              <a:t>t</a:t>
            </a:r>
            <a:r>
              <a:rPr lang="en-US" sz="1500" spc="85">
                <a:solidFill>
                  <a:srgbClr val="FFFFFF"/>
                </a:solidFill>
              </a:rPr>
              <a:t>e</a:t>
            </a:r>
            <a:r>
              <a:rPr lang="en-US" sz="1500" spc="110">
                <a:solidFill>
                  <a:srgbClr val="FFFFFF"/>
                </a:solidFill>
              </a:rPr>
              <a:t>d</a:t>
            </a:r>
            <a:r>
              <a:rPr lang="en-US" sz="1500" spc="-135">
                <a:solidFill>
                  <a:srgbClr val="FFFFFF"/>
                </a:solidFill>
              </a:rPr>
              <a:t> </a:t>
            </a:r>
            <a:r>
              <a:rPr lang="en-US" sz="1500" spc="-20">
                <a:solidFill>
                  <a:srgbClr val="FFFFFF"/>
                </a:solidFill>
              </a:rPr>
              <a:t>pr</a:t>
            </a:r>
            <a:r>
              <a:rPr lang="en-US" sz="1500" spc="-25">
                <a:solidFill>
                  <a:srgbClr val="FFFFFF"/>
                </a:solidFill>
              </a:rPr>
              <a:t>o</a:t>
            </a:r>
            <a:r>
              <a:rPr lang="en-US" sz="1500" spc="95">
                <a:solidFill>
                  <a:srgbClr val="FFFFFF"/>
                </a:solidFill>
              </a:rPr>
              <a:t>p</a:t>
            </a:r>
            <a:r>
              <a:rPr lang="en-US" sz="1500" spc="85">
                <a:solidFill>
                  <a:srgbClr val="FFFFFF"/>
                </a:solidFill>
              </a:rPr>
              <a:t>e</a:t>
            </a:r>
            <a:r>
              <a:rPr lang="en-US" sz="1500" spc="-170">
                <a:solidFill>
                  <a:srgbClr val="FFFFFF"/>
                </a:solidFill>
              </a:rPr>
              <a:t>r</a:t>
            </a:r>
            <a:r>
              <a:rPr lang="en-US" sz="1500" spc="-175">
                <a:solidFill>
                  <a:srgbClr val="FFFFFF"/>
                </a:solidFill>
              </a:rPr>
              <a:t>t</a:t>
            </a:r>
            <a:r>
              <a:rPr lang="en-US" sz="1500" spc="-114">
                <a:solidFill>
                  <a:srgbClr val="FFFFFF"/>
                </a:solidFill>
              </a:rPr>
              <a:t>i</a:t>
            </a:r>
            <a:r>
              <a:rPr lang="en-US" sz="1500" spc="85">
                <a:solidFill>
                  <a:srgbClr val="FFFFFF"/>
                </a:solidFill>
              </a:rPr>
              <a:t>e</a:t>
            </a:r>
            <a:r>
              <a:rPr lang="en-US" sz="1500" spc="-240">
                <a:solidFill>
                  <a:srgbClr val="FFFFFF"/>
                </a:solidFill>
              </a:rPr>
              <a:t>s</a:t>
            </a:r>
            <a:r>
              <a:rPr lang="en-US" sz="1500" spc="-160">
                <a:solidFill>
                  <a:srgbClr val="FFFFFF"/>
                </a:solidFill>
              </a:rPr>
              <a:t>.</a:t>
            </a:r>
            <a:endParaRPr lang="en-US" sz="1500">
              <a:solidFill>
                <a:srgbClr val="FFFFFF"/>
              </a:solidFill>
            </a:endParaRPr>
          </a:p>
          <a:p>
            <a:pPr marL="299085" marR="571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500" spc="-55">
                <a:solidFill>
                  <a:srgbClr val="FFFFFF"/>
                </a:solidFill>
              </a:rPr>
              <a:t>Very</a:t>
            </a:r>
            <a:r>
              <a:rPr lang="en-US" sz="1500" spc="-50">
                <a:solidFill>
                  <a:srgbClr val="FFFFFF"/>
                </a:solidFill>
              </a:rPr>
              <a:t> </a:t>
            </a:r>
            <a:r>
              <a:rPr lang="en-US" sz="1500" spc="-130">
                <a:solidFill>
                  <a:srgbClr val="FFFFFF"/>
                </a:solidFill>
              </a:rPr>
              <a:t>less</a:t>
            </a:r>
            <a:r>
              <a:rPr lang="en-US" sz="1500" spc="-125">
                <a:solidFill>
                  <a:srgbClr val="FFFFFF"/>
                </a:solidFill>
              </a:rPr>
              <a:t> </a:t>
            </a:r>
            <a:r>
              <a:rPr lang="en-US" sz="1500" spc="-35">
                <a:solidFill>
                  <a:srgbClr val="FFFFFF"/>
                </a:solidFill>
              </a:rPr>
              <a:t>number</a:t>
            </a:r>
            <a:r>
              <a:rPr lang="en-US" sz="1500" spc="-30">
                <a:solidFill>
                  <a:srgbClr val="FFFFFF"/>
                </a:solidFill>
              </a:rPr>
              <a:t> </a:t>
            </a:r>
            <a:r>
              <a:rPr lang="en-US" sz="1500" spc="5">
                <a:solidFill>
                  <a:srgbClr val="FFFFFF"/>
                </a:solidFill>
              </a:rPr>
              <a:t>of</a:t>
            </a:r>
            <a:r>
              <a:rPr lang="en-US" sz="1500" spc="10">
                <a:solidFill>
                  <a:srgbClr val="FFFFFF"/>
                </a:solidFill>
              </a:rPr>
              <a:t> </a:t>
            </a:r>
            <a:r>
              <a:rPr lang="en-US" sz="1500" spc="-35">
                <a:solidFill>
                  <a:srgbClr val="FFFFFF"/>
                </a:solidFill>
              </a:rPr>
              <a:t>shared </a:t>
            </a:r>
            <a:r>
              <a:rPr lang="en-US" sz="1500" spc="-30">
                <a:solidFill>
                  <a:srgbClr val="FFFFFF"/>
                </a:solidFill>
              </a:rPr>
              <a:t> </a:t>
            </a:r>
            <a:r>
              <a:rPr lang="en-US" sz="1500" spc="-75">
                <a:solidFill>
                  <a:srgbClr val="FFFFFF"/>
                </a:solidFill>
              </a:rPr>
              <a:t>rooms </a:t>
            </a:r>
            <a:r>
              <a:rPr lang="en-US" sz="1500">
                <a:solidFill>
                  <a:srgbClr val="FFFFFF"/>
                </a:solidFill>
              </a:rPr>
              <a:t>are </a:t>
            </a:r>
            <a:r>
              <a:rPr lang="en-US" sz="1500" spc="15">
                <a:solidFill>
                  <a:srgbClr val="FFFFFF"/>
                </a:solidFill>
              </a:rPr>
              <a:t>available </a:t>
            </a:r>
            <a:r>
              <a:rPr lang="en-US" sz="1500" spc="-80">
                <a:solidFill>
                  <a:srgbClr val="FFFFFF"/>
                </a:solidFill>
              </a:rPr>
              <a:t>in </a:t>
            </a:r>
            <a:r>
              <a:rPr lang="en-US" sz="1500" spc="100">
                <a:solidFill>
                  <a:srgbClr val="FFFFFF"/>
                </a:solidFill>
              </a:rPr>
              <a:t>each </a:t>
            </a:r>
            <a:r>
              <a:rPr lang="en-US" sz="1500" spc="105">
                <a:solidFill>
                  <a:srgbClr val="FFFFFF"/>
                </a:solidFill>
              </a:rPr>
              <a:t> </a:t>
            </a:r>
            <a:r>
              <a:rPr lang="en-US" sz="1500" spc="10">
                <a:solidFill>
                  <a:srgbClr val="FFFFFF"/>
                </a:solidFill>
              </a:rPr>
              <a:t>Neighborhood</a:t>
            </a:r>
            <a:r>
              <a:rPr lang="en-US" sz="1500" spc="-125">
                <a:solidFill>
                  <a:srgbClr val="FFFFFF"/>
                </a:solidFill>
              </a:rPr>
              <a:t> </a:t>
            </a:r>
            <a:r>
              <a:rPr lang="en-US" sz="1500" spc="-30">
                <a:solidFill>
                  <a:srgbClr val="FFFFFF"/>
                </a:solidFill>
              </a:rPr>
              <a:t>group.</a:t>
            </a:r>
            <a:endParaRPr lang="en-US" sz="150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635">
              <a:lnSpc>
                <a:spcPct val="90000"/>
              </a:lnSpc>
            </a:pPr>
            <a:r>
              <a:rPr lang="en-US" sz="2000" spc="-55">
                <a:solidFill>
                  <a:schemeClr val="tx1"/>
                </a:solidFill>
              </a:rPr>
              <a:t>Customer</a:t>
            </a:r>
            <a:r>
              <a:rPr lang="en-US" sz="2000" spc="-70">
                <a:solidFill>
                  <a:schemeClr val="tx1"/>
                </a:solidFill>
              </a:rPr>
              <a:t> </a:t>
            </a:r>
            <a:r>
              <a:rPr lang="en-US" sz="2000" spc="-60">
                <a:solidFill>
                  <a:schemeClr val="tx1"/>
                </a:solidFill>
              </a:rPr>
              <a:t>Booking</a:t>
            </a:r>
            <a:r>
              <a:rPr lang="en-US" sz="2000" spc="-50">
                <a:solidFill>
                  <a:schemeClr val="tx1"/>
                </a:solidFill>
              </a:rPr>
              <a:t> </a:t>
            </a:r>
            <a:r>
              <a:rPr lang="en-US" sz="2000" spc="-185">
                <a:solidFill>
                  <a:schemeClr val="tx1"/>
                </a:solidFill>
              </a:rPr>
              <a:t>with</a:t>
            </a:r>
            <a:endParaRPr lang="en-US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 spc="-25">
                <a:solidFill>
                  <a:schemeClr val="tx1"/>
                </a:solidFill>
              </a:rPr>
              <a:t>respect</a:t>
            </a:r>
            <a:r>
              <a:rPr lang="en-US" sz="2000" spc="-50">
                <a:solidFill>
                  <a:schemeClr val="tx1"/>
                </a:solidFill>
              </a:rPr>
              <a:t> </a:t>
            </a:r>
            <a:r>
              <a:rPr lang="en-US" sz="2000" spc="-114">
                <a:solidFill>
                  <a:schemeClr val="tx1"/>
                </a:solidFill>
              </a:rPr>
              <a:t>to</a:t>
            </a:r>
            <a:r>
              <a:rPr lang="en-US" sz="2000" spc="-40">
                <a:solidFill>
                  <a:schemeClr val="tx1"/>
                </a:solidFill>
              </a:rPr>
              <a:t> </a:t>
            </a:r>
            <a:r>
              <a:rPr lang="en-US" sz="2000" spc="-85">
                <a:solidFill>
                  <a:schemeClr val="tx1"/>
                </a:solidFill>
              </a:rPr>
              <a:t>minimum</a:t>
            </a:r>
            <a:r>
              <a:rPr lang="en-US" sz="2000" spc="-70">
                <a:solidFill>
                  <a:schemeClr val="tx1"/>
                </a:solidFill>
              </a:rPr>
              <a:t> </a:t>
            </a:r>
            <a:r>
              <a:rPr lang="en-US" sz="2000" spc="-130">
                <a:solidFill>
                  <a:schemeClr val="tx1"/>
                </a:solidFill>
              </a:rPr>
              <a:t>nights</a:t>
            </a: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l="2404" r="21514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300" spc="-90"/>
              <a:t>The </a:t>
            </a:r>
            <a:r>
              <a:rPr lang="en-US" sz="1300" spc="-114"/>
              <a:t>listings </a:t>
            </a:r>
            <a:r>
              <a:rPr lang="en-US" sz="1300" spc="-65"/>
              <a:t>with </a:t>
            </a:r>
            <a:r>
              <a:rPr lang="en-US" sz="1300" spc="-50"/>
              <a:t>Minimum </a:t>
            </a:r>
            <a:r>
              <a:rPr lang="en-US" sz="1300" spc="-75"/>
              <a:t>nights </a:t>
            </a:r>
            <a:r>
              <a:rPr lang="en-US" sz="1300" spc="-165"/>
              <a:t>1-5 </a:t>
            </a:r>
            <a:r>
              <a:rPr lang="en-US" sz="1300" spc="-160"/>
              <a:t> </a:t>
            </a:r>
            <a:r>
              <a:rPr lang="en-US" sz="1300" spc="50"/>
              <a:t>h</a:t>
            </a:r>
            <a:r>
              <a:rPr lang="en-US" sz="1300" spc="40"/>
              <a:t>a</a:t>
            </a:r>
            <a:r>
              <a:rPr lang="en-US" sz="1300" spc="10"/>
              <a:t>v</a:t>
            </a:r>
            <a:r>
              <a:rPr lang="en-US" sz="1300" spc="15"/>
              <a:t>e</a:t>
            </a:r>
            <a:r>
              <a:rPr lang="en-US" sz="1300" spc="-60"/>
              <a:t> </a:t>
            </a:r>
            <a:r>
              <a:rPr lang="en-US" sz="1300" spc="-110"/>
              <a:t>t</a:t>
            </a:r>
            <a:r>
              <a:rPr lang="en-US" sz="1300" spc="25"/>
              <a:t>he</a:t>
            </a:r>
            <a:r>
              <a:rPr lang="en-US" sz="1300" spc="-60"/>
              <a:t> </a:t>
            </a:r>
            <a:r>
              <a:rPr lang="en-US" sz="1300" spc="-75"/>
              <a:t>most</a:t>
            </a:r>
            <a:r>
              <a:rPr lang="en-US" sz="1300" spc="-65"/>
              <a:t> </a:t>
            </a:r>
            <a:r>
              <a:rPr lang="en-US" sz="1300" spc="-25"/>
              <a:t>number</a:t>
            </a:r>
            <a:r>
              <a:rPr lang="en-US" sz="1300" spc="-60"/>
              <a:t> </a:t>
            </a:r>
            <a:r>
              <a:rPr lang="en-US" sz="1300" spc="10"/>
              <a:t>of</a:t>
            </a:r>
            <a:r>
              <a:rPr lang="en-US" sz="1300" spc="-55"/>
              <a:t> </a:t>
            </a:r>
            <a:r>
              <a:rPr lang="en-US" sz="1300" spc="85"/>
              <a:t>b</a:t>
            </a:r>
            <a:r>
              <a:rPr lang="en-US" sz="1300" spc="75"/>
              <a:t>o</a:t>
            </a:r>
            <a:r>
              <a:rPr lang="en-US" sz="1300" spc="-80"/>
              <a:t>ok</a:t>
            </a:r>
            <a:r>
              <a:rPr lang="en-US" sz="1300" spc="-50"/>
              <a:t>i</a:t>
            </a:r>
            <a:r>
              <a:rPr lang="en-US" sz="1300" spc="25"/>
              <a:t>n</a:t>
            </a:r>
            <a:r>
              <a:rPr lang="en-US" sz="1300" spc="30"/>
              <a:t>g</a:t>
            </a:r>
            <a:r>
              <a:rPr lang="en-US" sz="1300" spc="-229"/>
              <a:t>s</a:t>
            </a:r>
            <a:r>
              <a:rPr lang="en-US" sz="1300" spc="-145"/>
              <a:t>.  </a:t>
            </a:r>
            <a:r>
              <a:rPr lang="en-US" sz="1300"/>
              <a:t>W</a:t>
            </a:r>
            <a:r>
              <a:rPr lang="en-US" sz="1300" spc="15"/>
              <a:t>e</a:t>
            </a:r>
            <a:r>
              <a:rPr lang="en-US" sz="1300" spc="-65"/>
              <a:t> </a:t>
            </a:r>
            <a:r>
              <a:rPr lang="en-US" sz="1300" spc="105"/>
              <a:t>can</a:t>
            </a:r>
            <a:r>
              <a:rPr lang="en-US" sz="1300" spc="-65"/>
              <a:t> </a:t>
            </a:r>
            <a:r>
              <a:rPr lang="en-US" sz="1300" spc="-20"/>
              <a:t>se</a:t>
            </a:r>
            <a:r>
              <a:rPr lang="en-US" sz="1300" spc="-15"/>
              <a:t>e</a:t>
            </a:r>
            <a:r>
              <a:rPr lang="en-US" sz="1300" spc="-80"/>
              <a:t> </a:t>
            </a:r>
            <a:r>
              <a:rPr lang="en-US" sz="1300" spc="140"/>
              <a:t>a</a:t>
            </a:r>
            <a:r>
              <a:rPr lang="en-US" sz="1300" spc="-70"/>
              <a:t> </a:t>
            </a:r>
            <a:r>
              <a:rPr lang="en-US" sz="1300" spc="-30"/>
              <a:t>promin</a:t>
            </a:r>
            <a:r>
              <a:rPr lang="en-US" sz="1300" spc="-40"/>
              <a:t>e</a:t>
            </a:r>
            <a:r>
              <a:rPr lang="en-US" sz="1300" spc="-65"/>
              <a:t>nt</a:t>
            </a:r>
            <a:r>
              <a:rPr lang="en-US" sz="1300" spc="-75"/>
              <a:t> </a:t>
            </a:r>
            <a:r>
              <a:rPr lang="en-US" sz="1300" spc="-105"/>
              <a:t>sp</a:t>
            </a:r>
            <a:r>
              <a:rPr lang="en-US" sz="1300" spc="-45"/>
              <a:t>i</a:t>
            </a:r>
            <a:r>
              <a:rPr lang="en-US" sz="1300" spc="-175"/>
              <a:t>k</a:t>
            </a:r>
            <a:r>
              <a:rPr lang="en-US" sz="1300" spc="90"/>
              <a:t>e</a:t>
            </a:r>
            <a:r>
              <a:rPr lang="en-US" sz="1300" spc="-75"/>
              <a:t> </a:t>
            </a:r>
            <a:r>
              <a:rPr lang="en-US" sz="1300" spc="-60"/>
              <a:t>i</a:t>
            </a:r>
            <a:r>
              <a:rPr lang="en-US" sz="1300" spc="-114"/>
              <a:t>n</a:t>
            </a:r>
            <a:r>
              <a:rPr lang="en-US" sz="1300" spc="-65"/>
              <a:t> </a:t>
            </a:r>
            <a:r>
              <a:rPr lang="en-US" sz="1300" spc="-120"/>
              <a:t>30  </a:t>
            </a:r>
            <a:r>
              <a:rPr lang="en-US" sz="1300" spc="-45"/>
              <a:t>days,</a:t>
            </a:r>
            <a:r>
              <a:rPr lang="en-US" sz="1300" spc="-40"/>
              <a:t> </a:t>
            </a:r>
            <a:r>
              <a:rPr lang="en-US" sz="1300" spc="-125"/>
              <a:t>this</a:t>
            </a:r>
            <a:r>
              <a:rPr lang="en-US" sz="1300" spc="-120"/>
              <a:t> </a:t>
            </a:r>
            <a:r>
              <a:rPr lang="en-US" sz="1300" spc="5"/>
              <a:t>would</a:t>
            </a:r>
            <a:r>
              <a:rPr lang="en-US" sz="1300" spc="10"/>
              <a:t> </a:t>
            </a:r>
            <a:r>
              <a:rPr lang="en-US" sz="1300" spc="95"/>
              <a:t>be</a:t>
            </a:r>
            <a:r>
              <a:rPr lang="en-US" sz="1300" spc="100"/>
              <a:t> </a:t>
            </a:r>
            <a:r>
              <a:rPr lang="en-US" sz="1300" spc="45"/>
              <a:t>because </a:t>
            </a:r>
            <a:r>
              <a:rPr lang="en-US" sz="1300" spc="50"/>
              <a:t> </a:t>
            </a:r>
            <a:r>
              <a:rPr lang="en-US" sz="1300" spc="-55"/>
              <a:t>customers</a:t>
            </a:r>
            <a:r>
              <a:rPr lang="en-US" sz="1300" spc="-50"/>
              <a:t> </a:t>
            </a:r>
            <a:r>
              <a:rPr lang="en-US" sz="1300" spc="10"/>
              <a:t>would</a:t>
            </a:r>
            <a:r>
              <a:rPr lang="en-US" sz="1300" spc="15"/>
              <a:t> </a:t>
            </a:r>
            <a:r>
              <a:rPr lang="en-US" sz="1300" spc="-65"/>
              <a:t>rent</a:t>
            </a:r>
            <a:r>
              <a:rPr lang="en-US" sz="1300" spc="-60"/>
              <a:t> </a:t>
            </a:r>
            <a:r>
              <a:rPr lang="en-US" sz="1300" spc="-20"/>
              <a:t>out</a:t>
            </a:r>
            <a:r>
              <a:rPr lang="en-US" sz="1300" spc="-15"/>
              <a:t> </a:t>
            </a:r>
            <a:r>
              <a:rPr lang="en-US" sz="1300" spc="20"/>
              <a:t>on</a:t>
            </a:r>
            <a:r>
              <a:rPr lang="en-US" sz="1300" spc="25"/>
              <a:t> </a:t>
            </a:r>
            <a:r>
              <a:rPr lang="en-US" sz="1300" spc="140"/>
              <a:t>a </a:t>
            </a:r>
            <a:r>
              <a:rPr lang="en-US" sz="1300" spc="145"/>
              <a:t> </a:t>
            </a:r>
            <a:r>
              <a:rPr lang="en-US" sz="1300" spc="-30"/>
              <a:t>mon</a:t>
            </a:r>
            <a:r>
              <a:rPr lang="en-US" sz="1300" spc="-35"/>
              <a:t>t</a:t>
            </a:r>
            <a:r>
              <a:rPr lang="en-US" sz="1300" spc="-114"/>
              <a:t>h</a:t>
            </a:r>
            <a:r>
              <a:rPr lang="en-US" sz="1300" spc="-30"/>
              <a:t>l</a:t>
            </a:r>
            <a:r>
              <a:rPr lang="en-US" sz="1300" spc="-95"/>
              <a:t>y</a:t>
            </a:r>
            <a:r>
              <a:rPr lang="en-US" sz="1300" spc="-145"/>
              <a:t> </a:t>
            </a:r>
            <a:r>
              <a:rPr lang="en-US" sz="1300" spc="-35"/>
              <a:t>bas</a:t>
            </a:r>
            <a:r>
              <a:rPr lang="en-US" sz="1300" spc="-10"/>
              <a:t>i</a:t>
            </a:r>
            <a:r>
              <a:rPr lang="en-US" sz="1300" spc="-229"/>
              <a:t>s</a:t>
            </a:r>
            <a:r>
              <a:rPr lang="en-US" sz="1300" spc="-150"/>
              <a:t>.</a:t>
            </a:r>
            <a:endParaRPr lang="en-US" sz="1300"/>
          </a:p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300" spc="114"/>
              <a:t>A</a:t>
            </a:r>
            <a:r>
              <a:rPr lang="en-US" sz="1300" spc="-75"/>
              <a:t>f</a:t>
            </a:r>
            <a:r>
              <a:rPr lang="en-US" sz="1300" spc="-95"/>
              <a:t>t</a:t>
            </a:r>
            <a:r>
              <a:rPr lang="en-US" sz="1300" spc="70"/>
              <a:t>e</a:t>
            </a:r>
            <a:r>
              <a:rPr lang="en-US" sz="1300" spc="-215"/>
              <a:t>r</a:t>
            </a:r>
            <a:r>
              <a:rPr lang="en-US" sz="1300" spc="-130"/>
              <a:t> </a:t>
            </a:r>
            <a:r>
              <a:rPr lang="en-US" sz="1300" spc="-150"/>
              <a:t>3</a:t>
            </a:r>
            <a:r>
              <a:rPr lang="en-US" sz="1300" spc="-140"/>
              <a:t>0</a:t>
            </a:r>
            <a:r>
              <a:rPr lang="en-US" sz="1300" spc="-130"/>
              <a:t> </a:t>
            </a:r>
            <a:r>
              <a:rPr lang="en-US" sz="1300" spc="-25"/>
              <a:t>days</a:t>
            </a:r>
            <a:r>
              <a:rPr lang="en-US" sz="1300" spc="-150"/>
              <a:t>,</a:t>
            </a:r>
            <a:r>
              <a:rPr lang="en-US" sz="1300" spc="-125"/>
              <a:t> </a:t>
            </a:r>
            <a:r>
              <a:rPr lang="en-US" sz="1300" spc="60"/>
              <a:t>w</a:t>
            </a:r>
            <a:r>
              <a:rPr lang="en-US" sz="1300" spc="50"/>
              <a:t>e</a:t>
            </a:r>
            <a:r>
              <a:rPr lang="en-US" sz="1300" spc="-135"/>
              <a:t> </a:t>
            </a:r>
            <a:r>
              <a:rPr lang="en-US" sz="1300" spc="105"/>
              <a:t>can</a:t>
            </a:r>
            <a:r>
              <a:rPr lang="en-US" sz="1300" spc="-125"/>
              <a:t> </a:t>
            </a:r>
            <a:r>
              <a:rPr lang="en-US" sz="1300" spc="125"/>
              <a:t>a</a:t>
            </a:r>
            <a:r>
              <a:rPr lang="en-US" sz="1300" spc="-114"/>
              <a:t>l</a:t>
            </a:r>
            <a:r>
              <a:rPr lang="en-US" sz="1300" spc="-240"/>
              <a:t>s</a:t>
            </a:r>
            <a:r>
              <a:rPr lang="en-US" sz="1300" spc="80"/>
              <a:t>o</a:t>
            </a:r>
            <a:r>
              <a:rPr lang="en-US" sz="1300" spc="-130"/>
              <a:t> </a:t>
            </a:r>
            <a:r>
              <a:rPr lang="en-US" sz="1300" spc="-20"/>
              <a:t>se</a:t>
            </a:r>
            <a:r>
              <a:rPr lang="en-US" sz="1300" spc="-15"/>
              <a:t>e</a:t>
            </a:r>
            <a:r>
              <a:rPr lang="en-US" sz="1300" spc="-140"/>
              <a:t> </a:t>
            </a:r>
            <a:r>
              <a:rPr lang="en-US" sz="1300" spc="-105"/>
              <a:t>s</a:t>
            </a:r>
            <a:r>
              <a:rPr lang="en-US" sz="1300" spc="-204"/>
              <a:t>m</a:t>
            </a:r>
            <a:r>
              <a:rPr lang="en-US" sz="1300" spc="125"/>
              <a:t>a</a:t>
            </a:r>
            <a:r>
              <a:rPr lang="en-US" sz="1300" spc="-145"/>
              <a:t>ll  </a:t>
            </a:r>
            <a:r>
              <a:rPr lang="en-US" sz="1300" spc="-100"/>
              <a:t>spikes, </a:t>
            </a:r>
            <a:r>
              <a:rPr lang="en-US" sz="1300" spc="-125"/>
              <a:t>this</a:t>
            </a:r>
            <a:r>
              <a:rPr lang="en-US" sz="1300" spc="-120"/>
              <a:t> </a:t>
            </a:r>
            <a:r>
              <a:rPr lang="en-US" sz="1300" spc="100"/>
              <a:t>can </a:t>
            </a:r>
            <a:r>
              <a:rPr lang="en-US" sz="1300" spc="-35"/>
              <a:t>also </a:t>
            </a:r>
            <a:r>
              <a:rPr lang="en-US" sz="1300" spc="95"/>
              <a:t>be </a:t>
            </a:r>
            <a:r>
              <a:rPr lang="en-US" sz="1300" spc="-5"/>
              <a:t>explained </a:t>
            </a:r>
            <a:r>
              <a:rPr lang="en-US" sz="1300"/>
              <a:t> </a:t>
            </a:r>
            <a:r>
              <a:rPr lang="en-US" sz="1300" spc="5"/>
              <a:t>by</a:t>
            </a:r>
            <a:r>
              <a:rPr lang="en-US" sz="1300" spc="-135"/>
              <a:t> </a:t>
            </a:r>
            <a:r>
              <a:rPr lang="en-US" sz="1300" spc="-110"/>
              <a:t>t</a:t>
            </a:r>
            <a:r>
              <a:rPr lang="en-US" sz="1300" spc="25"/>
              <a:t>he</a:t>
            </a:r>
            <a:r>
              <a:rPr lang="en-US" sz="1300" spc="-120"/>
              <a:t> </a:t>
            </a:r>
            <a:r>
              <a:rPr lang="en-US" sz="1300" spc="-30"/>
              <a:t>mon</a:t>
            </a:r>
            <a:r>
              <a:rPr lang="en-US" sz="1300" spc="-35"/>
              <a:t>t</a:t>
            </a:r>
            <a:r>
              <a:rPr lang="en-US" sz="1300" spc="-114"/>
              <a:t>h</a:t>
            </a:r>
            <a:r>
              <a:rPr lang="en-US" sz="1300" spc="-30"/>
              <a:t>l</a:t>
            </a:r>
            <a:r>
              <a:rPr lang="en-US" sz="1300" spc="-95"/>
              <a:t>y</a:t>
            </a:r>
            <a:r>
              <a:rPr lang="en-US" sz="1300" spc="-145"/>
              <a:t> </a:t>
            </a:r>
            <a:r>
              <a:rPr lang="en-US" sz="1300" spc="-65"/>
              <a:t>rent</a:t>
            </a:r>
            <a:r>
              <a:rPr lang="en-US" sz="1300" spc="-140"/>
              <a:t> </a:t>
            </a:r>
            <a:r>
              <a:rPr lang="en-US" sz="1300" spc="-110"/>
              <a:t>t</a:t>
            </a:r>
            <a:r>
              <a:rPr lang="en-US" sz="1300" spc="-60"/>
              <a:t>ak</a:t>
            </a:r>
            <a:r>
              <a:rPr lang="en-US" sz="1300" spc="-20"/>
              <a:t>i</a:t>
            </a:r>
            <a:r>
              <a:rPr lang="en-US" sz="1300" spc="-35"/>
              <a:t>n</a:t>
            </a:r>
            <a:r>
              <a:rPr lang="en-US" sz="1300" spc="85"/>
              <a:t>g</a:t>
            </a:r>
            <a:r>
              <a:rPr lang="en-US" sz="1300" spc="-125"/>
              <a:t> </a:t>
            </a:r>
            <a:r>
              <a:rPr lang="en-US" sz="1300" spc="-110"/>
              <a:t>t</a:t>
            </a:r>
            <a:r>
              <a:rPr lang="en-US" sz="1300" spc="-15"/>
              <a:t>rend</a:t>
            </a:r>
            <a:r>
              <a:rPr lang="en-US" sz="1300" spc="-150"/>
              <a:t>.</a:t>
            </a:r>
            <a:endParaRPr lang="en-US" sz="1300"/>
          </a:p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300" spc="25"/>
              <a:t>Manhattan </a:t>
            </a:r>
            <a:r>
              <a:rPr lang="en-US" sz="1300" spc="50"/>
              <a:t>&amp; </a:t>
            </a:r>
            <a:r>
              <a:rPr lang="en-US" sz="1300"/>
              <a:t>Queens </a:t>
            </a:r>
            <a:r>
              <a:rPr lang="en-US" sz="1300" spc="30"/>
              <a:t>have </a:t>
            </a:r>
            <a:r>
              <a:rPr lang="en-US" sz="1300" spc="-45"/>
              <a:t>higher </a:t>
            </a:r>
            <a:r>
              <a:rPr lang="en-US" sz="1300" spc="-40"/>
              <a:t> </a:t>
            </a:r>
            <a:r>
              <a:rPr lang="en-US" sz="1300" spc="-25"/>
              <a:t>number</a:t>
            </a:r>
            <a:r>
              <a:rPr lang="en-US" sz="1300" spc="-20"/>
              <a:t> </a:t>
            </a:r>
            <a:r>
              <a:rPr lang="en-US" sz="1300" spc="10"/>
              <a:t>of</a:t>
            </a:r>
            <a:r>
              <a:rPr lang="en-US" sz="1300" spc="620"/>
              <a:t> </a:t>
            </a:r>
            <a:r>
              <a:rPr lang="en-US" sz="1300" spc="-140"/>
              <a:t>30</a:t>
            </a:r>
            <a:r>
              <a:rPr lang="en-US" sz="1300" spc="-135"/>
              <a:t> </a:t>
            </a:r>
            <a:r>
              <a:rPr lang="en-US" sz="1300" spc="45"/>
              <a:t>day</a:t>
            </a:r>
            <a:r>
              <a:rPr lang="en-US" sz="1300" spc="50"/>
              <a:t> </a:t>
            </a:r>
            <a:r>
              <a:rPr lang="en-US" sz="1300" spc="-30"/>
              <a:t>bookings </a:t>
            </a:r>
            <a:r>
              <a:rPr lang="en-US" sz="1300" spc="-25"/>
              <a:t> </a:t>
            </a:r>
            <a:r>
              <a:rPr lang="en-US" sz="1300" spc="60"/>
              <a:t>compared</a:t>
            </a:r>
            <a:r>
              <a:rPr lang="en-US" sz="1300" spc="-135"/>
              <a:t> </a:t>
            </a:r>
            <a:r>
              <a:rPr lang="en-US" sz="1300" spc="-20"/>
              <a:t>t</a:t>
            </a:r>
            <a:r>
              <a:rPr lang="en-US" sz="1300" spc="-10"/>
              <a:t>o</a:t>
            </a:r>
            <a:r>
              <a:rPr lang="en-US" sz="1300" spc="-130"/>
              <a:t> </a:t>
            </a:r>
            <a:r>
              <a:rPr lang="en-US" sz="1300" spc="-15"/>
              <a:t>the</a:t>
            </a:r>
            <a:r>
              <a:rPr lang="en-US" sz="1300" spc="-135"/>
              <a:t> </a:t>
            </a:r>
            <a:r>
              <a:rPr lang="en-US" sz="1300" spc="-10"/>
              <a:t>o</a:t>
            </a:r>
            <a:r>
              <a:rPr lang="en-US" sz="1300" spc="-20"/>
              <a:t>t</a:t>
            </a:r>
            <a:r>
              <a:rPr lang="en-US" sz="1300" spc="-100"/>
              <a:t>her</a:t>
            </a:r>
            <a:r>
              <a:rPr lang="en-US" sz="1300" spc="-90"/>
              <a:t>s</a:t>
            </a:r>
            <a:r>
              <a:rPr lang="en-US" sz="1300" spc="-150"/>
              <a:t>.</a:t>
            </a:r>
            <a:r>
              <a:rPr lang="en-US" sz="1300" spc="-135"/>
              <a:t> </a:t>
            </a:r>
            <a:r>
              <a:rPr lang="en-US" sz="1300" spc="-320"/>
              <a:t>T</a:t>
            </a:r>
            <a:r>
              <a:rPr lang="en-US" sz="1300" spc="25"/>
              <a:t>he</a:t>
            </a:r>
            <a:r>
              <a:rPr lang="en-US" sz="1300" spc="-130"/>
              <a:t> </a:t>
            </a:r>
            <a:r>
              <a:rPr lang="en-US" sz="1300" spc="-25"/>
              <a:t>reas</a:t>
            </a:r>
            <a:r>
              <a:rPr lang="en-US" sz="1300" spc="-45"/>
              <a:t>o</a:t>
            </a:r>
            <a:r>
              <a:rPr lang="en-US" sz="1300" spc="-30"/>
              <a:t>n  </a:t>
            </a:r>
            <a:r>
              <a:rPr lang="en-US" sz="1300" spc="45"/>
              <a:t>could</a:t>
            </a:r>
            <a:r>
              <a:rPr lang="en-US" sz="1300" spc="50"/>
              <a:t> </a:t>
            </a:r>
            <a:r>
              <a:rPr lang="en-US" sz="1300" spc="95"/>
              <a:t>be</a:t>
            </a:r>
            <a:r>
              <a:rPr lang="en-US" sz="1300" spc="100"/>
              <a:t> </a:t>
            </a:r>
            <a:r>
              <a:rPr lang="en-US" sz="1300" spc="-50"/>
              <a:t>either</a:t>
            </a:r>
            <a:r>
              <a:rPr lang="en-US" sz="1300" spc="-45"/>
              <a:t> </a:t>
            </a:r>
            <a:r>
              <a:rPr lang="en-US" sz="1300" spc="-120"/>
              <a:t>tourists</a:t>
            </a:r>
            <a:r>
              <a:rPr lang="en-US" sz="1300" spc="-114"/>
              <a:t> </a:t>
            </a:r>
            <a:r>
              <a:rPr lang="en-US" sz="1300"/>
              <a:t>booking </a:t>
            </a:r>
            <a:r>
              <a:rPr lang="en-US" sz="1300" spc="-585"/>
              <a:t> </a:t>
            </a:r>
            <a:r>
              <a:rPr lang="en-US" sz="1300" spc="-5"/>
              <a:t>long </a:t>
            </a:r>
            <a:r>
              <a:rPr lang="en-US" sz="1300" spc="-110"/>
              <a:t>stays </a:t>
            </a:r>
            <a:r>
              <a:rPr lang="en-US" sz="1300" spc="-65"/>
              <a:t>or </a:t>
            </a:r>
            <a:r>
              <a:rPr lang="en-US" sz="1300" spc="-50"/>
              <a:t>mid-level </a:t>
            </a:r>
            <a:r>
              <a:rPr lang="en-US" sz="1300" spc="-10"/>
              <a:t>employees </a:t>
            </a:r>
            <a:r>
              <a:rPr lang="en-US" sz="1300" spc="-5"/>
              <a:t> </a:t>
            </a:r>
            <a:r>
              <a:rPr lang="en-US" sz="1300" spc="20"/>
              <a:t>who </a:t>
            </a:r>
            <a:r>
              <a:rPr lang="en-US" sz="1300" spc="30"/>
              <a:t>opt </a:t>
            </a:r>
            <a:r>
              <a:rPr lang="en-US" sz="1300" spc="-65"/>
              <a:t>for </a:t>
            </a:r>
            <a:r>
              <a:rPr lang="en-US" sz="1300" spc="40"/>
              <a:t>budget </a:t>
            </a:r>
            <a:r>
              <a:rPr lang="en-US" sz="1300" spc="-30"/>
              <a:t>bookings </a:t>
            </a:r>
            <a:r>
              <a:rPr lang="en-US" sz="1300" spc="45"/>
              <a:t>due </a:t>
            </a:r>
            <a:r>
              <a:rPr lang="en-US" sz="1300" spc="50"/>
              <a:t> company</a:t>
            </a:r>
            <a:r>
              <a:rPr lang="en-US" sz="1300" spc="-135"/>
              <a:t> </a:t>
            </a:r>
            <a:r>
              <a:rPr lang="en-US" sz="1300" spc="-150"/>
              <a:t>visits</a:t>
            </a:r>
            <a:endParaRPr lang="en-US" sz="13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554990" marR="5080" indent="-542925">
              <a:lnSpc>
                <a:spcPct val="90000"/>
              </a:lnSpc>
            </a:pPr>
            <a:r>
              <a:rPr lang="en-US" sz="2800" b="0" i="0" kern="1200" spc="-25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Neighbourhood</a:t>
            </a:r>
            <a:r>
              <a:rPr lang="en-US" sz="2800" b="0" i="0" kern="1200" spc="-9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0" i="0" kern="1200" spc="-12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vs </a:t>
            </a:r>
            <a:r>
              <a:rPr lang="en-US" sz="2800" b="0" i="0" kern="1200" spc="-69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0" i="0" kern="1200" spc="-5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Availability</a:t>
            </a:r>
            <a:endParaRPr lang="en-US" sz="28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4607" y="1487572"/>
            <a:ext cx="6391533" cy="3882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40">
                <a:solidFill>
                  <a:srgbClr val="FFFFFF"/>
                </a:solidFill>
              </a:rPr>
              <a:t>Availability</a:t>
            </a:r>
            <a:r>
              <a:rPr lang="en-US" sz="1700" spc="-35">
                <a:solidFill>
                  <a:srgbClr val="FFFFFF"/>
                </a:solidFill>
              </a:rPr>
              <a:t> </a:t>
            </a:r>
            <a:r>
              <a:rPr lang="en-US" sz="1700" spc="5">
                <a:solidFill>
                  <a:srgbClr val="FFFFFF"/>
                </a:solidFill>
              </a:rPr>
              <a:t>of</a:t>
            </a:r>
            <a:r>
              <a:rPr lang="en-US" sz="1700" spc="10">
                <a:solidFill>
                  <a:srgbClr val="FFFFFF"/>
                </a:solidFill>
              </a:rPr>
              <a:t> </a:t>
            </a:r>
            <a:r>
              <a:rPr lang="en-US" sz="1700" spc="-20">
                <a:solidFill>
                  <a:srgbClr val="FFFFFF"/>
                </a:solidFill>
              </a:rPr>
              <a:t>Bedford</a:t>
            </a:r>
            <a:r>
              <a:rPr lang="en-US" sz="1700" spc="-15">
                <a:solidFill>
                  <a:srgbClr val="FFFFFF"/>
                </a:solidFill>
              </a:rPr>
              <a:t> </a:t>
            </a:r>
            <a:r>
              <a:rPr lang="en-US" sz="1700" spc="-170">
                <a:solidFill>
                  <a:srgbClr val="FFFFFF"/>
                </a:solidFill>
              </a:rPr>
              <a:t>is </a:t>
            </a:r>
            <a:r>
              <a:rPr lang="en-US" sz="1700" spc="-165">
                <a:solidFill>
                  <a:srgbClr val="FFFFFF"/>
                </a:solidFill>
              </a:rPr>
              <a:t> </a:t>
            </a:r>
            <a:r>
              <a:rPr lang="en-US" sz="1700" spc="-55">
                <a:solidFill>
                  <a:srgbClr val="FFFFFF"/>
                </a:solidFill>
              </a:rPr>
              <a:t>highest </a:t>
            </a:r>
            <a:r>
              <a:rPr lang="en-US" sz="1700" spc="70">
                <a:solidFill>
                  <a:srgbClr val="FFFFFF"/>
                </a:solidFill>
              </a:rPr>
              <a:t>and </a:t>
            </a:r>
            <a:r>
              <a:rPr lang="en-US" sz="1700" spc="-160">
                <a:solidFill>
                  <a:srgbClr val="FFFFFF"/>
                </a:solidFill>
              </a:rPr>
              <a:t>its </a:t>
            </a:r>
            <a:r>
              <a:rPr lang="en-US" sz="1700" spc="15">
                <a:solidFill>
                  <a:srgbClr val="FFFFFF"/>
                </a:solidFill>
              </a:rPr>
              <a:t>price </a:t>
            </a:r>
            <a:r>
              <a:rPr lang="en-US" sz="1700" spc="-180">
                <a:solidFill>
                  <a:srgbClr val="FFFFFF"/>
                </a:solidFill>
              </a:rPr>
              <a:t>is </a:t>
            </a:r>
            <a:r>
              <a:rPr lang="en-US" sz="1700" spc="20">
                <a:solidFill>
                  <a:srgbClr val="FFFFFF"/>
                </a:solidFill>
              </a:rPr>
              <a:t>on </a:t>
            </a:r>
            <a:r>
              <a:rPr lang="en-US" sz="1700" spc="-15">
                <a:solidFill>
                  <a:srgbClr val="FFFFFF"/>
                </a:solidFill>
              </a:rPr>
              <a:t>the </a:t>
            </a:r>
            <a:r>
              <a:rPr lang="en-US" sz="1700" spc="-10">
                <a:solidFill>
                  <a:srgbClr val="FFFFFF"/>
                </a:solidFill>
              </a:rPr>
              <a:t> </a:t>
            </a:r>
            <a:r>
              <a:rPr lang="en-US" sz="1700" spc="-125">
                <a:solidFill>
                  <a:srgbClr val="FFFFFF"/>
                </a:solidFill>
              </a:rPr>
              <a:t>l</a:t>
            </a:r>
            <a:r>
              <a:rPr lang="en-US" sz="1700" spc="90">
                <a:solidFill>
                  <a:srgbClr val="FFFFFF"/>
                </a:solidFill>
              </a:rPr>
              <a:t>o</a:t>
            </a:r>
            <a:r>
              <a:rPr lang="en-US" sz="1700">
                <a:solidFill>
                  <a:srgbClr val="FFFFFF"/>
                </a:solidFill>
              </a:rPr>
              <a:t>w</a:t>
            </a:r>
            <a:r>
              <a:rPr lang="en-US" sz="1700" spc="85">
                <a:solidFill>
                  <a:srgbClr val="FFFFFF"/>
                </a:solidFill>
              </a:rPr>
              <a:t>e</a:t>
            </a:r>
            <a:r>
              <a:rPr lang="en-US" sz="1700" spc="-229">
                <a:solidFill>
                  <a:srgbClr val="FFFFFF"/>
                </a:solidFill>
              </a:rPr>
              <a:t>r</a:t>
            </a:r>
            <a:r>
              <a:rPr lang="en-US" sz="1700" spc="-20">
                <a:solidFill>
                  <a:srgbClr val="FFFFFF"/>
                </a:solidFill>
              </a:rPr>
              <a:t> </a:t>
            </a:r>
            <a:r>
              <a:rPr lang="en-US" sz="1700" spc="-250">
                <a:solidFill>
                  <a:srgbClr val="FFFFFF"/>
                </a:solidFill>
              </a:rPr>
              <a:t>s</a:t>
            </a:r>
            <a:r>
              <a:rPr lang="en-US" sz="1700" spc="-114">
                <a:solidFill>
                  <a:srgbClr val="FFFFFF"/>
                </a:solidFill>
              </a:rPr>
              <a:t>i</a:t>
            </a:r>
            <a:r>
              <a:rPr lang="en-US" sz="1700" spc="100">
                <a:solidFill>
                  <a:srgbClr val="FFFFFF"/>
                </a:solidFill>
              </a:rPr>
              <a:t>d</a:t>
            </a:r>
            <a:r>
              <a:rPr lang="en-US" sz="1700" spc="110">
                <a:solidFill>
                  <a:srgbClr val="FFFFFF"/>
                </a:solidFill>
              </a:rPr>
              <a:t>e</a:t>
            </a:r>
            <a:r>
              <a:rPr lang="en-US" sz="1700" spc="-160">
                <a:solidFill>
                  <a:srgbClr val="FFFFFF"/>
                </a:solidFill>
              </a:rPr>
              <a:t>.</a:t>
            </a:r>
            <a:r>
              <a:rPr lang="en-US" sz="1700" spc="-40">
                <a:solidFill>
                  <a:srgbClr val="FFFFFF"/>
                </a:solidFill>
              </a:rPr>
              <a:t> </a:t>
            </a:r>
            <a:r>
              <a:rPr lang="en-US" sz="1700" spc="-210">
                <a:solidFill>
                  <a:srgbClr val="FFFFFF"/>
                </a:solidFill>
              </a:rPr>
              <a:t>I</a:t>
            </a:r>
            <a:r>
              <a:rPr lang="en-US" sz="1700" spc="-220">
                <a:solidFill>
                  <a:srgbClr val="FFFFFF"/>
                </a:solidFill>
              </a:rPr>
              <a:t>t</a:t>
            </a:r>
            <a:r>
              <a:rPr lang="en-US" sz="1700" spc="-35">
                <a:solidFill>
                  <a:srgbClr val="FFFFFF"/>
                </a:solidFill>
              </a:rPr>
              <a:t> </a:t>
            </a:r>
            <a:r>
              <a:rPr lang="en-US" sz="1700" spc="-120">
                <a:solidFill>
                  <a:srgbClr val="FFFFFF"/>
                </a:solidFill>
              </a:rPr>
              <a:t>i</a:t>
            </a:r>
            <a:r>
              <a:rPr lang="en-US" sz="1700" spc="-245">
                <a:solidFill>
                  <a:srgbClr val="FFFFFF"/>
                </a:solidFill>
              </a:rPr>
              <a:t>s</a:t>
            </a:r>
            <a:r>
              <a:rPr lang="en-US" sz="1700" spc="-25">
                <a:solidFill>
                  <a:srgbClr val="FFFFFF"/>
                </a:solidFill>
              </a:rPr>
              <a:t> </a:t>
            </a:r>
            <a:r>
              <a:rPr lang="en-US" sz="1700" spc="145">
                <a:solidFill>
                  <a:srgbClr val="FFFFFF"/>
                </a:solidFill>
              </a:rPr>
              <a:t>a</a:t>
            </a:r>
            <a:r>
              <a:rPr lang="en-US" sz="1700" spc="-25">
                <a:solidFill>
                  <a:srgbClr val="FFFFFF"/>
                </a:solidFill>
              </a:rPr>
              <a:t> </a:t>
            </a:r>
            <a:r>
              <a:rPr lang="en-US" sz="1700" spc="85">
                <a:solidFill>
                  <a:srgbClr val="FFFFFF"/>
                </a:solidFill>
              </a:rPr>
              <a:t>go</a:t>
            </a:r>
            <a:r>
              <a:rPr lang="en-US" sz="1700" spc="75">
                <a:solidFill>
                  <a:srgbClr val="FFFFFF"/>
                </a:solidFill>
              </a:rPr>
              <a:t>o</a:t>
            </a:r>
            <a:r>
              <a:rPr lang="en-US" sz="1700" spc="110">
                <a:solidFill>
                  <a:srgbClr val="FFFFFF"/>
                </a:solidFill>
              </a:rPr>
              <a:t>d</a:t>
            </a:r>
            <a:r>
              <a:rPr lang="en-US" sz="1700" spc="-20">
                <a:solidFill>
                  <a:srgbClr val="FFFFFF"/>
                </a:solidFill>
              </a:rPr>
              <a:t> </a:t>
            </a:r>
            <a:r>
              <a:rPr lang="en-US" sz="1700" spc="80">
                <a:solidFill>
                  <a:srgbClr val="FFFFFF"/>
                </a:solidFill>
              </a:rPr>
              <a:t>c</a:t>
            </a:r>
            <a:r>
              <a:rPr lang="en-US" sz="1700" spc="90">
                <a:solidFill>
                  <a:srgbClr val="FFFFFF"/>
                </a:solidFill>
              </a:rPr>
              <a:t>ho</a:t>
            </a:r>
            <a:r>
              <a:rPr lang="en-US" sz="1700" spc="-125">
                <a:solidFill>
                  <a:srgbClr val="FFFFFF"/>
                </a:solidFill>
              </a:rPr>
              <a:t>i</a:t>
            </a:r>
            <a:r>
              <a:rPr lang="en-US" sz="1700" spc="130">
                <a:solidFill>
                  <a:srgbClr val="FFFFFF"/>
                </a:solidFill>
              </a:rPr>
              <a:t>ce  </a:t>
            </a:r>
            <a:r>
              <a:rPr lang="en-US" sz="1700" spc="-70">
                <a:solidFill>
                  <a:srgbClr val="FFFFFF"/>
                </a:solidFill>
              </a:rPr>
              <a:t>for</a:t>
            </a:r>
            <a:r>
              <a:rPr lang="en-US" sz="1700" spc="-150">
                <a:solidFill>
                  <a:srgbClr val="FFFFFF"/>
                </a:solidFill>
              </a:rPr>
              <a:t> </a:t>
            </a:r>
            <a:r>
              <a:rPr lang="en-US" sz="1700" spc="-20">
                <a:solidFill>
                  <a:srgbClr val="FFFFFF"/>
                </a:solidFill>
              </a:rPr>
              <a:t>cu</a:t>
            </a:r>
            <a:r>
              <a:rPr lang="en-US" sz="1700" spc="-30">
                <a:solidFill>
                  <a:srgbClr val="FFFFFF"/>
                </a:solidFill>
              </a:rPr>
              <a:t>s</a:t>
            </a:r>
            <a:r>
              <a:rPr lang="en-US" sz="1700" spc="-114">
                <a:solidFill>
                  <a:srgbClr val="FFFFFF"/>
                </a:solidFill>
              </a:rPr>
              <a:t>t</a:t>
            </a:r>
            <a:r>
              <a:rPr lang="en-US" sz="1700" spc="40">
                <a:solidFill>
                  <a:srgbClr val="FFFFFF"/>
                </a:solidFill>
              </a:rPr>
              <a:t>om</a:t>
            </a:r>
            <a:r>
              <a:rPr lang="en-US" sz="1700" spc="25">
                <a:solidFill>
                  <a:srgbClr val="FFFFFF"/>
                </a:solidFill>
              </a:rPr>
              <a:t>e</a:t>
            </a:r>
            <a:r>
              <a:rPr lang="en-US" sz="1700" spc="-210">
                <a:solidFill>
                  <a:srgbClr val="FFFFFF"/>
                </a:solidFill>
              </a:rPr>
              <a:t>r</a:t>
            </a:r>
            <a:r>
              <a:rPr lang="en-US" sz="1700" spc="-265">
                <a:solidFill>
                  <a:srgbClr val="FFFFFF"/>
                </a:solidFill>
              </a:rPr>
              <a:t>s</a:t>
            </a:r>
            <a:r>
              <a:rPr lang="en-US" sz="1700" spc="-160">
                <a:solidFill>
                  <a:srgbClr val="FFFFFF"/>
                </a:solidFill>
              </a:rPr>
              <a:t>.</a:t>
            </a:r>
            <a:endParaRPr lang="en-US" sz="1700">
              <a:solidFill>
                <a:srgbClr val="FFFFFF"/>
              </a:solidFill>
            </a:endParaRPr>
          </a:p>
          <a:p>
            <a:pPr marL="299085" marR="1079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45">
                <a:solidFill>
                  <a:srgbClr val="FFFFFF"/>
                </a:solidFill>
              </a:rPr>
              <a:t>After </a:t>
            </a:r>
            <a:r>
              <a:rPr lang="en-US" sz="1700" spc="-35">
                <a:solidFill>
                  <a:srgbClr val="FFFFFF"/>
                </a:solidFill>
              </a:rPr>
              <a:t>Bedford, </a:t>
            </a:r>
            <a:r>
              <a:rPr lang="en-US" sz="1700" spc="-55">
                <a:solidFill>
                  <a:srgbClr val="FFFFFF"/>
                </a:solidFill>
              </a:rPr>
              <a:t>Harlem </a:t>
            </a:r>
            <a:r>
              <a:rPr lang="en-US" sz="1700" spc="-60">
                <a:solidFill>
                  <a:srgbClr val="FFFFFF"/>
                </a:solidFill>
              </a:rPr>
              <a:t>follows </a:t>
            </a:r>
            <a:r>
              <a:rPr lang="en-US" sz="1700" spc="-55">
                <a:solidFill>
                  <a:srgbClr val="FFFFFF"/>
                </a:solidFill>
              </a:rPr>
              <a:t> </a:t>
            </a:r>
            <a:r>
              <a:rPr lang="en-US" sz="1700" spc="-25">
                <a:solidFill>
                  <a:srgbClr val="FFFFFF"/>
                </a:solidFill>
              </a:rPr>
              <a:t>the</a:t>
            </a:r>
            <a:r>
              <a:rPr lang="en-US" sz="1700" spc="-120">
                <a:solidFill>
                  <a:srgbClr val="FFFFFF"/>
                </a:solidFill>
              </a:rPr>
              <a:t> </a:t>
            </a:r>
            <a:r>
              <a:rPr lang="en-US" sz="1700" spc="-20">
                <a:solidFill>
                  <a:srgbClr val="FFFFFF"/>
                </a:solidFill>
              </a:rPr>
              <a:t>same</a:t>
            </a:r>
            <a:r>
              <a:rPr lang="en-US" sz="1700" spc="-125">
                <a:solidFill>
                  <a:srgbClr val="FFFFFF"/>
                </a:solidFill>
              </a:rPr>
              <a:t> </a:t>
            </a:r>
            <a:r>
              <a:rPr lang="en-US" sz="1700" spc="-60">
                <a:solidFill>
                  <a:srgbClr val="FFFFFF"/>
                </a:solidFill>
              </a:rPr>
              <a:t>trend.</a:t>
            </a:r>
            <a:endParaRPr lang="en-US" sz="1700">
              <a:solidFill>
                <a:srgbClr val="FFFFFF"/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>
                <a:solidFill>
                  <a:srgbClr val="FFFFFF"/>
                </a:solidFill>
              </a:rPr>
              <a:t>Chelsea’s</a:t>
            </a:r>
            <a:r>
              <a:rPr lang="en-US" sz="1700" spc="310">
                <a:solidFill>
                  <a:srgbClr val="FFFFFF"/>
                </a:solidFill>
              </a:rPr>
              <a:t> </a:t>
            </a:r>
            <a:r>
              <a:rPr lang="en-US" sz="1700" spc="-35">
                <a:solidFill>
                  <a:srgbClr val="FFFFFF"/>
                </a:solidFill>
              </a:rPr>
              <a:t>availability</a:t>
            </a:r>
            <a:r>
              <a:rPr lang="en-US" sz="1700" spc="305">
                <a:solidFill>
                  <a:srgbClr val="FFFFFF"/>
                </a:solidFill>
              </a:rPr>
              <a:t> </a:t>
            </a:r>
            <a:r>
              <a:rPr lang="en-US" sz="1700" spc="-5">
                <a:solidFill>
                  <a:srgbClr val="FFFFFF"/>
                </a:solidFill>
              </a:rPr>
              <a:t>low</a:t>
            </a:r>
            <a:r>
              <a:rPr lang="en-US" sz="1700" spc="280">
                <a:solidFill>
                  <a:srgbClr val="FFFFFF"/>
                </a:solidFill>
              </a:rPr>
              <a:t> </a:t>
            </a:r>
            <a:r>
              <a:rPr lang="en-US" sz="1700" spc="-20">
                <a:solidFill>
                  <a:srgbClr val="FFFFFF"/>
                </a:solidFill>
              </a:rPr>
              <a:t>but</a:t>
            </a:r>
            <a:endParaRPr lang="en-US" sz="1700">
              <a:solidFill>
                <a:srgbClr val="FFFFFF"/>
              </a:solidFill>
            </a:endParaRPr>
          </a:p>
          <a:p>
            <a:pPr marL="29908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spc="-80">
                <a:solidFill>
                  <a:srgbClr val="FFFFFF"/>
                </a:solidFill>
              </a:rPr>
              <a:t>i</a:t>
            </a:r>
            <a:r>
              <a:rPr lang="en-US" sz="1700" spc="-140">
                <a:solidFill>
                  <a:srgbClr val="FFFFFF"/>
                </a:solidFill>
              </a:rPr>
              <a:t>t</a:t>
            </a:r>
            <a:r>
              <a:rPr lang="en-US" sz="1700" spc="-155">
                <a:solidFill>
                  <a:srgbClr val="FFFFFF"/>
                </a:solidFill>
              </a:rPr>
              <a:t> </a:t>
            </a:r>
            <a:r>
              <a:rPr lang="en-US" sz="1700" spc="-110">
                <a:solidFill>
                  <a:srgbClr val="FFFFFF"/>
                </a:solidFill>
              </a:rPr>
              <a:t>i</a:t>
            </a:r>
            <a:r>
              <a:rPr lang="en-US" sz="1700" spc="-245">
                <a:solidFill>
                  <a:srgbClr val="FFFFFF"/>
                </a:solidFill>
              </a:rPr>
              <a:t>s</a:t>
            </a:r>
            <a:r>
              <a:rPr lang="en-US" sz="1700" spc="-160">
                <a:solidFill>
                  <a:srgbClr val="FFFFFF"/>
                </a:solidFill>
              </a:rPr>
              <a:t> </a:t>
            </a:r>
            <a:r>
              <a:rPr lang="en-US" sz="1700" spc="25">
                <a:solidFill>
                  <a:srgbClr val="FFFFFF"/>
                </a:solidFill>
              </a:rPr>
              <a:t>co</a:t>
            </a:r>
            <a:r>
              <a:rPr lang="en-US" sz="1700" spc="10">
                <a:solidFill>
                  <a:srgbClr val="FFFFFF"/>
                </a:solidFill>
              </a:rPr>
              <a:t>s</a:t>
            </a:r>
            <a:r>
              <a:rPr lang="en-US" sz="1700" spc="-114">
                <a:solidFill>
                  <a:srgbClr val="FFFFFF"/>
                </a:solidFill>
              </a:rPr>
              <a:t>t</a:t>
            </a:r>
            <a:r>
              <a:rPr lang="en-US" sz="1700" spc="-125">
                <a:solidFill>
                  <a:srgbClr val="FFFFFF"/>
                </a:solidFill>
              </a:rPr>
              <a:t>l</a:t>
            </a:r>
            <a:r>
              <a:rPr lang="en-US" sz="1700" spc="-110">
                <a:solidFill>
                  <a:srgbClr val="FFFFFF"/>
                </a:solidFill>
              </a:rPr>
              <a:t>y</a:t>
            </a:r>
            <a:r>
              <a:rPr lang="en-US" sz="1700" spc="-160">
                <a:solidFill>
                  <a:srgbClr val="FFFFFF"/>
                </a:solidFill>
              </a:rPr>
              <a:t>.</a:t>
            </a:r>
            <a:endParaRPr lang="en-US" sz="1700">
              <a:solidFill>
                <a:srgbClr val="FFFFFF"/>
              </a:solidFill>
            </a:endParaRPr>
          </a:p>
          <a:p>
            <a:pPr marL="299085" marR="889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50">
                <a:solidFill>
                  <a:srgbClr val="FFFFFF"/>
                </a:solidFill>
              </a:rPr>
              <a:t>On </a:t>
            </a:r>
            <a:r>
              <a:rPr lang="en-US" sz="1700" spc="-15">
                <a:solidFill>
                  <a:srgbClr val="FFFFFF"/>
                </a:solidFill>
              </a:rPr>
              <a:t>the </a:t>
            </a:r>
            <a:r>
              <a:rPr lang="en-US" sz="1700" spc="-40">
                <a:solidFill>
                  <a:srgbClr val="FFFFFF"/>
                </a:solidFill>
              </a:rPr>
              <a:t>other </a:t>
            </a:r>
            <a:r>
              <a:rPr lang="en-US" sz="1700">
                <a:solidFill>
                  <a:srgbClr val="FFFFFF"/>
                </a:solidFill>
              </a:rPr>
              <a:t>hand, </a:t>
            </a:r>
            <a:r>
              <a:rPr lang="en-US" sz="1700" spc="-70">
                <a:solidFill>
                  <a:srgbClr val="FFFFFF"/>
                </a:solidFill>
              </a:rPr>
              <a:t>William’s </a:t>
            </a:r>
            <a:r>
              <a:rPr lang="en-US" sz="1700" spc="-65">
                <a:solidFill>
                  <a:srgbClr val="FFFFFF"/>
                </a:solidFill>
              </a:rPr>
              <a:t> </a:t>
            </a:r>
            <a:r>
              <a:rPr lang="en-US" sz="1700" spc="-80">
                <a:solidFill>
                  <a:srgbClr val="FFFFFF"/>
                </a:solidFill>
              </a:rPr>
              <a:t>p</a:t>
            </a:r>
            <a:r>
              <a:rPr lang="en-US" sz="1700" spc="-70">
                <a:solidFill>
                  <a:srgbClr val="FFFFFF"/>
                </a:solidFill>
              </a:rPr>
              <a:t>r</a:t>
            </a:r>
            <a:r>
              <a:rPr lang="en-US" sz="1700" spc="-114">
                <a:solidFill>
                  <a:srgbClr val="FFFFFF"/>
                </a:solidFill>
              </a:rPr>
              <a:t>i</a:t>
            </a:r>
            <a:r>
              <a:rPr lang="en-US" sz="1700" spc="160">
                <a:solidFill>
                  <a:srgbClr val="FFFFFF"/>
                </a:solidFill>
              </a:rPr>
              <a:t>ce</a:t>
            </a:r>
            <a:r>
              <a:rPr lang="en-US" sz="1700">
                <a:solidFill>
                  <a:srgbClr val="FFFFFF"/>
                </a:solidFill>
              </a:rPr>
              <a:t> </a:t>
            </a:r>
            <a:r>
              <a:rPr lang="en-US" sz="1700" spc="-110">
                <a:solidFill>
                  <a:srgbClr val="FFFFFF"/>
                </a:solidFill>
              </a:rPr>
              <a:t>i</a:t>
            </a:r>
            <a:r>
              <a:rPr lang="en-US" sz="1700" spc="-245">
                <a:solidFill>
                  <a:srgbClr val="FFFFFF"/>
                </a:solidFill>
              </a:rPr>
              <a:t>s</a:t>
            </a:r>
            <a:r>
              <a:rPr lang="en-US" sz="1700">
                <a:solidFill>
                  <a:srgbClr val="FFFFFF"/>
                </a:solidFill>
              </a:rPr>
              <a:t> </a:t>
            </a:r>
            <a:r>
              <a:rPr lang="en-US" sz="1700" spc="-65">
                <a:solidFill>
                  <a:srgbClr val="FFFFFF"/>
                </a:solidFill>
              </a:rPr>
              <a:t>h</a:t>
            </a:r>
            <a:r>
              <a:rPr lang="en-US" sz="1700" spc="-114">
                <a:solidFill>
                  <a:srgbClr val="FFFFFF"/>
                </a:solidFill>
              </a:rPr>
              <a:t>i</a:t>
            </a:r>
            <a:r>
              <a:rPr lang="en-US" sz="1700" spc="20">
                <a:solidFill>
                  <a:srgbClr val="FFFFFF"/>
                </a:solidFill>
              </a:rPr>
              <a:t>gh</a:t>
            </a:r>
            <a:r>
              <a:rPr lang="en-US" sz="1700" spc="10">
                <a:solidFill>
                  <a:srgbClr val="FFFFFF"/>
                </a:solidFill>
              </a:rPr>
              <a:t> </a:t>
            </a:r>
            <a:r>
              <a:rPr lang="en-US" sz="1700" spc="60">
                <a:solidFill>
                  <a:srgbClr val="FFFFFF"/>
                </a:solidFill>
              </a:rPr>
              <a:t>an</a:t>
            </a:r>
            <a:r>
              <a:rPr lang="en-US" sz="1700" spc="70">
                <a:solidFill>
                  <a:srgbClr val="FFFFFF"/>
                </a:solidFill>
              </a:rPr>
              <a:t>d</a:t>
            </a:r>
            <a:r>
              <a:rPr lang="en-US" sz="1700" spc="20">
                <a:solidFill>
                  <a:srgbClr val="FFFFFF"/>
                </a:solidFill>
              </a:rPr>
              <a:t> </a:t>
            </a:r>
            <a:r>
              <a:rPr lang="en-US" sz="1700" spc="-60">
                <a:solidFill>
                  <a:srgbClr val="FFFFFF"/>
                </a:solidFill>
              </a:rPr>
              <a:t>ha</a:t>
            </a:r>
            <a:r>
              <a:rPr lang="en-US" sz="1700" spc="-40">
                <a:solidFill>
                  <a:srgbClr val="FFFFFF"/>
                </a:solidFill>
              </a:rPr>
              <a:t>s</a:t>
            </a:r>
            <a:r>
              <a:rPr lang="en-US" sz="1700" spc="10">
                <a:solidFill>
                  <a:srgbClr val="FFFFFF"/>
                </a:solidFill>
              </a:rPr>
              <a:t> </a:t>
            </a:r>
            <a:r>
              <a:rPr lang="en-US" sz="1700" spc="135">
                <a:solidFill>
                  <a:srgbClr val="FFFFFF"/>
                </a:solidFill>
              </a:rPr>
              <a:t>a</a:t>
            </a:r>
            <a:r>
              <a:rPr lang="en-US" sz="1700" spc="-50">
                <a:solidFill>
                  <a:srgbClr val="FFFFFF"/>
                </a:solidFill>
              </a:rPr>
              <a:t>v</a:t>
            </a:r>
            <a:r>
              <a:rPr lang="en-US" sz="1700" spc="85">
                <a:solidFill>
                  <a:srgbClr val="FFFFFF"/>
                </a:solidFill>
              </a:rPr>
              <a:t>e</a:t>
            </a:r>
            <a:r>
              <a:rPr lang="en-US" sz="1700" spc="-35">
                <a:solidFill>
                  <a:srgbClr val="FFFFFF"/>
                </a:solidFill>
              </a:rPr>
              <a:t>r</a:t>
            </a:r>
            <a:r>
              <a:rPr lang="en-US" sz="1700" spc="-60">
                <a:solidFill>
                  <a:srgbClr val="FFFFFF"/>
                </a:solidFill>
              </a:rPr>
              <a:t>a</a:t>
            </a:r>
            <a:r>
              <a:rPr lang="en-US" sz="1700" spc="70">
                <a:solidFill>
                  <a:srgbClr val="FFFFFF"/>
                </a:solidFill>
              </a:rPr>
              <a:t>ge  </a:t>
            </a:r>
            <a:r>
              <a:rPr lang="en-US" sz="1700" spc="-45">
                <a:solidFill>
                  <a:srgbClr val="FFFFFF"/>
                </a:solidFill>
              </a:rPr>
              <a:t>availability.</a:t>
            </a:r>
            <a:endParaRPr lang="en-US" sz="170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1039494" marR="5080" indent="-1027430">
              <a:lnSpc>
                <a:spcPct val="90000"/>
              </a:lnSpc>
            </a:pPr>
            <a:r>
              <a:rPr lang="en-US" sz="2000" spc="-60">
                <a:solidFill>
                  <a:schemeClr val="tx1"/>
                </a:solidFill>
              </a:rPr>
              <a:t>Price </a:t>
            </a:r>
            <a:r>
              <a:rPr lang="en-US" sz="2000" spc="-10">
                <a:solidFill>
                  <a:schemeClr val="tx1"/>
                </a:solidFill>
              </a:rPr>
              <a:t>range </a:t>
            </a:r>
            <a:r>
              <a:rPr lang="en-US" sz="2000" spc="-70">
                <a:solidFill>
                  <a:schemeClr val="tx1"/>
                </a:solidFill>
              </a:rPr>
              <a:t>preferred </a:t>
            </a:r>
            <a:r>
              <a:rPr lang="en-US" sz="2000" spc="30">
                <a:solidFill>
                  <a:schemeClr val="tx1"/>
                </a:solidFill>
              </a:rPr>
              <a:t>by </a:t>
            </a:r>
            <a:r>
              <a:rPr lang="en-US" sz="2000" spc="-690">
                <a:solidFill>
                  <a:schemeClr val="tx1"/>
                </a:solidFill>
              </a:rPr>
              <a:t> </a:t>
            </a:r>
            <a:r>
              <a:rPr lang="en-US" sz="2000" spc="-70">
                <a:solidFill>
                  <a:schemeClr val="tx1"/>
                </a:solidFill>
              </a:rPr>
              <a:t>Customers</a:t>
            </a: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r="34999" b="3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pc="10"/>
              <a:t>We</a:t>
            </a:r>
            <a:r>
              <a:rPr lang="en-US" spc="655"/>
              <a:t> </a:t>
            </a:r>
            <a:r>
              <a:rPr lang="en-US" spc="30"/>
              <a:t>have</a:t>
            </a:r>
            <a:r>
              <a:rPr lang="en-US" spc="35"/>
              <a:t> </a:t>
            </a:r>
            <a:r>
              <a:rPr lang="en-US" spc="-20"/>
              <a:t>taken</a:t>
            </a:r>
            <a:r>
              <a:rPr lang="en-US" spc="-15"/>
              <a:t> </a:t>
            </a:r>
            <a:r>
              <a:rPr lang="en-US" spc="-20"/>
              <a:t>pricing </a:t>
            </a:r>
            <a:r>
              <a:rPr lang="en-US" spc="-15"/>
              <a:t> </a:t>
            </a:r>
            <a:r>
              <a:rPr lang="en-US" spc="10"/>
              <a:t>preference </a:t>
            </a:r>
            <a:r>
              <a:rPr lang="en-US" spc="40"/>
              <a:t>based </a:t>
            </a:r>
            <a:r>
              <a:rPr lang="en-US" spc="20"/>
              <a:t>on </a:t>
            </a:r>
            <a:r>
              <a:rPr lang="en-US" spc="-20"/>
              <a:t>volume </a:t>
            </a:r>
            <a:r>
              <a:rPr lang="en-US"/>
              <a:t>of </a:t>
            </a:r>
            <a:r>
              <a:rPr lang="en-US" spc="5"/>
              <a:t> </a:t>
            </a:r>
            <a:r>
              <a:rPr lang="en-US" spc="90"/>
              <a:t>b</a:t>
            </a:r>
            <a:r>
              <a:rPr lang="en-US" spc="85"/>
              <a:t>o</a:t>
            </a:r>
            <a:r>
              <a:rPr lang="en-US" spc="-40"/>
              <a:t>o</a:t>
            </a:r>
            <a:r>
              <a:rPr lang="en-US" spc="-50"/>
              <a:t>k</a:t>
            </a:r>
            <a:r>
              <a:rPr lang="en-US" spc="-114"/>
              <a:t>i</a:t>
            </a:r>
            <a:r>
              <a:rPr lang="en-US" spc="-55"/>
              <a:t>n</a:t>
            </a:r>
            <a:r>
              <a:rPr lang="en-US" spc="-75"/>
              <a:t>gs</a:t>
            </a:r>
            <a:r>
              <a:rPr lang="en-US" spc="-140"/>
              <a:t> </a:t>
            </a:r>
            <a:r>
              <a:rPr lang="en-US" spc="45"/>
              <a:t>do</a:t>
            </a:r>
            <a:r>
              <a:rPr lang="en-US" spc="40"/>
              <a:t>n</a:t>
            </a:r>
            <a:r>
              <a:rPr lang="en-US" spc="95"/>
              <a:t>e</a:t>
            </a:r>
            <a:r>
              <a:rPr lang="en-US" spc="-125"/>
              <a:t> </a:t>
            </a:r>
            <a:r>
              <a:rPr lang="en-US" spc="-35"/>
              <a:t>i</a:t>
            </a:r>
            <a:r>
              <a:rPr lang="en-US" spc="-125"/>
              <a:t>n</a:t>
            </a:r>
            <a:r>
              <a:rPr lang="en-US" spc="-150"/>
              <a:t> </a:t>
            </a:r>
            <a:r>
              <a:rPr lang="en-US" spc="145"/>
              <a:t>a</a:t>
            </a:r>
            <a:r>
              <a:rPr lang="en-US" spc="-150"/>
              <a:t> </a:t>
            </a:r>
            <a:r>
              <a:rPr lang="en-US" spc="-110"/>
              <a:t>pr</a:t>
            </a:r>
            <a:r>
              <a:rPr lang="en-US" spc="-40"/>
              <a:t>i</a:t>
            </a:r>
            <a:r>
              <a:rPr lang="en-US" spc="160"/>
              <a:t>ce</a:t>
            </a:r>
            <a:r>
              <a:rPr lang="en-US" spc="-145"/>
              <a:t> </a:t>
            </a:r>
            <a:r>
              <a:rPr lang="en-US" spc="-35"/>
              <a:t>r</a:t>
            </a:r>
            <a:r>
              <a:rPr lang="en-US" spc="-60"/>
              <a:t>a</a:t>
            </a:r>
            <a:r>
              <a:rPr lang="en-US" spc="-55"/>
              <a:t>n</a:t>
            </a:r>
            <a:r>
              <a:rPr lang="en-US" spc="95"/>
              <a:t>g</a:t>
            </a:r>
            <a:r>
              <a:rPr lang="en-US" spc="85"/>
              <a:t>e</a:t>
            </a:r>
            <a:r>
              <a:rPr lang="en-US" spc="-160"/>
              <a:t>.</a:t>
            </a:r>
            <a:endParaRPr lang="en-US"/>
          </a:p>
          <a:p>
            <a:pPr marL="299085" marR="6350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pc="-95"/>
              <a:t>From</a:t>
            </a:r>
            <a:r>
              <a:rPr lang="en-US" spc="-90"/>
              <a:t> </a:t>
            </a:r>
            <a:r>
              <a:rPr lang="en-US" spc="5"/>
              <a:t>both</a:t>
            </a:r>
            <a:r>
              <a:rPr lang="en-US" spc="10"/>
              <a:t> </a:t>
            </a:r>
            <a:r>
              <a:rPr lang="en-US" spc="-15"/>
              <a:t>the</a:t>
            </a:r>
            <a:r>
              <a:rPr lang="en-US" spc="605"/>
              <a:t> </a:t>
            </a:r>
            <a:r>
              <a:rPr lang="en-US" spc="-50"/>
              <a:t>graphs,</a:t>
            </a:r>
            <a:r>
              <a:rPr lang="en-US" spc="-45"/>
              <a:t> </a:t>
            </a:r>
            <a:r>
              <a:rPr lang="en-US" spc="-20"/>
              <a:t>the </a:t>
            </a:r>
            <a:r>
              <a:rPr lang="en-US" spc="-15"/>
              <a:t> </a:t>
            </a:r>
            <a:r>
              <a:rPr lang="en-US"/>
              <a:t>favourable</a:t>
            </a:r>
            <a:r>
              <a:rPr lang="en-US" spc="535"/>
              <a:t> </a:t>
            </a:r>
            <a:r>
              <a:rPr lang="en-US" spc="10"/>
              <a:t>price</a:t>
            </a:r>
            <a:r>
              <a:rPr lang="en-US" spc="535"/>
              <a:t> </a:t>
            </a:r>
            <a:r>
              <a:rPr lang="en-US" spc="5"/>
              <a:t>range</a:t>
            </a:r>
            <a:r>
              <a:rPr lang="en-US" spc="530"/>
              <a:t> </a:t>
            </a:r>
            <a:r>
              <a:rPr lang="en-US" spc="-180"/>
              <a:t>is</a:t>
            </a:r>
            <a:r>
              <a:rPr lang="en-US" spc="80"/>
              <a:t> </a:t>
            </a:r>
            <a:r>
              <a:rPr lang="en-US" spc="-155"/>
              <a:t>$60</a:t>
            </a:r>
            <a:r>
              <a:rPr lang="en-US" spc="60"/>
              <a:t> </a:t>
            </a:r>
            <a:r>
              <a:rPr lang="en-US" spc="-220"/>
              <a:t>-</a:t>
            </a:r>
            <a:endParaRPr lang="en-US"/>
          </a:p>
          <a:p>
            <a:pPr marL="299085" marR="6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pc="-150"/>
              <a:t>$200. </a:t>
            </a:r>
            <a:r>
              <a:rPr lang="en-US" spc="-190"/>
              <a:t>This </a:t>
            </a:r>
            <a:r>
              <a:rPr lang="en-US" spc="-180"/>
              <a:t>is </a:t>
            </a:r>
            <a:r>
              <a:rPr lang="en-US" spc="-20"/>
              <a:t>the </a:t>
            </a:r>
            <a:r>
              <a:rPr lang="en-US" spc="10"/>
              <a:t>price </a:t>
            </a:r>
            <a:r>
              <a:rPr lang="en-US" spc="5"/>
              <a:t>range </a:t>
            </a:r>
            <a:r>
              <a:rPr lang="en-US" spc="-80"/>
              <a:t>most </a:t>
            </a:r>
            <a:r>
              <a:rPr lang="en-US" spc="-75"/>
              <a:t> </a:t>
            </a:r>
            <a:r>
              <a:rPr lang="en-US" spc="-15"/>
              <a:t>pr</a:t>
            </a:r>
            <a:r>
              <a:rPr lang="en-US" spc="-25"/>
              <a:t>e</a:t>
            </a:r>
            <a:r>
              <a:rPr lang="en-US" spc="10"/>
              <a:t>f</a:t>
            </a:r>
            <a:r>
              <a:rPr lang="en-US" spc="5"/>
              <a:t>e</a:t>
            </a:r>
            <a:r>
              <a:rPr lang="en-US" spc="-105"/>
              <a:t>rr</a:t>
            </a:r>
            <a:r>
              <a:rPr lang="en-US" spc="-160"/>
              <a:t>e</a:t>
            </a:r>
            <a:r>
              <a:rPr lang="en-US" spc="110"/>
              <a:t>d</a:t>
            </a:r>
            <a:r>
              <a:rPr lang="en-US" spc="-100"/>
              <a:t> </a:t>
            </a:r>
            <a:r>
              <a:rPr lang="en-US" spc="-5"/>
              <a:t>b</a:t>
            </a:r>
            <a:r>
              <a:rPr lang="en-US"/>
              <a:t>y</a:t>
            </a:r>
            <a:r>
              <a:rPr lang="en-US" spc="-135"/>
              <a:t> </a:t>
            </a:r>
            <a:r>
              <a:rPr lang="en-US" spc="-80"/>
              <a:t>most</a:t>
            </a:r>
            <a:r>
              <a:rPr lang="en-US" spc="-145"/>
              <a:t> </a:t>
            </a:r>
            <a:r>
              <a:rPr lang="en-US" spc="-20"/>
              <a:t>cu</a:t>
            </a:r>
            <a:r>
              <a:rPr lang="en-US" spc="-30"/>
              <a:t>s</a:t>
            </a:r>
            <a:r>
              <a:rPr lang="en-US" spc="-114"/>
              <a:t>t</a:t>
            </a:r>
            <a:r>
              <a:rPr lang="en-US" spc="40"/>
              <a:t>om</a:t>
            </a:r>
            <a:r>
              <a:rPr lang="en-US" spc="25"/>
              <a:t>e</a:t>
            </a:r>
            <a:r>
              <a:rPr lang="en-US" spc="-210"/>
              <a:t>r</a:t>
            </a:r>
            <a:r>
              <a:rPr lang="en-US" spc="-265"/>
              <a:t>s</a:t>
            </a:r>
            <a:r>
              <a:rPr lang="en-US" spc="-160"/>
              <a:t>.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12700" marR="5080" indent="-635">
              <a:lnSpc>
                <a:spcPct val="90000"/>
              </a:lnSpc>
            </a:pPr>
            <a:r>
              <a:rPr lang="en-US" sz="1700" spc="-80">
                <a:solidFill>
                  <a:schemeClr val="tx1"/>
                </a:solidFill>
              </a:rPr>
              <a:t>Understanding</a:t>
            </a:r>
            <a:r>
              <a:rPr lang="en-US" sz="1700" spc="-40">
                <a:solidFill>
                  <a:schemeClr val="tx1"/>
                </a:solidFill>
              </a:rPr>
              <a:t> </a:t>
            </a:r>
            <a:r>
              <a:rPr lang="en-US" sz="1700" spc="-60">
                <a:solidFill>
                  <a:schemeClr val="tx1"/>
                </a:solidFill>
              </a:rPr>
              <a:t>Price </a:t>
            </a:r>
            <a:r>
              <a:rPr lang="en-US" sz="1700" spc="-55">
                <a:solidFill>
                  <a:schemeClr val="tx1"/>
                </a:solidFill>
              </a:rPr>
              <a:t> </a:t>
            </a:r>
            <a:r>
              <a:rPr lang="en-US" sz="1700" spc="-75">
                <a:solidFill>
                  <a:schemeClr val="tx1"/>
                </a:solidFill>
              </a:rPr>
              <a:t>variatio</a:t>
            </a:r>
            <a:r>
              <a:rPr lang="en-US" sz="1700" spc="-95">
                <a:solidFill>
                  <a:schemeClr val="tx1"/>
                </a:solidFill>
              </a:rPr>
              <a:t>n</a:t>
            </a:r>
            <a:r>
              <a:rPr lang="en-US" sz="1700" spc="-25">
                <a:solidFill>
                  <a:schemeClr val="tx1"/>
                </a:solidFill>
              </a:rPr>
              <a:t> </a:t>
            </a:r>
            <a:r>
              <a:rPr lang="en-US" sz="1700" spc="-185">
                <a:solidFill>
                  <a:schemeClr val="tx1"/>
                </a:solidFill>
              </a:rPr>
              <a:t>w.r.t</a:t>
            </a:r>
            <a:r>
              <a:rPr lang="en-US" sz="1700" spc="-25">
                <a:solidFill>
                  <a:schemeClr val="tx1"/>
                </a:solidFill>
              </a:rPr>
              <a:t> </a:t>
            </a:r>
            <a:r>
              <a:rPr lang="en-US" sz="1700" spc="-70">
                <a:solidFill>
                  <a:schemeClr val="tx1"/>
                </a:solidFill>
              </a:rPr>
              <a:t>Roo</a:t>
            </a:r>
            <a:r>
              <a:rPr lang="en-US" sz="1700" spc="-90">
                <a:solidFill>
                  <a:schemeClr val="tx1"/>
                </a:solidFill>
              </a:rPr>
              <a:t>m</a:t>
            </a:r>
            <a:r>
              <a:rPr lang="en-US" sz="1700" spc="-35">
                <a:solidFill>
                  <a:schemeClr val="tx1"/>
                </a:solidFill>
              </a:rPr>
              <a:t> </a:t>
            </a:r>
            <a:r>
              <a:rPr lang="en-US" sz="1700" spc="-60">
                <a:solidFill>
                  <a:schemeClr val="tx1"/>
                </a:solidFill>
              </a:rPr>
              <a:t>Type  </a:t>
            </a:r>
            <a:r>
              <a:rPr lang="en-US" sz="1700" spc="-245">
                <a:solidFill>
                  <a:schemeClr val="tx1"/>
                </a:solidFill>
              </a:rPr>
              <a:t>&amp;</a:t>
            </a:r>
            <a:r>
              <a:rPr lang="en-US" sz="1700" spc="-25">
                <a:solidFill>
                  <a:schemeClr val="tx1"/>
                </a:solidFill>
              </a:rPr>
              <a:t> Neighbourhood</a:t>
            </a:r>
            <a:endParaRPr lang="en-US" sz="170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l="1368" r="22853" b="-2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105"/>
              <a:t>The </a:t>
            </a:r>
            <a:r>
              <a:rPr lang="en-US" sz="1700" spc="-100"/>
              <a:t>'Entire </a:t>
            </a:r>
            <a:r>
              <a:rPr lang="en-US" sz="1700"/>
              <a:t>home/apt' </a:t>
            </a:r>
            <a:r>
              <a:rPr lang="en-US" sz="1700" spc="-35"/>
              <a:t>room </a:t>
            </a:r>
            <a:r>
              <a:rPr lang="en-US" sz="1700" spc="-10"/>
              <a:t>type </a:t>
            </a:r>
            <a:r>
              <a:rPr lang="en-US" sz="1700" spc="-5"/>
              <a:t> </a:t>
            </a:r>
            <a:r>
              <a:rPr lang="en-US" sz="1700" spc="-80"/>
              <a:t>in</a:t>
            </a:r>
            <a:r>
              <a:rPr lang="en-US" sz="1700" spc="-75"/>
              <a:t> </a:t>
            </a:r>
            <a:r>
              <a:rPr lang="en-US" sz="1700" spc="25"/>
              <a:t>Manhattan</a:t>
            </a:r>
            <a:r>
              <a:rPr lang="en-US" sz="1700" spc="30"/>
              <a:t> </a:t>
            </a:r>
            <a:r>
              <a:rPr lang="en-US" sz="1700" spc="-180"/>
              <a:t>is</a:t>
            </a:r>
            <a:r>
              <a:rPr lang="en-US" sz="1700" spc="-175"/>
              <a:t> </a:t>
            </a:r>
            <a:r>
              <a:rPr lang="en-US" sz="1700" spc="-20"/>
              <a:t>the</a:t>
            </a:r>
            <a:r>
              <a:rPr lang="en-US" sz="1700" spc="-15"/>
              <a:t> </a:t>
            </a:r>
            <a:r>
              <a:rPr lang="en-US" sz="1700" spc="-80"/>
              <a:t>most </a:t>
            </a:r>
            <a:r>
              <a:rPr lang="en-US" sz="1700" spc="-75"/>
              <a:t> </a:t>
            </a:r>
            <a:r>
              <a:rPr lang="en-US" sz="1700" spc="-35"/>
              <a:t>expensive </a:t>
            </a:r>
            <a:r>
              <a:rPr lang="en-US" sz="1700" spc="15"/>
              <a:t>at </a:t>
            </a:r>
            <a:r>
              <a:rPr lang="en-US" sz="1700" spc="-150"/>
              <a:t>$250, </a:t>
            </a:r>
            <a:r>
              <a:rPr lang="en-US" sz="1700" spc="20"/>
              <a:t>much </a:t>
            </a:r>
            <a:r>
              <a:rPr lang="en-US" sz="1700" spc="-45"/>
              <a:t>higher </a:t>
            </a:r>
            <a:r>
              <a:rPr lang="en-US" sz="1700" spc="-40"/>
              <a:t> </a:t>
            </a:r>
            <a:r>
              <a:rPr lang="en-US" sz="1700" spc="-114"/>
              <a:t>t</a:t>
            </a:r>
            <a:r>
              <a:rPr lang="en-US" sz="1700" spc="-55"/>
              <a:t>h</a:t>
            </a:r>
            <a:r>
              <a:rPr lang="en-US" sz="1700" spc="135"/>
              <a:t>a</a:t>
            </a:r>
            <a:r>
              <a:rPr lang="en-US" sz="1700" spc="-45"/>
              <a:t>n</a:t>
            </a:r>
            <a:r>
              <a:rPr lang="en-US" sz="1700" spc="-114"/>
              <a:t> t</a:t>
            </a:r>
            <a:r>
              <a:rPr lang="en-US" sz="1700" spc="-55"/>
              <a:t>h</a:t>
            </a:r>
            <a:r>
              <a:rPr lang="en-US" sz="1700" spc="95"/>
              <a:t>e</a:t>
            </a:r>
            <a:r>
              <a:rPr lang="en-US" sz="1700" spc="-110"/>
              <a:t> </a:t>
            </a:r>
            <a:r>
              <a:rPr lang="en-US" sz="1700" spc="5"/>
              <a:t>o</a:t>
            </a:r>
            <a:r>
              <a:rPr lang="en-US" sz="1700" spc="20"/>
              <a:t>v</a:t>
            </a:r>
            <a:r>
              <a:rPr lang="en-US" sz="1700" spc="85"/>
              <a:t>e</a:t>
            </a:r>
            <a:r>
              <a:rPr lang="en-US" sz="1700" spc="-35"/>
              <a:t>r</a:t>
            </a:r>
            <a:r>
              <a:rPr lang="en-US" sz="1700" spc="-60"/>
              <a:t>a</a:t>
            </a:r>
            <a:r>
              <a:rPr lang="en-US" sz="1700" spc="-125"/>
              <a:t>l</a:t>
            </a:r>
            <a:r>
              <a:rPr lang="en-US" sz="1700" spc="-135"/>
              <a:t>l</a:t>
            </a:r>
            <a:r>
              <a:rPr lang="en-US" sz="1700" spc="-145"/>
              <a:t> </a:t>
            </a:r>
            <a:r>
              <a:rPr lang="en-US" sz="1700" spc="135"/>
              <a:t>a</a:t>
            </a:r>
            <a:r>
              <a:rPr lang="en-US" sz="1700" spc="-50"/>
              <a:t>v</a:t>
            </a:r>
            <a:r>
              <a:rPr lang="en-US" sz="1700" spc="85"/>
              <a:t>e</a:t>
            </a:r>
            <a:r>
              <a:rPr lang="en-US" sz="1700" spc="-35"/>
              <a:t>r</a:t>
            </a:r>
            <a:r>
              <a:rPr lang="en-US" sz="1700" spc="-60"/>
              <a:t>a</a:t>
            </a:r>
            <a:r>
              <a:rPr lang="en-US" sz="1700" spc="95"/>
              <a:t>g</a:t>
            </a:r>
            <a:r>
              <a:rPr lang="en-US" sz="1700" spc="80"/>
              <a:t>e</a:t>
            </a:r>
            <a:r>
              <a:rPr lang="en-US" sz="1700" spc="-160"/>
              <a:t>.</a:t>
            </a:r>
            <a:endParaRPr lang="en-US" sz="1700"/>
          </a:p>
          <a:p>
            <a:pPr marL="299085" marR="6985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10"/>
              <a:t>‘private </a:t>
            </a:r>
            <a:r>
              <a:rPr lang="en-US" sz="1700" spc="-40"/>
              <a:t>rooms’ </a:t>
            </a:r>
            <a:r>
              <a:rPr lang="en-US" sz="1700" spc="5"/>
              <a:t>of </a:t>
            </a:r>
            <a:r>
              <a:rPr lang="en-US" sz="1700" spc="25"/>
              <a:t>Manhattan </a:t>
            </a:r>
            <a:r>
              <a:rPr lang="en-US" sz="1700" spc="50"/>
              <a:t>&amp; </a:t>
            </a:r>
            <a:r>
              <a:rPr lang="en-US" sz="1700" spc="55"/>
              <a:t> </a:t>
            </a:r>
            <a:r>
              <a:rPr lang="en-US" sz="1700" spc="-90"/>
              <a:t>Brooklyn</a:t>
            </a:r>
            <a:r>
              <a:rPr lang="en-US" sz="1700" spc="455"/>
              <a:t> </a:t>
            </a:r>
            <a:r>
              <a:rPr lang="en-US" sz="1700" spc="-55"/>
              <a:t>has</a:t>
            </a:r>
            <a:r>
              <a:rPr lang="en-US" sz="1700" spc="-50"/>
              <a:t> </a:t>
            </a:r>
            <a:r>
              <a:rPr lang="en-US" sz="1700" spc="-15"/>
              <a:t>the</a:t>
            </a:r>
            <a:r>
              <a:rPr lang="en-US" sz="1700" spc="-10"/>
              <a:t> </a:t>
            </a:r>
            <a:r>
              <a:rPr lang="en-US" sz="1700" spc="-55"/>
              <a:t>highest </a:t>
            </a:r>
            <a:r>
              <a:rPr lang="en-US" sz="1700" spc="-620"/>
              <a:t> </a:t>
            </a:r>
            <a:r>
              <a:rPr lang="en-US" sz="1700" spc="10"/>
              <a:t>average.</a:t>
            </a:r>
            <a:endParaRPr lang="en-US" sz="1700"/>
          </a:p>
          <a:p>
            <a:pPr marL="299085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20"/>
              <a:t>‘Shared</a:t>
            </a:r>
            <a:r>
              <a:rPr lang="en-US" sz="1700" spc="1605"/>
              <a:t> </a:t>
            </a:r>
            <a:r>
              <a:rPr lang="en-US" sz="1700" spc="-40"/>
              <a:t>Room'</a:t>
            </a:r>
            <a:r>
              <a:rPr lang="en-US" sz="1700" spc="1595"/>
              <a:t> </a:t>
            </a:r>
            <a:r>
              <a:rPr lang="en-US" sz="1700" spc="-10"/>
              <a:t>type</a:t>
            </a:r>
            <a:r>
              <a:rPr lang="en-US" sz="1700" spc="1590"/>
              <a:t> </a:t>
            </a:r>
            <a:r>
              <a:rPr lang="en-US" sz="1700" spc="-185"/>
              <a:t>is</a:t>
            </a:r>
            <a:r>
              <a:rPr lang="en-US" sz="1700" spc="480"/>
              <a:t> </a:t>
            </a:r>
            <a:r>
              <a:rPr lang="en-US" sz="1700" spc="484"/>
              <a:t> </a:t>
            </a:r>
            <a:r>
              <a:rPr lang="en-US" sz="1700" spc="-20"/>
              <a:t>the</a:t>
            </a:r>
            <a:endParaRPr lang="en-US" sz="1700"/>
          </a:p>
          <a:p>
            <a:pPr marL="299085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spc="85"/>
              <a:t>c</a:t>
            </a:r>
            <a:r>
              <a:rPr lang="en-US" sz="1700" spc="90"/>
              <a:t>h</a:t>
            </a:r>
            <a:r>
              <a:rPr lang="en-US" sz="1700" spc="85"/>
              <a:t>e</a:t>
            </a:r>
            <a:r>
              <a:rPr lang="en-US" sz="1700" spc="140"/>
              <a:t>a</a:t>
            </a:r>
            <a:r>
              <a:rPr lang="en-US" sz="1700" spc="100"/>
              <a:t>p</a:t>
            </a:r>
            <a:r>
              <a:rPr lang="en-US" sz="1700" spc="85"/>
              <a:t>e</a:t>
            </a:r>
            <a:r>
              <a:rPr lang="en-US" sz="1700" spc="-200"/>
              <a:t>s</a:t>
            </a:r>
            <a:r>
              <a:rPr lang="en-US" sz="1700" spc="-145"/>
              <a:t>t</a:t>
            </a:r>
            <a:r>
              <a:rPr lang="en-US" sz="1700" spc="-95"/>
              <a:t> </a:t>
            </a:r>
            <a:r>
              <a:rPr lang="en-US" sz="1700" spc="-35"/>
              <a:t>i</a:t>
            </a:r>
            <a:r>
              <a:rPr lang="en-US" sz="1700" spc="-125"/>
              <a:t>n</a:t>
            </a:r>
            <a:r>
              <a:rPr lang="en-US" sz="1700" spc="-160"/>
              <a:t> </a:t>
            </a:r>
            <a:r>
              <a:rPr lang="en-US" sz="1700" spc="-114"/>
              <a:t>Br</a:t>
            </a:r>
            <a:r>
              <a:rPr lang="en-US" sz="1700" spc="-130"/>
              <a:t>o</a:t>
            </a:r>
            <a:r>
              <a:rPr lang="en-US" sz="1700" spc="-40"/>
              <a:t>o</a:t>
            </a:r>
            <a:r>
              <a:rPr lang="en-US" sz="1700" spc="-50"/>
              <a:t>k</a:t>
            </a:r>
            <a:r>
              <a:rPr lang="en-US" sz="1700" spc="-130"/>
              <a:t>l</a:t>
            </a:r>
            <a:r>
              <a:rPr lang="en-US" sz="1700" spc="-110"/>
              <a:t>y</a:t>
            </a:r>
            <a:r>
              <a:rPr lang="en-US" sz="1700" spc="-40"/>
              <a:t>n</a:t>
            </a:r>
            <a:r>
              <a:rPr lang="en-US" sz="1700" spc="-135"/>
              <a:t> </a:t>
            </a:r>
            <a:r>
              <a:rPr lang="en-US" sz="1700" spc="-15"/>
              <a:t>w</a:t>
            </a:r>
            <a:r>
              <a:rPr lang="en-US" sz="1700" spc="-114"/>
              <a:t>it</a:t>
            </a:r>
            <a:r>
              <a:rPr lang="en-US" sz="1700" spc="-40"/>
              <a:t>h</a:t>
            </a:r>
            <a:r>
              <a:rPr lang="en-US" sz="1700" spc="-100"/>
              <a:t> </a:t>
            </a:r>
            <a:r>
              <a:rPr lang="en-US" sz="1700" spc="-155"/>
              <a:t>$50</a:t>
            </a:r>
            <a:r>
              <a:rPr lang="en-US" sz="1700" spc="-180"/>
              <a:t>.</a:t>
            </a:r>
            <a:r>
              <a:rPr lang="en-US" sz="1700" spc="-150"/>
              <a:t>5</a:t>
            </a:r>
            <a:r>
              <a:rPr lang="en-US" sz="1700" spc="-160"/>
              <a:t>.</a:t>
            </a:r>
            <a:endParaRPr lang="en-US" sz="17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>
              <a:lnSpc>
                <a:spcPct val="90000"/>
              </a:lnSpc>
            </a:pPr>
            <a:r>
              <a:rPr lang="en-US" sz="2000" spc="-135">
                <a:solidFill>
                  <a:schemeClr val="tx1"/>
                </a:solidFill>
              </a:rPr>
              <a:t>Price</a:t>
            </a:r>
            <a:r>
              <a:rPr lang="en-US" sz="2000" spc="-210">
                <a:solidFill>
                  <a:schemeClr val="tx1"/>
                </a:solidFill>
              </a:rPr>
              <a:t> </a:t>
            </a:r>
            <a:r>
              <a:rPr lang="en-US" sz="2000" spc="-135">
                <a:solidFill>
                  <a:schemeClr val="tx1"/>
                </a:solidFill>
              </a:rPr>
              <a:t>var</a:t>
            </a:r>
            <a:r>
              <a:rPr lang="en-US" sz="2000" spc="-55">
                <a:solidFill>
                  <a:schemeClr val="tx1"/>
                </a:solidFill>
              </a:rPr>
              <a:t>i</a:t>
            </a:r>
            <a:r>
              <a:rPr lang="en-US" sz="2000" spc="-60">
                <a:solidFill>
                  <a:schemeClr val="tx1"/>
                </a:solidFill>
              </a:rPr>
              <a:t>at</a:t>
            </a:r>
            <a:r>
              <a:rPr lang="en-US" sz="2000" spc="-20">
                <a:solidFill>
                  <a:schemeClr val="tx1"/>
                </a:solidFill>
              </a:rPr>
              <a:t>i</a:t>
            </a:r>
            <a:r>
              <a:rPr lang="en-US" sz="2000" spc="30">
                <a:solidFill>
                  <a:schemeClr val="tx1"/>
                </a:solidFill>
              </a:rPr>
              <a:t>on</a:t>
            </a:r>
            <a:r>
              <a:rPr lang="en-US" sz="2000" spc="-210">
                <a:solidFill>
                  <a:schemeClr val="tx1"/>
                </a:solidFill>
              </a:rPr>
              <a:t> </a:t>
            </a:r>
            <a:r>
              <a:rPr lang="en-US" sz="2000" spc="-140">
                <a:solidFill>
                  <a:schemeClr val="tx1"/>
                </a:solidFill>
              </a:rPr>
              <a:t>w</a:t>
            </a:r>
            <a:r>
              <a:rPr lang="en-US" sz="2000" spc="-35">
                <a:solidFill>
                  <a:schemeClr val="tx1"/>
                </a:solidFill>
              </a:rPr>
              <a:t>i</a:t>
            </a:r>
            <a:r>
              <a:rPr lang="en-US" sz="2000" spc="-95">
                <a:solidFill>
                  <a:schemeClr val="tx1"/>
                </a:solidFill>
              </a:rPr>
              <a:t>th  </a:t>
            </a:r>
            <a:r>
              <a:rPr lang="en-US" sz="2000" spc="-15">
                <a:solidFill>
                  <a:schemeClr val="tx1"/>
                </a:solidFill>
              </a:rPr>
              <a:t>respect to </a:t>
            </a:r>
            <a:r>
              <a:rPr lang="en-US" sz="2000" spc="-10">
                <a:solidFill>
                  <a:schemeClr val="tx1"/>
                </a:solidFill>
              </a:rPr>
              <a:t> </a:t>
            </a:r>
            <a:r>
              <a:rPr lang="en-US" sz="2000" spc="50">
                <a:solidFill>
                  <a:schemeClr val="tx1"/>
                </a:solidFill>
              </a:rPr>
              <a:t>Geography</a:t>
            </a: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7" name="object 7"/>
          <p:cNvPicPr/>
          <p:nvPr/>
        </p:nvPicPr>
        <p:blipFill rotWithShape="1">
          <a:blip r:embed="rId3" cstate="print"/>
          <a:srcRect l="17027" r="7643" b="6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2120900"/>
            <a:ext cx="3450481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140" dirty="0"/>
              <a:t>We see that, Airbnb has good presence in Manhattan, Brooklyn &amp; Queens. </a:t>
            </a:r>
          </a:p>
          <a:p>
            <a:pPr marL="299085" marR="5080" indent="-28702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z="1700" spc="-140" dirty="0"/>
              <a:t>Listings</a:t>
            </a:r>
            <a:r>
              <a:rPr lang="en-US" sz="1700" spc="425" dirty="0"/>
              <a:t> </a:t>
            </a:r>
            <a:r>
              <a:rPr lang="en-US" sz="1700" dirty="0"/>
              <a:t>are</a:t>
            </a:r>
            <a:r>
              <a:rPr lang="en-US" sz="1700" spc="5" dirty="0"/>
              <a:t> </a:t>
            </a:r>
            <a:r>
              <a:rPr lang="en-US" sz="1700" spc="-70" dirty="0"/>
              <a:t>maximum</a:t>
            </a:r>
            <a:r>
              <a:rPr lang="en-US" sz="1700" spc="-65" dirty="0"/>
              <a:t> </a:t>
            </a:r>
            <a:r>
              <a:rPr lang="en-US" sz="1700" spc="-110" dirty="0"/>
              <a:t>in </a:t>
            </a:r>
            <a:r>
              <a:rPr lang="en-US" sz="1700" spc="-105" dirty="0"/>
              <a:t> </a:t>
            </a:r>
            <a:r>
              <a:rPr lang="en-US" sz="1700" spc="30" dirty="0"/>
              <a:t>Manhattan</a:t>
            </a:r>
            <a:r>
              <a:rPr lang="en-US" sz="1700" spc="35" dirty="0"/>
              <a:t> </a:t>
            </a:r>
            <a:r>
              <a:rPr lang="en-US" sz="1700" spc="60" dirty="0"/>
              <a:t>&amp;</a:t>
            </a:r>
            <a:r>
              <a:rPr lang="en-US" sz="1700" spc="65" dirty="0"/>
              <a:t> </a:t>
            </a:r>
            <a:r>
              <a:rPr lang="en-US" sz="1700" spc="-100" dirty="0"/>
              <a:t>Brooklyn </a:t>
            </a:r>
            <a:r>
              <a:rPr lang="en-US" sz="1700" spc="-690" dirty="0"/>
              <a:t> </a:t>
            </a:r>
            <a:r>
              <a:rPr lang="en-US" sz="1700" spc="5" dirty="0"/>
              <a:t>owing</a:t>
            </a:r>
            <a:r>
              <a:rPr lang="en-US" sz="1700" spc="10" dirty="0"/>
              <a:t> </a:t>
            </a:r>
            <a:r>
              <a:rPr lang="en-US" sz="1700" dirty="0"/>
              <a:t>to</a:t>
            </a:r>
            <a:r>
              <a:rPr lang="en-US" sz="1700" spc="5" dirty="0"/>
              <a:t> </a:t>
            </a:r>
            <a:r>
              <a:rPr lang="en-US" sz="1700" spc="-15" dirty="0"/>
              <a:t>the</a:t>
            </a:r>
            <a:r>
              <a:rPr lang="en-US" sz="1700" spc="-10" dirty="0"/>
              <a:t> </a:t>
            </a:r>
            <a:r>
              <a:rPr lang="en-US" sz="1700" spc="-45" dirty="0"/>
              <a:t>high </a:t>
            </a:r>
            <a:r>
              <a:rPr lang="en-US" sz="1700" spc="-40" dirty="0"/>
              <a:t> </a:t>
            </a:r>
            <a:r>
              <a:rPr lang="en-US" sz="1700" spc="5" dirty="0"/>
              <a:t>population </a:t>
            </a:r>
            <a:r>
              <a:rPr lang="en-US" sz="1700" spc="-65" dirty="0"/>
              <a:t>density</a:t>
            </a:r>
            <a:r>
              <a:rPr lang="en-US" sz="1700" spc="-60" dirty="0"/>
              <a:t> </a:t>
            </a:r>
            <a:r>
              <a:rPr lang="en-US" sz="1700" spc="80" dirty="0"/>
              <a:t>and </a:t>
            </a:r>
            <a:r>
              <a:rPr lang="en-US" sz="1700" spc="-150" dirty="0"/>
              <a:t>it </a:t>
            </a:r>
            <a:r>
              <a:rPr lang="en-US" sz="1700" spc="-145" dirty="0"/>
              <a:t> </a:t>
            </a:r>
            <a:r>
              <a:rPr lang="en-US" sz="1700" spc="25" dirty="0"/>
              <a:t>being</a:t>
            </a:r>
            <a:r>
              <a:rPr lang="en-US" sz="1700" spc="30" dirty="0"/>
              <a:t> </a:t>
            </a:r>
            <a:r>
              <a:rPr lang="en-US" sz="1700" spc="-15" dirty="0"/>
              <a:t>the</a:t>
            </a:r>
            <a:r>
              <a:rPr lang="en-US" sz="1700" spc="-10" dirty="0"/>
              <a:t> </a:t>
            </a:r>
            <a:r>
              <a:rPr lang="en-US" sz="1700" spc="-5" dirty="0"/>
              <a:t>financial</a:t>
            </a:r>
            <a:r>
              <a:rPr lang="en-US" sz="1700" dirty="0"/>
              <a:t> </a:t>
            </a:r>
            <a:r>
              <a:rPr lang="en-US" sz="1700" spc="75" dirty="0"/>
              <a:t>and </a:t>
            </a:r>
            <a:r>
              <a:rPr lang="en-US" sz="1700" spc="80" dirty="0"/>
              <a:t> </a:t>
            </a:r>
            <a:r>
              <a:rPr lang="en-US" sz="1700" spc="-120" dirty="0"/>
              <a:t>tourism </a:t>
            </a:r>
            <a:r>
              <a:rPr lang="en-US" sz="1700" spc="5" dirty="0"/>
              <a:t>hub of </a:t>
            </a:r>
            <a:r>
              <a:rPr lang="en-US" sz="1700" dirty="0"/>
              <a:t>NYC. </a:t>
            </a:r>
            <a:r>
              <a:rPr lang="en-US" sz="1700" spc="-65" dirty="0"/>
              <a:t>Staten </a:t>
            </a:r>
            <a:r>
              <a:rPr lang="en-US" sz="1700" spc="-690" dirty="0"/>
              <a:t> </a:t>
            </a:r>
            <a:r>
              <a:rPr lang="en-US" sz="1700" spc="-300" dirty="0"/>
              <a:t>I</a:t>
            </a:r>
            <a:r>
              <a:rPr lang="en-US" sz="1700" spc="-375" dirty="0"/>
              <a:t>s</a:t>
            </a:r>
            <a:r>
              <a:rPr lang="en-US" sz="1700" spc="-145" dirty="0"/>
              <a:t>l</a:t>
            </a:r>
            <a:r>
              <a:rPr lang="en-US" sz="1700" spc="75" dirty="0"/>
              <a:t>an</a:t>
            </a:r>
            <a:r>
              <a:rPr lang="en-US" sz="1700" spc="80" dirty="0"/>
              <a:t>d</a:t>
            </a:r>
            <a:r>
              <a:rPr lang="en-US" sz="1700" spc="-110" dirty="0"/>
              <a:t> </a:t>
            </a:r>
            <a:r>
              <a:rPr lang="en-US" sz="1700" spc="-50" dirty="0"/>
              <a:t>has</a:t>
            </a:r>
            <a:r>
              <a:rPr lang="en-US" sz="1700" spc="-114" dirty="0"/>
              <a:t> </a:t>
            </a:r>
            <a:r>
              <a:rPr lang="en-US" sz="1700" spc="-100" dirty="0"/>
              <a:t>t</a:t>
            </a:r>
            <a:r>
              <a:rPr lang="en-US" sz="1700" spc="-55" dirty="0"/>
              <a:t>h</a:t>
            </a:r>
            <a:r>
              <a:rPr lang="en-US" sz="1700" spc="110" dirty="0"/>
              <a:t>e</a:t>
            </a:r>
            <a:r>
              <a:rPr lang="en-US" sz="1700" spc="-100" dirty="0"/>
              <a:t> </a:t>
            </a:r>
            <a:r>
              <a:rPr lang="en-US" sz="1700" spc="30" dirty="0"/>
              <a:t>le</a:t>
            </a:r>
            <a:r>
              <a:rPr lang="en-US" sz="1700" spc="40" dirty="0"/>
              <a:t>a</a:t>
            </a:r>
            <a:r>
              <a:rPr lang="en-US" sz="1700" spc="-275" dirty="0"/>
              <a:t>s</a:t>
            </a:r>
            <a:r>
              <a:rPr lang="en-US" sz="1700" spc="-110" dirty="0"/>
              <a:t>t</a:t>
            </a:r>
            <a:r>
              <a:rPr lang="en-US" sz="1700" spc="-90" dirty="0"/>
              <a:t> </a:t>
            </a:r>
            <a:r>
              <a:rPr lang="en-US" sz="1700" spc="-55" dirty="0"/>
              <a:t>n</a:t>
            </a:r>
            <a:r>
              <a:rPr lang="en-US" sz="1700" spc="-60" dirty="0"/>
              <a:t>u</a:t>
            </a:r>
            <a:r>
              <a:rPr lang="en-US" sz="1700" spc="-80" dirty="0"/>
              <a:t>m</a:t>
            </a:r>
            <a:r>
              <a:rPr lang="en-US" sz="1700" spc="-15" dirty="0"/>
              <a:t>ber  </a:t>
            </a:r>
            <a:r>
              <a:rPr lang="en-US" sz="1700" spc="5" dirty="0"/>
              <a:t>of</a:t>
            </a:r>
            <a:r>
              <a:rPr lang="en-US" sz="1700" spc="10" dirty="0"/>
              <a:t> </a:t>
            </a:r>
            <a:r>
              <a:rPr lang="en-US" sz="1700" spc="-140" dirty="0"/>
              <a:t>listings,</a:t>
            </a:r>
            <a:r>
              <a:rPr lang="en-US" sz="1700" spc="-135" dirty="0"/>
              <a:t> </a:t>
            </a:r>
            <a:r>
              <a:rPr lang="en-US" sz="1700" spc="60" dirty="0"/>
              <a:t>due </a:t>
            </a:r>
            <a:r>
              <a:rPr lang="en-US" sz="1700" spc="-10" dirty="0"/>
              <a:t>to</a:t>
            </a:r>
            <a:r>
              <a:rPr lang="en-US" sz="1700" spc="-5" dirty="0"/>
              <a:t> </a:t>
            </a:r>
            <a:r>
              <a:rPr lang="en-US" sz="1700" spc="-185" dirty="0"/>
              <a:t>its</a:t>
            </a:r>
            <a:r>
              <a:rPr lang="en-US" sz="1700" spc="-180" dirty="0"/>
              <a:t> </a:t>
            </a:r>
            <a:r>
              <a:rPr lang="en-US" sz="1700" spc="-15" dirty="0"/>
              <a:t>low </a:t>
            </a:r>
            <a:r>
              <a:rPr lang="en-US" sz="1700" spc="-10" dirty="0"/>
              <a:t> </a:t>
            </a:r>
            <a:r>
              <a:rPr lang="en-US" sz="1700" spc="5" dirty="0"/>
              <a:t>population</a:t>
            </a:r>
            <a:r>
              <a:rPr lang="en-US" sz="1700" spc="10" dirty="0"/>
              <a:t> </a:t>
            </a:r>
            <a:r>
              <a:rPr lang="en-US" sz="1700" spc="-65" dirty="0"/>
              <a:t>density</a:t>
            </a:r>
            <a:r>
              <a:rPr lang="en-US" sz="1700" spc="-60" dirty="0"/>
              <a:t> </a:t>
            </a:r>
            <a:r>
              <a:rPr lang="en-US" sz="1700" spc="80" dirty="0"/>
              <a:t>and </a:t>
            </a:r>
            <a:r>
              <a:rPr lang="en-US" sz="1700" spc="-690" dirty="0"/>
              <a:t> </a:t>
            </a:r>
            <a:r>
              <a:rPr lang="en-US" sz="1700" spc="-85" dirty="0"/>
              <a:t>very</a:t>
            </a:r>
            <a:r>
              <a:rPr lang="en-US" sz="1700" spc="-80" dirty="0"/>
              <a:t> </a:t>
            </a:r>
            <a:r>
              <a:rPr lang="en-US" sz="1700" spc="15" dirty="0"/>
              <a:t>few</a:t>
            </a:r>
            <a:r>
              <a:rPr lang="en-US" sz="1700" spc="20" dirty="0"/>
              <a:t> </a:t>
            </a:r>
            <a:r>
              <a:rPr lang="en-US" sz="1700" spc="-120" dirty="0"/>
              <a:t>tourism </a:t>
            </a:r>
            <a:r>
              <a:rPr lang="en-US" sz="1700" spc="-114" dirty="0"/>
              <a:t> </a:t>
            </a:r>
            <a:r>
              <a:rPr lang="en-US" sz="1700" spc="-65" dirty="0"/>
              <a:t>destinations.</a:t>
            </a:r>
            <a:endParaRPr lang="en-US" sz="17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12700">
              <a:lnSpc>
                <a:spcPct val="90000"/>
              </a:lnSpc>
            </a:pPr>
            <a:r>
              <a:rPr lang="en-US" sz="2800" spc="-75">
                <a:solidFill>
                  <a:schemeClr val="tx1"/>
                </a:solidFill>
              </a:rPr>
              <a:t>Popular</a:t>
            </a:r>
            <a:r>
              <a:rPr lang="en-US" sz="2800" spc="-80">
                <a:solidFill>
                  <a:schemeClr val="tx1"/>
                </a:solidFill>
              </a:rPr>
              <a:t> </a:t>
            </a:r>
            <a:r>
              <a:rPr lang="en-US" sz="2800" spc="-30">
                <a:solidFill>
                  <a:schemeClr val="tx1"/>
                </a:solidFill>
              </a:rPr>
              <a:t>Neighborhoods</a:t>
            </a:r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l="4770" r="42464" b="-4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pc="-140"/>
              <a:t>We see that Bedford-Stuyvesant  from Brooklyn is the highest  popular with 1,10,352 no of  reviews in total followed by  Williamsburg.</a:t>
            </a:r>
          </a:p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pc="-140"/>
              <a:t>Harlem from Manhattan got the  highest no of reviews followed by  Hell’s kitchen.</a:t>
            </a:r>
          </a:p>
          <a:p>
            <a:pPr marL="299085" marR="5080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299720" algn="l"/>
              </a:tabLst>
            </a:pPr>
            <a:r>
              <a:rPr lang="en-US" spc="-140"/>
              <a:t>The higher number of customer  reviews imply higher satisfaction in  these localities.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8420" y="1370143"/>
            <a:ext cx="6391270" cy="4157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6600" spc="-275">
                <a:solidFill>
                  <a:schemeClr val="tx1"/>
                </a:solidFill>
              </a:rPr>
              <a:t>THANK</a:t>
            </a:r>
            <a:r>
              <a:rPr lang="en-US" sz="6600" spc="-360">
                <a:solidFill>
                  <a:schemeClr val="tx1"/>
                </a:solidFill>
              </a:rPr>
              <a:t> </a:t>
            </a:r>
            <a:r>
              <a:rPr lang="en-US" sz="6600" spc="-25">
                <a:solidFill>
                  <a:schemeClr val="tx1"/>
                </a:solidFill>
              </a:rPr>
              <a:t>YOU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97</TotalTime>
  <Words>630</Words>
  <Application>Microsoft Office PowerPoint</Application>
  <PresentationFormat>Widescreen</PresentationFormat>
  <Paragraphs>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Bookman Old Style</vt:lpstr>
      <vt:lpstr>Rockwell</vt:lpstr>
      <vt:lpstr>Tahoma</vt:lpstr>
      <vt:lpstr>Wingdings 3</vt:lpstr>
      <vt:lpstr>Damask</vt:lpstr>
      <vt:lpstr>PowerPoint Presentation</vt:lpstr>
      <vt:lpstr>Objective:</vt:lpstr>
      <vt:lpstr>Background</vt:lpstr>
      <vt:lpstr>Data Preparation</vt:lpstr>
      <vt:lpstr>Room type with respect  to Neighbourhood group</vt:lpstr>
      <vt:lpstr>Customer Booking with respect to minimum nights</vt:lpstr>
      <vt:lpstr>Neighbourhood vs  Availability</vt:lpstr>
      <vt:lpstr>Price range preferred by  Customers</vt:lpstr>
      <vt:lpstr>Understanding Price  variation w.r.t Room Type  &amp; Neighbourhood</vt:lpstr>
      <vt:lpstr>Price variation with  respect to  Geography</vt:lpstr>
      <vt:lpstr>Popular Neighborhoods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SMARANIKA SAHOO</dc:creator>
  <cp:lastModifiedBy>vamsiram pandluru</cp:lastModifiedBy>
  <cp:revision>3</cp:revision>
  <dcterms:created xsi:type="dcterms:W3CDTF">2024-07-06T10:18:36Z</dcterms:created>
  <dcterms:modified xsi:type="dcterms:W3CDTF">2026-01-09T06:41:08Z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2024-07-06T00:00:00Z</vt:filetime>
  </property>
</Properties>
</file>